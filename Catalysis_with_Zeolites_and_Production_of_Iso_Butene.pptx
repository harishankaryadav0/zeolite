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nva Sans" panose="020B0503030501040103" pitchFamily="34" charset="0"/>
      <p:regular r:id="rId23"/>
    </p:embeddedFont>
    <p:embeddedFont>
      <p:font typeface="Canva Sans Bold" panose="020B0803030501040103" pitchFamily="34" charset="0"/>
      <p:regular r:id="rId24"/>
      <p:bold r:id="rId25"/>
    </p:embeddedFont>
    <p:embeddedFont>
      <p:font typeface="Childos Arabic" pitchFamily="2" charset="-78"/>
      <p:regular r:id="rId26"/>
    </p:embeddedFont>
    <p:embeddedFont>
      <p:font typeface="Childos Arabic Bold" pitchFamily="2" charset="-78"/>
      <p:regular r:id="rId27"/>
      <p:bold r:id="rId28"/>
    </p:embeddedFont>
    <p:embeddedFont>
      <p:font typeface="Childos Arabic Semi-Bold" pitchFamily="2" charset="-78"/>
      <p:regular r:id="rId29"/>
      <p:bold r:id="rId30"/>
    </p:embeddedFont>
    <p:embeddedFont>
      <p:font typeface="One Little Font" pitchFamily="2" charset="77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28" autoAdjust="0"/>
  </p:normalViewPr>
  <p:slideViewPr>
    <p:cSldViewPr>
      <p:cViewPr varScale="1">
        <p:scale>
          <a:sx n="68" d="100"/>
          <a:sy n="68" d="100"/>
        </p:scale>
        <p:origin x="264" y="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svg"/><Relationship Id="rId7" Type="http://schemas.openxmlformats.org/officeDocument/2006/relationships/image" Target="../media/image7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6.jpeg"/><Relationship Id="rId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5.sv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12" Type="http://schemas.openxmlformats.org/officeDocument/2006/relationships/image" Target="../media/image4.png"/><Relationship Id="rId17" Type="http://schemas.openxmlformats.org/officeDocument/2006/relationships/image" Target="../media/image24.jpeg"/><Relationship Id="rId2" Type="http://schemas.openxmlformats.org/officeDocument/2006/relationships/image" Target="../media/image2.png"/><Relationship Id="rId16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0.svg"/><Relationship Id="rId5" Type="http://schemas.openxmlformats.org/officeDocument/2006/relationships/image" Target="../media/image7.svg"/><Relationship Id="rId15" Type="http://schemas.openxmlformats.org/officeDocument/2006/relationships/image" Target="../media/image22.sv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svg"/><Relationship Id="rId7" Type="http://schemas.openxmlformats.org/officeDocument/2006/relationships/image" Target="../media/image7.svg"/><Relationship Id="rId12" Type="http://schemas.openxmlformats.org/officeDocument/2006/relationships/image" Target="../media/image2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6.svg"/><Relationship Id="rId5" Type="http://schemas.openxmlformats.org/officeDocument/2006/relationships/image" Target="../media/image5.svg"/><Relationship Id="rId10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9.svg"/><Relationship Id="rId5" Type="http://schemas.openxmlformats.org/officeDocument/2006/relationships/image" Target="../media/image9.sv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12" Type="http://schemas.openxmlformats.org/officeDocument/2006/relationships/image" Target="../media/image3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9.svg"/><Relationship Id="rId5" Type="http://schemas.openxmlformats.org/officeDocument/2006/relationships/image" Target="../media/image9.sv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sv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12" Type="http://schemas.openxmlformats.org/officeDocument/2006/relationships/image" Target="../media/image28.png"/><Relationship Id="rId17" Type="http://schemas.openxmlformats.org/officeDocument/2006/relationships/image" Target="../media/image34.svg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6.svg"/><Relationship Id="rId5" Type="http://schemas.openxmlformats.org/officeDocument/2006/relationships/image" Target="../media/image7.svg"/><Relationship Id="rId15" Type="http://schemas.openxmlformats.org/officeDocument/2006/relationships/image" Target="../media/image32.sv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5.sv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6.png"/><Relationship Id="rId18" Type="http://schemas.openxmlformats.org/officeDocument/2006/relationships/image" Target="../media/image41.svg"/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12" Type="http://schemas.openxmlformats.org/officeDocument/2006/relationships/image" Target="../media/image35.jpeg"/><Relationship Id="rId17" Type="http://schemas.openxmlformats.org/officeDocument/2006/relationships/image" Target="../media/image40.png"/><Relationship Id="rId2" Type="http://schemas.openxmlformats.org/officeDocument/2006/relationships/image" Target="../media/image2.png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9.svg"/><Relationship Id="rId5" Type="http://schemas.openxmlformats.org/officeDocument/2006/relationships/image" Target="../media/image9.svg"/><Relationship Id="rId15" Type="http://schemas.openxmlformats.org/officeDocument/2006/relationships/image" Target="../media/image38.pn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26.svg"/><Relationship Id="rId14" Type="http://schemas.openxmlformats.org/officeDocument/2006/relationships/image" Target="../media/image3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sv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12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6.svg"/><Relationship Id="rId5" Type="http://schemas.openxmlformats.org/officeDocument/2006/relationships/image" Target="../media/image7.svg"/><Relationship Id="rId15" Type="http://schemas.openxmlformats.org/officeDocument/2006/relationships/image" Target="../media/image43.sv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5.svg"/><Relationship Id="rId1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5.svg"/><Relationship Id="rId7" Type="http://schemas.openxmlformats.org/officeDocument/2006/relationships/image" Target="../media/image3.svg"/><Relationship Id="rId12" Type="http://schemas.openxmlformats.org/officeDocument/2006/relationships/image" Target="../media/image46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9.svg"/><Relationship Id="rId5" Type="http://schemas.openxmlformats.org/officeDocument/2006/relationships/image" Target="../media/image7.svg"/><Relationship Id="rId10" Type="http://schemas.openxmlformats.org/officeDocument/2006/relationships/image" Target="../media/image28.png"/><Relationship Id="rId4" Type="http://schemas.openxmlformats.org/officeDocument/2006/relationships/image" Target="../media/image6.png"/><Relationship Id="rId9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sv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12" Type="http://schemas.openxmlformats.org/officeDocument/2006/relationships/image" Target="../media/image28.png"/><Relationship Id="rId17" Type="http://schemas.openxmlformats.org/officeDocument/2006/relationships/image" Target="../media/image50.svg"/><Relationship Id="rId2" Type="http://schemas.openxmlformats.org/officeDocument/2006/relationships/image" Target="../media/image2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6.svg"/><Relationship Id="rId5" Type="http://schemas.openxmlformats.org/officeDocument/2006/relationships/image" Target="../media/image7.svg"/><Relationship Id="rId15" Type="http://schemas.openxmlformats.org/officeDocument/2006/relationships/image" Target="../media/image48.sv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5.sv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sv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12" Type="http://schemas.openxmlformats.org/officeDocument/2006/relationships/image" Target="../media/image28.png"/><Relationship Id="rId17" Type="http://schemas.openxmlformats.org/officeDocument/2006/relationships/image" Target="../media/image50.svg"/><Relationship Id="rId2" Type="http://schemas.openxmlformats.org/officeDocument/2006/relationships/image" Target="../media/image2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6.svg"/><Relationship Id="rId5" Type="http://schemas.openxmlformats.org/officeDocument/2006/relationships/image" Target="../media/image7.svg"/><Relationship Id="rId15" Type="http://schemas.openxmlformats.org/officeDocument/2006/relationships/image" Target="../media/image48.sv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5.sv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sv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12" Type="http://schemas.openxmlformats.org/officeDocument/2006/relationships/image" Target="../media/image28.png"/><Relationship Id="rId17" Type="http://schemas.openxmlformats.org/officeDocument/2006/relationships/image" Target="../media/image50.svg"/><Relationship Id="rId2" Type="http://schemas.openxmlformats.org/officeDocument/2006/relationships/image" Target="../media/image2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6.svg"/><Relationship Id="rId5" Type="http://schemas.openxmlformats.org/officeDocument/2006/relationships/image" Target="../media/image7.svg"/><Relationship Id="rId15" Type="http://schemas.openxmlformats.org/officeDocument/2006/relationships/image" Target="../media/image48.sv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5.svg"/><Relationship Id="rId1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52.svg"/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12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9.svg"/><Relationship Id="rId5" Type="http://schemas.openxmlformats.org/officeDocument/2006/relationships/image" Target="../media/image9.svg"/><Relationship Id="rId15" Type="http://schemas.openxmlformats.org/officeDocument/2006/relationships/image" Target="../media/image54.sv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26.svg"/><Relationship Id="rId1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6.svg"/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12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14.svg"/><Relationship Id="rId15" Type="http://schemas.openxmlformats.org/officeDocument/2006/relationships/image" Target="../media/image56.svg"/><Relationship Id="rId10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7.svg"/><Relationship Id="rId1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svg"/><Relationship Id="rId3" Type="http://schemas.openxmlformats.org/officeDocument/2006/relationships/image" Target="../media/image59.svg"/><Relationship Id="rId7" Type="http://schemas.openxmlformats.org/officeDocument/2006/relationships/image" Target="../media/image14.svg"/><Relationship Id="rId12" Type="http://schemas.openxmlformats.org/officeDocument/2006/relationships/image" Target="../media/image8.png"/><Relationship Id="rId2" Type="http://schemas.openxmlformats.org/officeDocument/2006/relationships/image" Target="../media/image58.png"/><Relationship Id="rId16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7.svg"/><Relationship Id="rId5" Type="http://schemas.openxmlformats.org/officeDocument/2006/relationships/image" Target="../media/image3.svg"/><Relationship Id="rId15" Type="http://schemas.openxmlformats.org/officeDocument/2006/relationships/image" Target="../media/image61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svg"/><Relationship Id="rId1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9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0.svg"/><Relationship Id="rId5" Type="http://schemas.openxmlformats.org/officeDocument/2006/relationships/image" Target="../media/image5.svg"/><Relationship Id="rId15" Type="http://schemas.openxmlformats.org/officeDocument/2006/relationships/image" Target="../media/image64.svg"/><Relationship Id="rId10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4956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2971" t="-80933" r="-2971" b="-2800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476524">
            <a:off x="16531359" y="4210092"/>
            <a:ext cx="3840318" cy="1459321"/>
          </a:xfrm>
          <a:custGeom>
            <a:avLst/>
            <a:gdLst/>
            <a:ahLst/>
            <a:cxnLst/>
            <a:rect l="l" t="t" r="r" b="b"/>
            <a:pathLst>
              <a:path w="3840318" h="1459321">
                <a:moveTo>
                  <a:pt x="0" y="0"/>
                </a:moveTo>
                <a:lnTo>
                  <a:pt x="3840318" y="0"/>
                </a:lnTo>
                <a:lnTo>
                  <a:pt x="3840318" y="1459321"/>
                </a:lnTo>
                <a:lnTo>
                  <a:pt x="0" y="14593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766209">
            <a:off x="29609" y="3197017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2" y="0"/>
                </a:lnTo>
                <a:lnTo>
                  <a:pt x="1998182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599622" y="8713932"/>
            <a:ext cx="7851896" cy="1413341"/>
          </a:xfrm>
          <a:custGeom>
            <a:avLst/>
            <a:gdLst/>
            <a:ahLst/>
            <a:cxnLst/>
            <a:rect l="l" t="t" r="r" b="b"/>
            <a:pathLst>
              <a:path w="7851896" h="1413341">
                <a:moveTo>
                  <a:pt x="0" y="0"/>
                </a:moveTo>
                <a:lnTo>
                  <a:pt x="7851896" y="0"/>
                </a:lnTo>
                <a:lnTo>
                  <a:pt x="7851896" y="1413341"/>
                </a:lnTo>
                <a:lnTo>
                  <a:pt x="0" y="14133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738717" y="7628266"/>
            <a:ext cx="8037750" cy="1446795"/>
          </a:xfrm>
          <a:custGeom>
            <a:avLst/>
            <a:gdLst/>
            <a:ahLst/>
            <a:cxnLst/>
            <a:rect l="l" t="t" r="r" b="b"/>
            <a:pathLst>
              <a:path w="8037750" h="1446795">
                <a:moveTo>
                  <a:pt x="0" y="0"/>
                </a:moveTo>
                <a:lnTo>
                  <a:pt x="8037751" y="0"/>
                </a:lnTo>
                <a:lnTo>
                  <a:pt x="8037751" y="1446795"/>
                </a:lnTo>
                <a:lnTo>
                  <a:pt x="0" y="14467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6289817" y="-200553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67715" y="5628219"/>
            <a:ext cx="5182157" cy="4499055"/>
          </a:xfrm>
          <a:custGeom>
            <a:avLst/>
            <a:gdLst/>
            <a:ahLst/>
            <a:cxnLst/>
            <a:rect l="l" t="t" r="r" b="b"/>
            <a:pathLst>
              <a:path w="5182157" h="4499055">
                <a:moveTo>
                  <a:pt x="0" y="0"/>
                </a:moveTo>
                <a:lnTo>
                  <a:pt x="5182157" y="0"/>
                </a:lnTo>
                <a:lnTo>
                  <a:pt x="5182157" y="4499054"/>
                </a:lnTo>
                <a:lnTo>
                  <a:pt x="0" y="44990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05296" y="1511267"/>
            <a:ext cx="15260531" cy="342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1"/>
              </a:lnSpc>
            </a:pPr>
            <a:r>
              <a:rPr lang="en-US" sz="9360" spc="-9">
                <a:solidFill>
                  <a:srgbClr val="D66A12"/>
                </a:solidFill>
                <a:latin typeface="Childos Arabic Semi-Bold"/>
              </a:rPr>
              <a:t>Catalysis with Zeolites and Production of Iso-Butene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85725" y="7533016"/>
            <a:ext cx="7202275" cy="298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4"/>
              </a:lnSpc>
            </a:pPr>
            <a:r>
              <a:rPr lang="en-US" sz="3367" spc="417" dirty="0">
                <a:solidFill>
                  <a:srgbClr val="000000"/>
                </a:solidFill>
                <a:latin typeface="Childos Arabic Bold"/>
              </a:rPr>
              <a:t>Presented by:</a:t>
            </a:r>
          </a:p>
          <a:p>
            <a:pPr algn="ctr">
              <a:lnSpc>
                <a:spcPts val="4714"/>
              </a:lnSpc>
            </a:pPr>
            <a:r>
              <a:rPr lang="en-US" sz="3367" spc="417" dirty="0">
                <a:solidFill>
                  <a:srgbClr val="000000"/>
                </a:solidFill>
                <a:latin typeface="Childos Arabic Bold"/>
              </a:rPr>
              <a:t>Harishankar Yadav- 220107043</a:t>
            </a:r>
          </a:p>
          <a:p>
            <a:pPr algn="ctr">
              <a:lnSpc>
                <a:spcPts val="4714"/>
              </a:lnSpc>
            </a:pPr>
            <a:r>
              <a:rPr lang="en-US" sz="3367" spc="417" dirty="0">
                <a:solidFill>
                  <a:srgbClr val="000000"/>
                </a:solidFill>
                <a:latin typeface="Childos Arabic Bold"/>
              </a:rPr>
              <a:t>Aditya Kanglekar-220107016</a:t>
            </a:r>
          </a:p>
          <a:p>
            <a:pPr algn="ctr">
              <a:lnSpc>
                <a:spcPts val="4714"/>
              </a:lnSpc>
            </a:pPr>
            <a:r>
              <a:rPr lang="en-US" sz="3367" spc="417" dirty="0" err="1">
                <a:solidFill>
                  <a:srgbClr val="000000"/>
                </a:solidFill>
                <a:latin typeface="Childos Arabic Bold"/>
              </a:rPr>
              <a:t>Sachin</a:t>
            </a:r>
            <a:r>
              <a:rPr lang="en-US" sz="3367" spc="417">
                <a:solidFill>
                  <a:srgbClr val="000000"/>
                </a:solidFill>
                <a:latin typeface="Childos Arabic Bold"/>
              </a:rPr>
              <a:t> Tiwari-220107073</a:t>
            </a:r>
            <a:endParaRPr lang="en-US" sz="3367" spc="417" dirty="0">
              <a:solidFill>
                <a:srgbClr val="000000"/>
              </a:solidFill>
              <a:latin typeface="Childos Arabic Bold"/>
            </a:endParaRPr>
          </a:p>
          <a:p>
            <a:pPr algn="ctr">
              <a:lnSpc>
                <a:spcPts val="4714"/>
              </a:lnSpc>
            </a:pPr>
            <a:endParaRPr lang="en-US" sz="3367" spc="417" dirty="0">
              <a:solidFill>
                <a:srgbClr val="000000"/>
              </a:solidFill>
              <a:latin typeface="Childos Arabic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34232" y="5380194"/>
            <a:ext cx="4965236" cy="79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dirty="0">
                <a:solidFill>
                  <a:srgbClr val="000000"/>
                </a:solidFill>
                <a:latin typeface="Childos Arabic Bold"/>
              </a:rPr>
              <a:t>Date: 01/04/2025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51524" y="6682770"/>
            <a:ext cx="9908003" cy="900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5057">
                <a:solidFill>
                  <a:srgbClr val="000000"/>
                </a:solidFill>
                <a:latin typeface="Childos Arabic"/>
              </a:rPr>
              <a:t>CL-304 : Chemical Process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656652">
            <a:off x="14952962" y="6886852"/>
            <a:ext cx="2204077" cy="6482578"/>
          </a:xfrm>
          <a:custGeom>
            <a:avLst/>
            <a:gdLst/>
            <a:ahLst/>
            <a:cxnLst/>
            <a:rect l="l" t="t" r="r" b="b"/>
            <a:pathLst>
              <a:path w="2204077" h="6482578">
                <a:moveTo>
                  <a:pt x="0" y="0"/>
                </a:moveTo>
                <a:lnTo>
                  <a:pt x="2204077" y="0"/>
                </a:lnTo>
                <a:lnTo>
                  <a:pt x="2204077" y="6482579"/>
                </a:lnTo>
                <a:lnTo>
                  <a:pt x="0" y="6482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597884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476524">
            <a:off x="16531359" y="4210092"/>
            <a:ext cx="3840318" cy="1459321"/>
          </a:xfrm>
          <a:custGeom>
            <a:avLst/>
            <a:gdLst/>
            <a:ahLst/>
            <a:cxnLst/>
            <a:rect l="l" t="t" r="r" b="b"/>
            <a:pathLst>
              <a:path w="3840318" h="1459321">
                <a:moveTo>
                  <a:pt x="0" y="0"/>
                </a:moveTo>
                <a:lnTo>
                  <a:pt x="3840318" y="0"/>
                </a:lnTo>
                <a:lnTo>
                  <a:pt x="3840318" y="1459321"/>
                </a:lnTo>
                <a:lnTo>
                  <a:pt x="0" y="1459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958226" y="6275414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2" y="0"/>
                </a:lnTo>
                <a:lnTo>
                  <a:pt x="1998182" y="1998182"/>
                </a:lnTo>
                <a:lnTo>
                  <a:pt x="0" y="19981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867120">
            <a:off x="-1247509" y="246138"/>
            <a:ext cx="3840318" cy="1459321"/>
          </a:xfrm>
          <a:custGeom>
            <a:avLst/>
            <a:gdLst/>
            <a:ahLst/>
            <a:cxnLst/>
            <a:rect l="l" t="t" r="r" b="b"/>
            <a:pathLst>
              <a:path w="3840318" h="1459321">
                <a:moveTo>
                  <a:pt x="0" y="0"/>
                </a:moveTo>
                <a:lnTo>
                  <a:pt x="3840319" y="0"/>
                </a:lnTo>
                <a:lnTo>
                  <a:pt x="3840319" y="1459321"/>
                </a:lnTo>
                <a:lnTo>
                  <a:pt x="0" y="1459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24755" y="3573955"/>
            <a:ext cx="7540943" cy="4211827"/>
          </a:xfrm>
          <a:custGeom>
            <a:avLst/>
            <a:gdLst/>
            <a:ahLst/>
            <a:cxnLst/>
            <a:rect l="l" t="t" r="r" b="b"/>
            <a:pathLst>
              <a:path w="7540943" h="4211827">
                <a:moveTo>
                  <a:pt x="0" y="0"/>
                </a:moveTo>
                <a:lnTo>
                  <a:pt x="7540943" y="0"/>
                </a:lnTo>
                <a:lnTo>
                  <a:pt x="7540943" y="4211827"/>
                </a:lnTo>
                <a:lnTo>
                  <a:pt x="0" y="42118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43" t="-555" b="-555"/>
            </a:stretch>
          </a:blipFill>
          <a:ln w="38100" cap="sq">
            <a:solidFill>
              <a:srgbClr val="FFCB65"/>
            </a:solidFill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5422195" y="8632376"/>
            <a:ext cx="6439991" cy="748812"/>
          </a:xfrm>
          <a:custGeom>
            <a:avLst/>
            <a:gdLst/>
            <a:ahLst/>
            <a:cxnLst/>
            <a:rect l="l" t="t" r="r" b="b"/>
            <a:pathLst>
              <a:path w="6439991" h="748812">
                <a:moveTo>
                  <a:pt x="0" y="0"/>
                </a:moveTo>
                <a:lnTo>
                  <a:pt x="6439991" y="0"/>
                </a:lnTo>
                <a:lnTo>
                  <a:pt x="6439991" y="748812"/>
                </a:lnTo>
                <a:lnTo>
                  <a:pt x="0" y="7488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1477" t="-367893" r="-45330" b="-80155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3482538" y="766249"/>
            <a:ext cx="10949174" cy="186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33"/>
              </a:lnSpc>
              <a:spcBef>
                <a:spcPct val="0"/>
              </a:spcBef>
            </a:pPr>
            <a:r>
              <a:rPr lang="en-US" sz="10881">
                <a:solidFill>
                  <a:srgbClr val="D66A12"/>
                </a:solidFill>
                <a:latin typeface="One Little Font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865" y="2660686"/>
            <a:ext cx="10283890" cy="597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3743" lvl="1" indent="-406871" algn="ctr">
              <a:lnSpc>
                <a:spcPts val="5276"/>
              </a:lnSpc>
              <a:buFont typeface="Arial"/>
              <a:buChar char="•"/>
            </a:pPr>
            <a:r>
              <a:rPr lang="en-US" sz="3769">
                <a:solidFill>
                  <a:srgbClr val="D66A12"/>
                </a:solidFill>
                <a:latin typeface="Canva Sans"/>
              </a:rPr>
              <a:t>Zeolites are </a:t>
            </a:r>
            <a:r>
              <a:rPr lang="en-US" sz="3769">
                <a:solidFill>
                  <a:srgbClr val="D66A12"/>
                </a:solidFill>
                <a:latin typeface="Canva Sans Bold"/>
              </a:rPr>
              <a:t>crystalline,  aluminosilicates </a:t>
            </a:r>
            <a:r>
              <a:rPr lang="en-US" sz="3769">
                <a:solidFill>
                  <a:srgbClr val="D66A12"/>
                </a:solidFill>
                <a:latin typeface="Canva Sans"/>
              </a:rPr>
              <a:t>characterized by their porous structure and high surface area.</a:t>
            </a:r>
          </a:p>
          <a:p>
            <a:pPr marL="813743" lvl="1" indent="-406871" algn="ctr">
              <a:lnSpc>
                <a:spcPts val="5276"/>
              </a:lnSpc>
              <a:buFont typeface="Arial"/>
              <a:buChar char="•"/>
            </a:pPr>
            <a:r>
              <a:rPr lang="en-US" sz="3769">
                <a:solidFill>
                  <a:srgbClr val="D66A12"/>
                </a:solidFill>
                <a:latin typeface="Canva Sans"/>
              </a:rPr>
              <a:t>They consist of a framework of silicon, aluminum, and oxygen atoms.</a:t>
            </a:r>
          </a:p>
          <a:p>
            <a:pPr marL="813743" lvl="1" indent="-406871" algn="ctr">
              <a:lnSpc>
                <a:spcPts val="5276"/>
              </a:lnSpc>
              <a:buFont typeface="Arial"/>
              <a:buChar char="•"/>
            </a:pPr>
            <a:r>
              <a:rPr lang="en-US" sz="3769">
                <a:solidFill>
                  <a:srgbClr val="D66A12"/>
                </a:solidFill>
                <a:latin typeface="Canva Sans"/>
              </a:rPr>
              <a:t>They have a </a:t>
            </a:r>
            <a:r>
              <a:rPr lang="en-US" sz="3769">
                <a:solidFill>
                  <a:srgbClr val="D66A12"/>
                </a:solidFill>
                <a:latin typeface="Canva Sans Bold"/>
              </a:rPr>
              <a:t>porous structure</a:t>
            </a:r>
            <a:r>
              <a:rPr lang="en-US" sz="3769">
                <a:solidFill>
                  <a:srgbClr val="D66A12"/>
                </a:solidFill>
                <a:latin typeface="Canva Sans"/>
              </a:rPr>
              <a:t> (Allows molecules to enter and react within their cavity).</a:t>
            </a:r>
          </a:p>
          <a:p>
            <a:pPr marL="813743" lvl="1" indent="-406871" algn="ctr">
              <a:lnSpc>
                <a:spcPts val="5276"/>
              </a:lnSpc>
              <a:buFont typeface="Arial"/>
              <a:buChar char="•"/>
            </a:pPr>
            <a:r>
              <a:rPr lang="en-US" sz="3769">
                <a:solidFill>
                  <a:srgbClr val="D66A12"/>
                </a:solidFill>
                <a:latin typeface="Canva Sans"/>
              </a:rPr>
              <a:t>Chemical Structure 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2012" y="9490474"/>
            <a:ext cx="8020943" cy="63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770">
                <a:solidFill>
                  <a:srgbClr val="D66A12"/>
                </a:solidFill>
                <a:latin typeface="Canva Sans"/>
              </a:rPr>
              <a:t>[here, M is either a metal ion or H+]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476524">
            <a:off x="16123629" y="4321039"/>
            <a:ext cx="4328742" cy="1644922"/>
          </a:xfrm>
          <a:custGeom>
            <a:avLst/>
            <a:gdLst/>
            <a:ahLst/>
            <a:cxnLst/>
            <a:rect l="l" t="t" r="r" b="b"/>
            <a:pathLst>
              <a:path w="4328742" h="1644922">
                <a:moveTo>
                  <a:pt x="0" y="0"/>
                </a:moveTo>
                <a:lnTo>
                  <a:pt x="4328742" y="0"/>
                </a:lnTo>
                <a:lnTo>
                  <a:pt x="4328742" y="1644922"/>
                </a:lnTo>
                <a:lnTo>
                  <a:pt x="0" y="1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622350" y="6101442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34028">
            <a:off x="6943791" y="8827129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4" y="0"/>
                </a:lnTo>
                <a:lnTo>
                  <a:pt x="5167334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457032" y="-1019199"/>
            <a:ext cx="13417029" cy="5861854"/>
          </a:xfrm>
          <a:custGeom>
            <a:avLst/>
            <a:gdLst/>
            <a:ahLst/>
            <a:cxnLst/>
            <a:rect l="l" t="t" r="r" b="b"/>
            <a:pathLst>
              <a:path w="13417029" h="5861854">
                <a:moveTo>
                  <a:pt x="0" y="0"/>
                </a:moveTo>
                <a:lnTo>
                  <a:pt x="13417029" y="0"/>
                </a:lnTo>
                <a:lnTo>
                  <a:pt x="13417029" y="5861853"/>
                </a:lnTo>
                <a:lnTo>
                  <a:pt x="0" y="58618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74061" y="8719169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0" y="0"/>
                </a:lnTo>
                <a:lnTo>
                  <a:pt x="3294690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97884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1883" y="8713932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810949">
            <a:off x="-1787630" y="514680"/>
            <a:ext cx="4328742" cy="1644922"/>
          </a:xfrm>
          <a:custGeom>
            <a:avLst/>
            <a:gdLst/>
            <a:ahLst/>
            <a:cxnLst/>
            <a:rect l="l" t="t" r="r" b="b"/>
            <a:pathLst>
              <a:path w="4328742" h="1644922">
                <a:moveTo>
                  <a:pt x="0" y="0"/>
                </a:moveTo>
                <a:lnTo>
                  <a:pt x="4328742" y="0"/>
                </a:lnTo>
                <a:lnTo>
                  <a:pt x="4328742" y="1644922"/>
                </a:lnTo>
                <a:lnTo>
                  <a:pt x="0" y="1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922244" y="3748946"/>
            <a:ext cx="7868297" cy="6378048"/>
          </a:xfrm>
          <a:custGeom>
            <a:avLst/>
            <a:gdLst/>
            <a:ahLst/>
            <a:cxnLst/>
            <a:rect l="l" t="t" r="r" b="b"/>
            <a:pathLst>
              <a:path w="7868297" h="6378048">
                <a:moveTo>
                  <a:pt x="0" y="0"/>
                </a:moveTo>
                <a:lnTo>
                  <a:pt x="7868297" y="0"/>
                </a:lnTo>
                <a:lnTo>
                  <a:pt x="7868297" y="6378048"/>
                </a:lnTo>
                <a:lnTo>
                  <a:pt x="0" y="637804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7905" t="-77927" r="-76597" b="-203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14778" y="5580398"/>
            <a:ext cx="6048686" cy="4546595"/>
          </a:xfrm>
          <a:custGeom>
            <a:avLst/>
            <a:gdLst/>
            <a:ahLst/>
            <a:cxnLst/>
            <a:rect l="l" t="t" r="r" b="b"/>
            <a:pathLst>
              <a:path w="6048686" h="4546595">
                <a:moveTo>
                  <a:pt x="0" y="0"/>
                </a:moveTo>
                <a:lnTo>
                  <a:pt x="6048686" y="0"/>
                </a:lnTo>
                <a:lnTo>
                  <a:pt x="6048686" y="4546596"/>
                </a:lnTo>
                <a:lnTo>
                  <a:pt x="0" y="45465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14778" y="729702"/>
            <a:ext cx="13858702" cy="137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76"/>
              </a:lnSpc>
            </a:pPr>
            <a:r>
              <a:rPr lang="en-US" sz="10600" spc="-116">
                <a:solidFill>
                  <a:srgbClr val="FFF9D8"/>
                </a:solidFill>
                <a:latin typeface="One Little Font"/>
              </a:rPr>
              <a:t>COMMON ZEOLITES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2294796"/>
            <a:ext cx="18451518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nva Sans Bold"/>
              </a:rPr>
              <a:t>Zeolites are either formed naturally or can be synthesised or produced industrially.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nva Sans Bold"/>
              </a:rPr>
              <a:t>There are nearly 50 different types of zeolites which are available.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48296" y="4240324"/>
            <a:ext cx="6479161" cy="113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3"/>
              </a:lnSpc>
            </a:pPr>
            <a:r>
              <a:rPr lang="en-US" sz="3259">
                <a:solidFill>
                  <a:srgbClr val="000000"/>
                </a:solidFill>
                <a:latin typeface="Canva Sans Bold"/>
              </a:rPr>
              <a:t>some of the most common mineral zeolites are-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56030" y="31676"/>
            <a:ext cx="11975940" cy="188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D66A12"/>
                </a:solidFill>
                <a:latin typeface="One Little Font"/>
              </a:rPr>
              <a:t>TYPES OF ZEOLITES</a:t>
            </a:r>
          </a:p>
        </p:txBody>
      </p:sp>
      <p:sp>
        <p:nvSpPr>
          <p:cNvPr id="3" name="Freeform 3"/>
          <p:cNvSpPr/>
          <p:nvPr/>
        </p:nvSpPr>
        <p:spPr>
          <a:xfrm rot="-5757242">
            <a:off x="17660149" y="6517914"/>
            <a:ext cx="2204077" cy="6482578"/>
          </a:xfrm>
          <a:custGeom>
            <a:avLst/>
            <a:gdLst/>
            <a:ahLst/>
            <a:cxnLst/>
            <a:rect l="l" t="t" r="r" b="b"/>
            <a:pathLst>
              <a:path w="2204077" h="6482578">
                <a:moveTo>
                  <a:pt x="0" y="0"/>
                </a:moveTo>
                <a:lnTo>
                  <a:pt x="2204076" y="0"/>
                </a:lnTo>
                <a:lnTo>
                  <a:pt x="2204076" y="6482579"/>
                </a:lnTo>
                <a:lnTo>
                  <a:pt x="0" y="6482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476524">
            <a:off x="16531359" y="4210092"/>
            <a:ext cx="3840318" cy="1459321"/>
          </a:xfrm>
          <a:custGeom>
            <a:avLst/>
            <a:gdLst/>
            <a:ahLst/>
            <a:cxnLst/>
            <a:rect l="l" t="t" r="r" b="b"/>
            <a:pathLst>
              <a:path w="3840318" h="1459321">
                <a:moveTo>
                  <a:pt x="0" y="0"/>
                </a:moveTo>
                <a:lnTo>
                  <a:pt x="3840318" y="0"/>
                </a:lnTo>
                <a:lnTo>
                  <a:pt x="3840318" y="1459321"/>
                </a:lnTo>
                <a:lnTo>
                  <a:pt x="0" y="1459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656652">
            <a:off x="-1278841" y="7045711"/>
            <a:ext cx="2204077" cy="6482578"/>
          </a:xfrm>
          <a:custGeom>
            <a:avLst/>
            <a:gdLst/>
            <a:ahLst/>
            <a:cxnLst/>
            <a:rect l="l" t="t" r="r" b="b"/>
            <a:pathLst>
              <a:path w="2204077" h="6482578">
                <a:moveTo>
                  <a:pt x="0" y="0"/>
                </a:moveTo>
                <a:lnTo>
                  <a:pt x="2204077" y="0"/>
                </a:lnTo>
                <a:lnTo>
                  <a:pt x="2204077" y="6482578"/>
                </a:lnTo>
                <a:lnTo>
                  <a:pt x="0" y="648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400681">
            <a:off x="13471334" y="-49905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020856" y="9516891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141820" y="3904032"/>
            <a:ext cx="8622328" cy="6151989"/>
          </a:xfrm>
          <a:custGeom>
            <a:avLst/>
            <a:gdLst/>
            <a:ahLst/>
            <a:cxnLst/>
            <a:rect l="l" t="t" r="r" b="b"/>
            <a:pathLst>
              <a:path w="8622328" h="6151989">
                <a:moveTo>
                  <a:pt x="0" y="0"/>
                </a:moveTo>
                <a:lnTo>
                  <a:pt x="8622328" y="0"/>
                </a:lnTo>
                <a:lnTo>
                  <a:pt x="8622328" y="6151990"/>
                </a:lnTo>
                <a:lnTo>
                  <a:pt x="0" y="61519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9594" t="-78632" r="-36034" b="-14975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98009" y="3166767"/>
            <a:ext cx="53303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Zeolites are of two types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72867" y="1644231"/>
            <a:ext cx="10342265" cy="1243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899">
                <a:solidFill>
                  <a:srgbClr val="D66A12"/>
                </a:solidFill>
                <a:latin typeface="Childos Arabic Bold"/>
              </a:rPr>
              <a:t>{ NATURAL V/S SYNTHETIC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Fun Playful Simple Shape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Fun Playful Simple Shape"/>
          <p:cNvSpPr/>
          <p:nvPr/>
        </p:nvSpPr>
        <p:spPr>
          <a:xfrm rot="5400000">
            <a:off x="-776334" y="5457795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Fun Playful Simple Shape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Fun Playful Simple Scrapbook Shape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Fun Playful Simple Scrapbook Squiggle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Organic Abstract Shape Illustration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 descr="Organic Abstract Shape Illustration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50015" y="6262248"/>
            <a:ext cx="5317794" cy="3370834"/>
            <a:chOff x="0" y="0"/>
            <a:chExt cx="7090392" cy="449444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052750"/>
              <a:ext cx="7090392" cy="3441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36"/>
                </a:lnSpc>
              </a:pPr>
              <a:r>
                <a:rPr lang="en-US" sz="2954">
                  <a:solidFill>
                    <a:srgbClr val="000000"/>
                  </a:solidFill>
                  <a:latin typeface="Canva Sans"/>
                </a:rPr>
                <a:t>Zeolites with pore sizes less than 2 nanometers, ideal for molecular sieving applications due to their small pore size.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7090392" cy="74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27"/>
                </a:lnSpc>
              </a:pPr>
              <a:r>
                <a:rPr lang="en-US" sz="3376">
                  <a:solidFill>
                    <a:srgbClr val="000000"/>
                  </a:solidFill>
                  <a:latin typeface="Canva Sans Bold"/>
                </a:rPr>
                <a:t>Microporous Zeolites</a:t>
              </a:r>
              <a:r>
                <a:rPr lang="en-US" sz="3376">
                  <a:solidFill>
                    <a:srgbClr val="000000"/>
                  </a:solidFill>
                  <a:latin typeface="Canva Sans"/>
                </a:rPr>
                <a:t>: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90546" y="1257300"/>
            <a:ext cx="14106909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19"/>
              </a:lnSpc>
            </a:pPr>
            <a:r>
              <a:rPr lang="en-US" sz="7599">
                <a:solidFill>
                  <a:srgbClr val="D49314"/>
                </a:solidFill>
                <a:latin typeface="Childos Arabic"/>
              </a:rPr>
              <a:t>CLASSIFICATION OF ZEOLITES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57396" y="3056215"/>
            <a:ext cx="1117320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39"/>
              </a:lnSpc>
            </a:pPr>
            <a:r>
              <a:rPr lang="en-US" sz="3699">
                <a:solidFill>
                  <a:srgbClr val="000000"/>
                </a:solidFill>
                <a:latin typeface="Canva Sans Bold"/>
              </a:rPr>
              <a:t>Based on Pore Size and Shape: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5429250"/>
            <a:ext cx="16230600" cy="38100"/>
          </a:xfrm>
          <a:prstGeom prst="rect">
            <a:avLst/>
          </a:prstGeom>
          <a:solidFill>
            <a:srgbClr val="D49314"/>
          </a:solidFill>
        </p:spPr>
      </p:sp>
      <p:sp>
        <p:nvSpPr>
          <p:cNvPr id="15" name="AutoShape 15"/>
          <p:cNvSpPr/>
          <p:nvPr/>
        </p:nvSpPr>
        <p:spPr>
          <a:xfrm>
            <a:off x="2386204" y="5257800"/>
            <a:ext cx="2324100" cy="381000"/>
          </a:xfrm>
          <a:prstGeom prst="rect">
            <a:avLst/>
          </a:prstGeom>
          <a:solidFill>
            <a:srgbClr val="FFCB65"/>
          </a:solidFill>
        </p:spPr>
      </p:sp>
      <p:grpSp>
        <p:nvGrpSpPr>
          <p:cNvPr id="16" name="Group 16"/>
          <p:cNvGrpSpPr/>
          <p:nvPr/>
        </p:nvGrpSpPr>
        <p:grpSpPr>
          <a:xfrm>
            <a:off x="6337424" y="6262248"/>
            <a:ext cx="5326130" cy="3278060"/>
            <a:chOff x="0" y="0"/>
            <a:chExt cx="7101507" cy="4370747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064015"/>
              <a:ext cx="7101507" cy="3306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98"/>
                </a:lnSpc>
              </a:pPr>
              <a:r>
                <a:rPr lang="en-US" sz="2856">
                  <a:solidFill>
                    <a:srgbClr val="000000"/>
                  </a:solidFill>
                  <a:latin typeface="Canva Sans"/>
                </a:rPr>
                <a:t>Zeolites featuring pore sizes ranging from 2 to 50 nanometers, suitable for adsorption and catalysis of medium-sized molecules.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7101507" cy="744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35"/>
                </a:lnSpc>
              </a:pPr>
              <a:r>
                <a:rPr lang="en-US" sz="3382">
                  <a:solidFill>
                    <a:srgbClr val="000000"/>
                  </a:solidFill>
                  <a:latin typeface="Canva Sans Bold"/>
                </a:rPr>
                <a:t>Mesoporous Zeolites: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7981950" y="5257800"/>
            <a:ext cx="2324100" cy="381000"/>
          </a:xfrm>
          <a:prstGeom prst="rect">
            <a:avLst/>
          </a:prstGeom>
          <a:solidFill>
            <a:srgbClr val="FFCB65"/>
          </a:solidFill>
        </p:spPr>
      </p:sp>
      <p:grpSp>
        <p:nvGrpSpPr>
          <p:cNvPr id="20" name="Group 20"/>
          <p:cNvGrpSpPr/>
          <p:nvPr/>
        </p:nvGrpSpPr>
        <p:grpSpPr>
          <a:xfrm>
            <a:off x="11933176" y="6262248"/>
            <a:ext cx="5326124" cy="3278124"/>
            <a:chOff x="0" y="0"/>
            <a:chExt cx="7101499" cy="4370831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064014"/>
              <a:ext cx="7101499" cy="3306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95"/>
                </a:lnSpc>
              </a:pPr>
              <a:r>
                <a:rPr lang="en-US" sz="2853">
                  <a:solidFill>
                    <a:srgbClr val="000000"/>
                  </a:solidFill>
                  <a:latin typeface="Canva Sans"/>
                </a:rPr>
                <a:t>Zeolites characterized by pore sizes greater than 50 nanometers, utilized in larger-scale separations and industrial processes.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7101499" cy="744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35"/>
                </a:lnSpc>
              </a:pPr>
              <a:r>
                <a:rPr lang="en-US" sz="3382">
                  <a:solidFill>
                    <a:srgbClr val="000000"/>
                  </a:solidFill>
                  <a:latin typeface="Canva Sans Bold"/>
                </a:rPr>
                <a:t>Macroporous Zeolites: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3577696" y="5257800"/>
            <a:ext cx="2324100" cy="381000"/>
          </a:xfrm>
          <a:prstGeom prst="rect">
            <a:avLst/>
          </a:prstGeom>
          <a:solidFill>
            <a:srgbClr val="FFCB65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Fun Playful Simple Shape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Fun Playful Simple Shape"/>
          <p:cNvSpPr/>
          <p:nvPr/>
        </p:nvSpPr>
        <p:spPr>
          <a:xfrm rot="5400000">
            <a:off x="-776334" y="5457795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Fun Playful Simple Shape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Fun Playful Simple Scrapbook Shape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Fun Playful Simple Scrapbook Squiggle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Organic Abstract Shape Illustration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 descr="Organic Abstract Shape Illustration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092377" y="0"/>
            <a:ext cx="10195623" cy="10594713"/>
            <a:chOff x="0" y="0"/>
            <a:chExt cx="1901533" cy="19759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1533" cy="1975965"/>
            </a:xfrm>
            <a:custGeom>
              <a:avLst/>
              <a:gdLst/>
              <a:ahLst/>
              <a:cxnLst/>
              <a:rect l="l" t="t" r="r" b="b"/>
              <a:pathLst>
                <a:path w="1901533" h="1975965">
                  <a:moveTo>
                    <a:pt x="0" y="0"/>
                  </a:moveTo>
                  <a:lnTo>
                    <a:pt x="1901533" y="0"/>
                  </a:lnTo>
                  <a:lnTo>
                    <a:pt x="1901533" y="1975965"/>
                  </a:lnTo>
                  <a:lnTo>
                    <a:pt x="0" y="1975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2850256" y="5695950"/>
            <a:ext cx="5507551" cy="4138531"/>
          </a:xfrm>
          <a:custGeom>
            <a:avLst/>
            <a:gdLst/>
            <a:ahLst/>
            <a:cxnLst/>
            <a:rect l="l" t="t" r="r" b="b"/>
            <a:pathLst>
              <a:path w="5507551" h="4138531">
                <a:moveTo>
                  <a:pt x="0" y="0"/>
                </a:moveTo>
                <a:lnTo>
                  <a:pt x="5507551" y="0"/>
                </a:lnTo>
                <a:lnTo>
                  <a:pt x="5507551" y="4138531"/>
                </a:lnTo>
                <a:lnTo>
                  <a:pt x="0" y="41385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754790" y="1885911"/>
            <a:ext cx="7504510" cy="2105993"/>
            <a:chOff x="0" y="0"/>
            <a:chExt cx="10006013" cy="280799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8024"/>
              <a:ext cx="10006013" cy="1849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63598" lvl="2" indent="-287866" algn="l">
                <a:lnSpc>
                  <a:spcPts val="27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999" u="none">
                  <a:solidFill>
                    <a:srgbClr val="000000"/>
                  </a:solidFill>
                  <a:latin typeface="Canva Sans"/>
                </a:rPr>
                <a:t>Si/Al ratio of less than 2.</a:t>
              </a:r>
            </a:p>
            <a:p>
              <a:pPr marL="863598" lvl="2" indent="-287866" algn="l">
                <a:lnSpc>
                  <a:spcPts val="27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999" u="none">
                  <a:solidFill>
                    <a:srgbClr val="000000"/>
                  </a:solidFill>
                  <a:latin typeface="Canva Sans"/>
                </a:rPr>
                <a:t>They are typically less acidic compared to their high Si/Al ratio counterparts.</a:t>
              </a:r>
            </a:p>
            <a:p>
              <a:pPr marL="863598" lvl="2" indent="-287866" algn="l">
                <a:lnSpc>
                  <a:spcPts val="27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999" u="none">
                  <a:solidFill>
                    <a:srgbClr val="000000"/>
                  </a:solidFill>
                  <a:latin typeface="Canva Sans"/>
                </a:rPr>
                <a:t>Examples include Zeolite X and Zeolite L (Linnaeite).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0006013" cy="762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43"/>
                </a:lnSpc>
                <a:spcBef>
                  <a:spcPct val="0"/>
                </a:spcBef>
              </a:pPr>
              <a:r>
                <a:rPr lang="en-US" sz="3459" u="none">
                  <a:solidFill>
                    <a:srgbClr val="000000"/>
                  </a:solidFill>
                  <a:latin typeface="Canva Sans Bold"/>
                </a:rPr>
                <a:t>Low Si/Al Ratio Zeolites: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54790" y="4079159"/>
            <a:ext cx="7504510" cy="2111234"/>
            <a:chOff x="0" y="0"/>
            <a:chExt cx="10006013" cy="2814979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65012"/>
              <a:ext cx="10006013" cy="1849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63598" lvl="2" indent="-287866" algn="l">
                <a:lnSpc>
                  <a:spcPts val="27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999" u="none">
                  <a:solidFill>
                    <a:srgbClr val="000000"/>
                  </a:solidFill>
                  <a:latin typeface="Canva Sans"/>
                </a:rPr>
                <a:t>They have Si/Al ratios ranging between 2 and 10, offering moderate acidity and framework rigidity.</a:t>
              </a:r>
            </a:p>
            <a:p>
              <a:pPr marL="863598" lvl="2" indent="-287866" algn="l">
                <a:lnSpc>
                  <a:spcPts val="27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999" u="none">
                  <a:solidFill>
                    <a:srgbClr val="000000"/>
                  </a:solidFill>
                  <a:latin typeface="Canva Sans"/>
                </a:rPr>
                <a:t>Zeolite A (Linde Type A) and ZSM-11 are common examples.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0006013" cy="762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43"/>
                </a:lnSpc>
                <a:spcBef>
                  <a:spcPct val="0"/>
                </a:spcBef>
              </a:pPr>
              <a:r>
                <a:rPr lang="en-US" sz="3459" u="none">
                  <a:solidFill>
                    <a:srgbClr val="000000"/>
                  </a:solidFill>
                  <a:latin typeface="Canva Sans Bold"/>
                </a:rPr>
                <a:t>Intermediate Si/Al Ratio Zeolites: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54790" y="6784636"/>
            <a:ext cx="7504510" cy="2111234"/>
            <a:chOff x="0" y="0"/>
            <a:chExt cx="10006013" cy="2814979"/>
          </a:xfrm>
        </p:grpSpPr>
        <p:sp>
          <p:nvSpPr>
            <p:cNvPr id="19" name="TextBox 19"/>
            <p:cNvSpPr txBox="1"/>
            <p:nvPr/>
          </p:nvSpPr>
          <p:spPr>
            <a:xfrm>
              <a:off x="0" y="965012"/>
              <a:ext cx="10006013" cy="1849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63598" lvl="2" indent="-287866" algn="l">
                <a:lnSpc>
                  <a:spcPts val="27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999" u="none">
                  <a:solidFill>
                    <a:srgbClr val="000000"/>
                  </a:solidFill>
                  <a:latin typeface="Canva Sans"/>
                </a:rPr>
                <a:t>Characterized by a Si/Al ratio greater than 10, typically acidic in nature.</a:t>
              </a:r>
            </a:p>
            <a:p>
              <a:pPr marL="863598" lvl="2" indent="-287866" algn="l">
                <a:lnSpc>
                  <a:spcPts val="27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999" u="none">
                  <a:solidFill>
                    <a:srgbClr val="000000"/>
                  </a:solidFill>
                  <a:latin typeface="Canva Sans"/>
                </a:rPr>
                <a:t>Zeolite Y, ZSM-5, and Beta Zeolite are prominent examples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0006013" cy="762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43"/>
                </a:lnSpc>
                <a:spcBef>
                  <a:spcPct val="0"/>
                </a:spcBef>
              </a:pPr>
              <a:r>
                <a:rPr lang="en-US" sz="3459" u="none">
                  <a:solidFill>
                    <a:srgbClr val="000000"/>
                  </a:solidFill>
                  <a:latin typeface="Canva Sans Bold"/>
                </a:rPr>
                <a:t>High Si/Al Ratio Zeolites: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1885911"/>
            <a:ext cx="7329107" cy="2330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22"/>
              </a:lnSpc>
              <a:spcBef>
                <a:spcPct val="0"/>
              </a:spcBef>
            </a:pPr>
            <a:r>
              <a:rPr lang="en-US" sz="8020" u="none">
                <a:solidFill>
                  <a:srgbClr val="D49314"/>
                </a:solidFill>
                <a:latin typeface="Childos Arabic"/>
              </a:rPr>
              <a:t>CLASSIFICATION OF ZEOLITES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60955" y="4530090"/>
            <a:ext cx="583142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u="none">
                <a:solidFill>
                  <a:srgbClr val="000000"/>
                </a:solidFill>
                <a:latin typeface="Canva Sans Bold"/>
              </a:rPr>
              <a:t>Based on Si/Al Ratio: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476524">
            <a:off x="16123629" y="4321039"/>
            <a:ext cx="4328742" cy="1644922"/>
          </a:xfrm>
          <a:custGeom>
            <a:avLst/>
            <a:gdLst/>
            <a:ahLst/>
            <a:cxnLst/>
            <a:rect l="l" t="t" r="r" b="b"/>
            <a:pathLst>
              <a:path w="4328742" h="1644922">
                <a:moveTo>
                  <a:pt x="0" y="0"/>
                </a:moveTo>
                <a:lnTo>
                  <a:pt x="4328742" y="0"/>
                </a:lnTo>
                <a:lnTo>
                  <a:pt x="4328742" y="1644922"/>
                </a:lnTo>
                <a:lnTo>
                  <a:pt x="0" y="1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776334" y="5457795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26121" y="674798"/>
            <a:ext cx="12750118" cy="115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5"/>
              </a:lnSpc>
              <a:spcBef>
                <a:spcPct val="0"/>
              </a:spcBef>
            </a:pPr>
            <a:r>
              <a:rPr lang="en-US" sz="6796">
                <a:solidFill>
                  <a:srgbClr val="D66A12"/>
                </a:solidFill>
                <a:latin typeface="One Little Font Semi-Bold"/>
              </a:rPr>
              <a:t>PROPERTIES OF ZEOLITES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50015" y="2496683"/>
            <a:ext cx="4828826" cy="3868814"/>
          </a:xfrm>
          <a:custGeom>
            <a:avLst/>
            <a:gdLst/>
            <a:ahLst/>
            <a:cxnLst/>
            <a:rect l="l" t="t" r="r" b="b"/>
            <a:pathLst>
              <a:path w="4828826" h="3868814">
                <a:moveTo>
                  <a:pt x="0" y="0"/>
                </a:moveTo>
                <a:lnTo>
                  <a:pt x="4828826" y="0"/>
                </a:lnTo>
                <a:lnTo>
                  <a:pt x="4828826" y="3868814"/>
                </a:lnTo>
                <a:lnTo>
                  <a:pt x="0" y="38688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997023" y="2669558"/>
            <a:ext cx="4749522" cy="3805276"/>
          </a:xfrm>
          <a:custGeom>
            <a:avLst/>
            <a:gdLst/>
            <a:ahLst/>
            <a:cxnLst/>
            <a:rect l="l" t="t" r="r" b="b"/>
            <a:pathLst>
              <a:path w="4749522" h="3805276">
                <a:moveTo>
                  <a:pt x="0" y="0"/>
                </a:moveTo>
                <a:lnTo>
                  <a:pt x="4749522" y="0"/>
                </a:lnTo>
                <a:lnTo>
                  <a:pt x="4749522" y="3805276"/>
                </a:lnTo>
                <a:lnTo>
                  <a:pt x="0" y="38052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165884" y="6176536"/>
            <a:ext cx="5061336" cy="4055099"/>
          </a:xfrm>
          <a:custGeom>
            <a:avLst/>
            <a:gdLst/>
            <a:ahLst/>
            <a:cxnLst/>
            <a:rect l="l" t="t" r="r" b="b"/>
            <a:pathLst>
              <a:path w="5061336" h="4055099">
                <a:moveTo>
                  <a:pt x="0" y="0"/>
                </a:moveTo>
                <a:lnTo>
                  <a:pt x="5061336" y="0"/>
                </a:lnTo>
                <a:lnTo>
                  <a:pt x="5061336" y="4055099"/>
                </a:lnTo>
                <a:lnTo>
                  <a:pt x="0" y="40550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415807" y="5556362"/>
            <a:ext cx="5474745" cy="4386318"/>
          </a:xfrm>
          <a:custGeom>
            <a:avLst/>
            <a:gdLst/>
            <a:ahLst/>
            <a:cxnLst/>
            <a:rect l="l" t="t" r="r" b="b"/>
            <a:pathLst>
              <a:path w="5474745" h="4386318">
                <a:moveTo>
                  <a:pt x="0" y="0"/>
                </a:moveTo>
                <a:lnTo>
                  <a:pt x="5474745" y="0"/>
                </a:lnTo>
                <a:lnTo>
                  <a:pt x="5474745" y="4386318"/>
                </a:lnTo>
                <a:lnTo>
                  <a:pt x="0" y="43863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3180482"/>
            <a:ext cx="4194842" cy="246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4"/>
              </a:lnSpc>
            </a:pPr>
            <a:r>
              <a:rPr lang="en-US" sz="3553">
                <a:solidFill>
                  <a:srgbClr val="FFF9D8"/>
                </a:solidFill>
                <a:latin typeface="Canva Sans"/>
              </a:rPr>
              <a:t> </a:t>
            </a:r>
            <a:r>
              <a:rPr lang="en-US" sz="3553" u="sng">
                <a:solidFill>
                  <a:srgbClr val="FFF9D8"/>
                </a:solidFill>
                <a:latin typeface="Canva Sans Bold"/>
              </a:rPr>
              <a:t>porous structure</a:t>
            </a:r>
          </a:p>
          <a:p>
            <a:pPr algn="ctr">
              <a:lnSpc>
                <a:spcPts val="4974"/>
              </a:lnSpc>
            </a:pPr>
            <a:r>
              <a:rPr lang="en-US" sz="3553">
                <a:solidFill>
                  <a:srgbClr val="FFF9D8"/>
                </a:solidFill>
                <a:latin typeface="Canva Sans"/>
              </a:rPr>
              <a:t>Allows molecules to enter and react within their cavity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06493" y="3294950"/>
            <a:ext cx="4418784" cy="254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6"/>
              </a:lnSpc>
            </a:pPr>
            <a:r>
              <a:rPr lang="en-US" sz="3647">
                <a:solidFill>
                  <a:srgbClr val="FFF9D8"/>
                </a:solidFill>
                <a:latin typeface="Canva Sans"/>
              </a:rPr>
              <a:t> </a:t>
            </a:r>
            <a:r>
              <a:rPr lang="en-US" sz="3647" u="sng">
                <a:solidFill>
                  <a:srgbClr val="FFF9D8"/>
                </a:solidFill>
                <a:latin typeface="Canva Sans Bold"/>
              </a:rPr>
              <a:t>high surface area</a:t>
            </a:r>
            <a:r>
              <a:rPr lang="en-US" sz="3647" u="sng">
                <a:solidFill>
                  <a:srgbClr val="FFF9D8"/>
                </a:solidFill>
                <a:latin typeface="Canva Sans"/>
              </a:rPr>
              <a:t> </a:t>
            </a:r>
            <a:r>
              <a:rPr lang="en-US" sz="3647">
                <a:solidFill>
                  <a:srgbClr val="FFF9D8"/>
                </a:solidFill>
                <a:latin typeface="Canva Sans"/>
              </a:rPr>
              <a:t> provide ample active sites for catalytic reactions.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46545" y="6308347"/>
            <a:ext cx="4813268" cy="363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6"/>
              </a:lnSpc>
            </a:pPr>
            <a:r>
              <a:rPr lang="en-US" sz="3568" u="sng">
                <a:solidFill>
                  <a:srgbClr val="FFF9D8"/>
                </a:solidFill>
                <a:latin typeface="Canva Sans Bold"/>
              </a:rPr>
              <a:t>Selective Adsorption</a:t>
            </a:r>
          </a:p>
          <a:p>
            <a:pPr algn="ctr">
              <a:lnSpc>
                <a:spcPts val="4996"/>
              </a:lnSpc>
            </a:pPr>
            <a:r>
              <a:rPr lang="en-US" sz="3568">
                <a:solidFill>
                  <a:srgbClr val="FFF9D8"/>
                </a:solidFill>
                <a:latin typeface="Canva Sans Semi-Bold"/>
              </a:rPr>
              <a:t>P</a:t>
            </a:r>
            <a:r>
              <a:rPr lang="en-US" sz="3568">
                <a:solidFill>
                  <a:srgbClr val="FFF9D8"/>
                </a:solidFill>
                <a:latin typeface="Canva Sans"/>
              </a:rPr>
              <a:t>recise pore sizes allows for selective adsorption based on size and shape.</a:t>
            </a:r>
          </a:p>
          <a:p>
            <a:pPr algn="ctr">
              <a:lnSpc>
                <a:spcPts val="4282"/>
              </a:lnSpc>
            </a:pPr>
            <a:endParaRPr lang="en-US" sz="3568">
              <a:solidFill>
                <a:srgbClr val="FFF9D8"/>
              </a:solidFill>
              <a:latin typeface="Canva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591212" y="6575394"/>
            <a:ext cx="4210680" cy="3190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0"/>
              </a:lnSpc>
            </a:pPr>
            <a:r>
              <a:rPr lang="en-US" sz="3671">
                <a:solidFill>
                  <a:srgbClr val="FFF9D8"/>
                </a:solidFill>
                <a:latin typeface="Canva Sans"/>
              </a:rPr>
              <a:t>I</a:t>
            </a:r>
            <a:r>
              <a:rPr lang="en-US" sz="3671" u="sng">
                <a:solidFill>
                  <a:srgbClr val="FFF9D8"/>
                </a:solidFill>
                <a:latin typeface="Canva Sans Bold"/>
              </a:rPr>
              <a:t>on-Exchange capability</a:t>
            </a:r>
          </a:p>
          <a:p>
            <a:pPr algn="ctr">
              <a:lnSpc>
                <a:spcPts val="5140"/>
              </a:lnSpc>
            </a:pPr>
            <a:r>
              <a:rPr lang="en-US" sz="3671">
                <a:solidFill>
                  <a:srgbClr val="FFF9D8"/>
                </a:solidFill>
                <a:latin typeface="Canva Sans"/>
              </a:rPr>
              <a:t>Enables modification of catalytic property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Fun Playful Simple Shape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Fun Playful Simple Shape"/>
          <p:cNvSpPr/>
          <p:nvPr/>
        </p:nvSpPr>
        <p:spPr>
          <a:xfrm rot="5400000">
            <a:off x="-776334" y="5457795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Fun Playful Simple Shape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Fun Playful Simple Scrapbook Shape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Fun Playful Simple Scrapbook Squiggle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Organic Abstract Shape Illustration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 descr="Organic Abstract Shape Illustration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256762" y="1028700"/>
            <a:ext cx="7484826" cy="8325569"/>
            <a:chOff x="687070" y="247650"/>
            <a:chExt cx="11148060" cy="12400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148060" cy="12400280"/>
            </a:xfrm>
            <a:custGeom>
              <a:avLst/>
              <a:gdLst/>
              <a:ahLst/>
              <a:cxnLst/>
              <a:rect l="l" t="t" r="r" b="b"/>
              <a:pathLst>
                <a:path w="11148060" h="12400280">
                  <a:moveTo>
                    <a:pt x="9215120" y="1497330"/>
                  </a:moveTo>
                  <a:cubicBezTo>
                    <a:pt x="8773160" y="972820"/>
                    <a:pt x="8234680" y="508000"/>
                    <a:pt x="7590790" y="252730"/>
                  </a:cubicBezTo>
                  <a:cubicBezTo>
                    <a:pt x="7132320" y="71120"/>
                    <a:pt x="6633210" y="0"/>
                    <a:pt x="6139180" y="6350"/>
                  </a:cubicBezTo>
                  <a:cubicBezTo>
                    <a:pt x="4053840" y="36830"/>
                    <a:pt x="2157730" y="1490980"/>
                    <a:pt x="1289050" y="3346450"/>
                  </a:cubicBezTo>
                  <a:cubicBezTo>
                    <a:pt x="527050" y="4977130"/>
                    <a:pt x="0" y="7792720"/>
                    <a:pt x="680720" y="9457690"/>
                  </a:cubicBezTo>
                  <a:cubicBezTo>
                    <a:pt x="1360170" y="11122660"/>
                    <a:pt x="2499360" y="12005310"/>
                    <a:pt x="4248150" y="12081510"/>
                  </a:cubicBezTo>
                  <a:cubicBezTo>
                    <a:pt x="7001510" y="12400280"/>
                    <a:pt x="9088120" y="10502900"/>
                    <a:pt x="10118090" y="8309610"/>
                  </a:cubicBezTo>
                  <a:cubicBezTo>
                    <a:pt x="11148061" y="6116320"/>
                    <a:pt x="10782300" y="3361690"/>
                    <a:pt x="9215120" y="1497330"/>
                  </a:cubicBezTo>
                  <a:close/>
                </a:path>
              </a:pathLst>
            </a:custGeom>
            <a:blipFill>
              <a:blip r:embed="rId12"/>
              <a:stretch>
                <a:fillRect l="-28143" r="-2814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1038991">
            <a:off x="14706933" y="6381541"/>
            <a:ext cx="5621674" cy="6564587"/>
          </a:xfrm>
          <a:custGeom>
            <a:avLst/>
            <a:gdLst/>
            <a:ahLst/>
            <a:cxnLst/>
            <a:rect l="l" t="t" r="r" b="b"/>
            <a:pathLst>
              <a:path w="5621674" h="6564587">
                <a:moveTo>
                  <a:pt x="0" y="0"/>
                </a:moveTo>
                <a:lnTo>
                  <a:pt x="5621674" y="0"/>
                </a:lnTo>
                <a:lnTo>
                  <a:pt x="5621674" y="6564587"/>
                </a:lnTo>
                <a:lnTo>
                  <a:pt x="0" y="65645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899698">
            <a:off x="16322381" y="4775412"/>
            <a:ext cx="3008329" cy="4035563"/>
          </a:xfrm>
          <a:custGeom>
            <a:avLst/>
            <a:gdLst/>
            <a:ahLst/>
            <a:cxnLst/>
            <a:rect l="l" t="t" r="r" b="b"/>
            <a:pathLst>
              <a:path w="3008329" h="4035563">
                <a:moveTo>
                  <a:pt x="0" y="0"/>
                </a:moveTo>
                <a:lnTo>
                  <a:pt x="3008329" y="0"/>
                </a:lnTo>
                <a:lnTo>
                  <a:pt x="3008329" y="4035564"/>
                </a:lnTo>
                <a:lnTo>
                  <a:pt x="0" y="403556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1437647"/>
            <a:ext cx="2130602" cy="2293212"/>
          </a:xfrm>
          <a:custGeom>
            <a:avLst/>
            <a:gdLst/>
            <a:ahLst/>
            <a:cxnLst/>
            <a:rect l="l" t="t" r="r" b="b"/>
            <a:pathLst>
              <a:path w="2130602" h="2293212">
                <a:moveTo>
                  <a:pt x="0" y="0"/>
                </a:moveTo>
                <a:lnTo>
                  <a:pt x="2130602" y="0"/>
                </a:lnTo>
                <a:lnTo>
                  <a:pt x="2130602" y="2293212"/>
                </a:lnTo>
                <a:lnTo>
                  <a:pt x="0" y="229321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144000" y="3184203"/>
            <a:ext cx="6175269" cy="54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493"/>
              </a:lnSpc>
            </a:pPr>
            <a:r>
              <a:rPr lang="en-US" sz="3456">
                <a:solidFill>
                  <a:srgbClr val="000000"/>
                </a:solidFill>
                <a:latin typeface="Canva Sans Bold"/>
              </a:rPr>
              <a:t>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973137"/>
            <a:ext cx="6489911" cy="2239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39"/>
              </a:lnSpc>
            </a:pPr>
            <a:r>
              <a:rPr lang="en-US" sz="7671">
                <a:solidFill>
                  <a:srgbClr val="D49314"/>
                </a:solidFill>
                <a:latin typeface="Childos Arabic Bold"/>
              </a:rPr>
              <a:t>CATALYSIS WITH ZEOLITES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3953697"/>
            <a:ext cx="6175269" cy="542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69"/>
              </a:lnSpc>
            </a:pPr>
            <a:r>
              <a:rPr lang="en-US" sz="2246">
                <a:solidFill>
                  <a:srgbClr val="000000"/>
                </a:solidFill>
                <a:latin typeface="Canva Sans Bold"/>
              </a:rPr>
              <a:t>Shape Selectivity:</a:t>
            </a:r>
          </a:p>
          <a:p>
            <a:pPr marL="0" lvl="0" indent="0">
              <a:lnSpc>
                <a:spcPts val="3369"/>
              </a:lnSpc>
            </a:pPr>
            <a:endParaRPr lang="en-US" sz="2246">
              <a:solidFill>
                <a:srgbClr val="000000"/>
              </a:solidFill>
              <a:latin typeface="Canva Sans Bold"/>
            </a:endParaRPr>
          </a:p>
          <a:p>
            <a:pPr marL="484954" lvl="1" indent="-242477">
              <a:lnSpc>
                <a:spcPts val="3369"/>
              </a:lnSpc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Canva Sans"/>
              </a:rPr>
              <a:t>Zeolites have channels of specific sizes, allowing only certain molecules to react.</a:t>
            </a:r>
          </a:p>
          <a:p>
            <a:pPr marL="484954" lvl="1" indent="-242477">
              <a:lnSpc>
                <a:spcPts val="3369"/>
              </a:lnSpc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Canva Sans"/>
              </a:rPr>
              <a:t>Enables precise control over product distribution in catalytic reactions.</a:t>
            </a:r>
          </a:p>
          <a:p>
            <a:pPr marL="0" lvl="0" indent="0">
              <a:lnSpc>
                <a:spcPts val="3369"/>
              </a:lnSpc>
            </a:pPr>
            <a:endParaRPr lang="en-US" sz="2246">
              <a:solidFill>
                <a:srgbClr val="000000"/>
              </a:solidFill>
              <a:latin typeface="Canva Sans"/>
            </a:endParaRPr>
          </a:p>
          <a:p>
            <a:pPr marL="0" lvl="0" indent="0">
              <a:lnSpc>
                <a:spcPts val="3369"/>
              </a:lnSpc>
            </a:pPr>
            <a:r>
              <a:rPr lang="en-US" sz="2246">
                <a:solidFill>
                  <a:srgbClr val="000000"/>
                </a:solidFill>
                <a:latin typeface="Canva Sans Bold"/>
              </a:rPr>
              <a:t>Acidic Sites for Reactions:</a:t>
            </a:r>
          </a:p>
          <a:p>
            <a:pPr marL="0" lvl="0" indent="0">
              <a:lnSpc>
                <a:spcPts val="3369"/>
              </a:lnSpc>
            </a:pPr>
            <a:endParaRPr lang="en-US" sz="2246">
              <a:solidFill>
                <a:srgbClr val="000000"/>
              </a:solidFill>
              <a:latin typeface="Canva Sans Bold"/>
            </a:endParaRPr>
          </a:p>
          <a:p>
            <a:pPr marL="484954" lvl="1" indent="-242477">
              <a:lnSpc>
                <a:spcPts val="3369"/>
              </a:lnSpc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Canva Sans"/>
              </a:rPr>
              <a:t>Zeolites contain acid sites crucial for various chemical transformations.</a:t>
            </a:r>
          </a:p>
          <a:p>
            <a:pPr marL="484954" lvl="1" indent="-242477">
              <a:lnSpc>
                <a:spcPts val="3369"/>
              </a:lnSpc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Canva Sans"/>
              </a:rPr>
              <a:t>These sites catalyze reactions like cracking, isomerization, and alkylation.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476524">
            <a:off x="16123629" y="4321039"/>
            <a:ext cx="4328742" cy="1644922"/>
          </a:xfrm>
          <a:custGeom>
            <a:avLst/>
            <a:gdLst/>
            <a:ahLst/>
            <a:cxnLst/>
            <a:rect l="l" t="t" r="r" b="b"/>
            <a:pathLst>
              <a:path w="4328742" h="1644922">
                <a:moveTo>
                  <a:pt x="0" y="0"/>
                </a:moveTo>
                <a:lnTo>
                  <a:pt x="4328742" y="0"/>
                </a:lnTo>
                <a:lnTo>
                  <a:pt x="4328742" y="1644922"/>
                </a:lnTo>
                <a:lnTo>
                  <a:pt x="0" y="1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969483" y="2390794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58294" y="979252"/>
            <a:ext cx="17371413" cy="141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3"/>
              </a:lnSpc>
            </a:pPr>
            <a:r>
              <a:rPr lang="en-US" sz="7802">
                <a:solidFill>
                  <a:srgbClr val="D66A12"/>
                </a:solidFill>
                <a:latin typeface="Childos Arabic Bold"/>
              </a:rPr>
              <a:t>ADVANTAGES OF ZEOLITES IN CATALYSIS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8294" y="3507128"/>
            <a:ext cx="17829706" cy="554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20"/>
              </a:lnSpc>
            </a:pPr>
            <a:r>
              <a:rPr lang="en-US" sz="3514" u="sng">
                <a:solidFill>
                  <a:srgbClr val="000000"/>
                </a:solidFill>
                <a:latin typeface="Canva Sans Bold"/>
              </a:rPr>
              <a:t>High Surface Area:</a:t>
            </a:r>
          </a:p>
          <a:p>
            <a:pPr marL="758844" lvl="1" indent="-379422" algn="just">
              <a:lnSpc>
                <a:spcPts val="4920"/>
              </a:lnSpc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Canva Sans"/>
              </a:rPr>
              <a:t>Porous structure provides a large active surface area and thereby accelerate the reactions.</a:t>
            </a:r>
          </a:p>
          <a:p>
            <a:pPr algn="just">
              <a:lnSpc>
                <a:spcPts val="4920"/>
              </a:lnSpc>
            </a:pPr>
            <a:r>
              <a:rPr lang="en-US" sz="3514" u="sng">
                <a:solidFill>
                  <a:srgbClr val="000000"/>
                </a:solidFill>
                <a:latin typeface="Canva Sans Bold"/>
              </a:rPr>
              <a:t>Specific Pore Sizes</a:t>
            </a:r>
          </a:p>
          <a:p>
            <a:pPr marL="758844" lvl="1" indent="-379422" algn="just">
              <a:lnSpc>
                <a:spcPts val="4920"/>
              </a:lnSpc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Canva Sans"/>
              </a:rPr>
              <a:t>Different zeolite structures offer pores of specific sizes and shapes , selectively admitting molecules based on size.</a:t>
            </a:r>
          </a:p>
          <a:p>
            <a:pPr algn="just">
              <a:lnSpc>
                <a:spcPts val="4920"/>
              </a:lnSpc>
            </a:pPr>
            <a:r>
              <a:rPr lang="en-US" sz="3514" u="sng">
                <a:solidFill>
                  <a:srgbClr val="000000"/>
                </a:solidFill>
                <a:latin typeface="Canva Sans Bold"/>
              </a:rPr>
              <a:t>Thermal and Chemical Stability:</a:t>
            </a:r>
          </a:p>
          <a:p>
            <a:pPr marL="758844" lvl="1" indent="-379422" algn="just">
              <a:lnSpc>
                <a:spcPts val="4920"/>
              </a:lnSpc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Canva Sans"/>
              </a:rPr>
              <a:t>Zeolites are stable under high temperatures and harsh chemical conditions.</a:t>
            </a:r>
          </a:p>
          <a:p>
            <a:pPr algn="ctr">
              <a:lnSpc>
                <a:spcPts val="4920"/>
              </a:lnSpc>
            </a:pPr>
            <a:endParaRPr lang="en-US" sz="3514">
              <a:solidFill>
                <a:srgbClr val="000000"/>
              </a:solidFill>
              <a:latin typeface="Canva Sans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-147745" y="2863319"/>
            <a:ext cx="19041784" cy="6193333"/>
          </a:xfrm>
          <a:custGeom>
            <a:avLst/>
            <a:gdLst/>
            <a:ahLst/>
            <a:cxnLst/>
            <a:rect l="l" t="t" r="r" b="b"/>
            <a:pathLst>
              <a:path w="19041784" h="6193333">
                <a:moveTo>
                  <a:pt x="0" y="0"/>
                </a:moveTo>
                <a:lnTo>
                  <a:pt x="19041784" y="0"/>
                </a:lnTo>
                <a:lnTo>
                  <a:pt x="19041784" y="6193334"/>
                </a:lnTo>
                <a:lnTo>
                  <a:pt x="0" y="61933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4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3218" y="2831022"/>
            <a:ext cx="15965572" cy="6975303"/>
          </a:xfrm>
          <a:custGeom>
            <a:avLst/>
            <a:gdLst/>
            <a:ahLst/>
            <a:cxnLst/>
            <a:rect l="l" t="t" r="r" b="b"/>
            <a:pathLst>
              <a:path w="15965572" h="6975303">
                <a:moveTo>
                  <a:pt x="0" y="0"/>
                </a:moveTo>
                <a:lnTo>
                  <a:pt x="15965572" y="0"/>
                </a:lnTo>
                <a:lnTo>
                  <a:pt x="15965572" y="6975304"/>
                </a:lnTo>
                <a:lnTo>
                  <a:pt x="0" y="6975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476524">
            <a:off x="16123629" y="4321039"/>
            <a:ext cx="4328742" cy="1644922"/>
          </a:xfrm>
          <a:custGeom>
            <a:avLst/>
            <a:gdLst/>
            <a:ahLst/>
            <a:cxnLst/>
            <a:rect l="l" t="t" r="r" b="b"/>
            <a:pathLst>
              <a:path w="4328742" h="1644922">
                <a:moveTo>
                  <a:pt x="0" y="0"/>
                </a:moveTo>
                <a:lnTo>
                  <a:pt x="4328742" y="0"/>
                </a:lnTo>
                <a:lnTo>
                  <a:pt x="4328742" y="1644922"/>
                </a:lnTo>
                <a:lnTo>
                  <a:pt x="0" y="1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7634" y="129590"/>
            <a:ext cx="4172658" cy="4391722"/>
          </a:xfrm>
          <a:custGeom>
            <a:avLst/>
            <a:gdLst/>
            <a:ahLst/>
            <a:cxnLst/>
            <a:rect l="l" t="t" r="r" b="b"/>
            <a:pathLst>
              <a:path w="4172658" h="4391722">
                <a:moveTo>
                  <a:pt x="0" y="0"/>
                </a:moveTo>
                <a:lnTo>
                  <a:pt x="4172658" y="0"/>
                </a:lnTo>
                <a:lnTo>
                  <a:pt x="4172658" y="4391722"/>
                </a:lnTo>
                <a:lnTo>
                  <a:pt x="0" y="43917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01785" y="205216"/>
            <a:ext cx="6993664" cy="196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25"/>
              </a:lnSpc>
              <a:spcBef>
                <a:spcPct val="0"/>
              </a:spcBef>
            </a:pPr>
            <a:r>
              <a:rPr lang="en-US" sz="11446">
                <a:solidFill>
                  <a:srgbClr val="D66A12"/>
                </a:solidFill>
                <a:latin typeface="One Little Font"/>
              </a:rPr>
              <a:t>ISOBUTENE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743" y="2153884"/>
            <a:ext cx="5909105" cy="67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sz="3977">
                <a:solidFill>
                  <a:srgbClr val="000000"/>
                </a:solidFill>
                <a:latin typeface="Canva Sans"/>
              </a:rPr>
              <a:t>Chemical formula: C4H8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4454637"/>
            <a:ext cx="18014852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 Semi-Bold"/>
              </a:rPr>
              <a:t>Butyl Rubber Production:</a:t>
            </a:r>
          </a:p>
          <a:p>
            <a:pPr marL="1468119" lvl="2" indent="-489373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Primary component for manufacturing butyl rubber, used in tires and seals.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 Semi-Bold"/>
              </a:rPr>
              <a:t>Fuel Additives:</a:t>
            </a:r>
          </a:p>
          <a:p>
            <a:pPr marL="1468119" lvl="2" indent="-489373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Blended into gasoline to improve octane ratings and combustion efficiency.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 Semi-Bold"/>
              </a:rPr>
              <a:t>Polymer Manufacturing:</a:t>
            </a:r>
          </a:p>
          <a:p>
            <a:pPr marL="1468119" lvl="2" indent="-489373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Essential for creating polymers used in plastics, adhesives, and synthetic fibers.</a:t>
            </a:r>
          </a:p>
          <a:p>
            <a:pPr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75393" y="3634217"/>
            <a:ext cx="425678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Applications: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57125" y="437740"/>
            <a:ext cx="14229918" cy="17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7"/>
              </a:lnSpc>
              <a:spcBef>
                <a:spcPct val="0"/>
              </a:spcBef>
            </a:pPr>
            <a:r>
              <a:rPr lang="en-US" sz="4919">
                <a:solidFill>
                  <a:srgbClr val="D66A12"/>
                </a:solidFill>
                <a:latin typeface="One Little Font Semi-Bold"/>
              </a:rPr>
              <a:t>CATALYTIC PROCESSES WITH ZEOLITES FOR ISO-BUTENE PRODUCTION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476524">
            <a:off x="16123629" y="4321039"/>
            <a:ext cx="4328742" cy="1644922"/>
          </a:xfrm>
          <a:custGeom>
            <a:avLst/>
            <a:gdLst/>
            <a:ahLst/>
            <a:cxnLst/>
            <a:rect l="l" t="t" r="r" b="b"/>
            <a:pathLst>
              <a:path w="4328742" h="1644922">
                <a:moveTo>
                  <a:pt x="0" y="0"/>
                </a:moveTo>
                <a:lnTo>
                  <a:pt x="4328742" y="0"/>
                </a:lnTo>
                <a:lnTo>
                  <a:pt x="4328742" y="1644922"/>
                </a:lnTo>
                <a:lnTo>
                  <a:pt x="0" y="1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776334" y="5457795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22350" y="-645783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5" y="0"/>
                </a:lnTo>
                <a:lnTo>
                  <a:pt x="1853635" y="1853635"/>
                </a:lnTo>
                <a:lnTo>
                  <a:pt x="0" y="1853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5824" y="8113203"/>
            <a:ext cx="2108113" cy="689928"/>
          </a:xfrm>
          <a:custGeom>
            <a:avLst/>
            <a:gdLst/>
            <a:ahLst/>
            <a:cxnLst/>
            <a:rect l="l" t="t" r="r" b="b"/>
            <a:pathLst>
              <a:path w="2108113" h="689928">
                <a:moveTo>
                  <a:pt x="0" y="0"/>
                </a:moveTo>
                <a:lnTo>
                  <a:pt x="2108114" y="0"/>
                </a:lnTo>
                <a:lnTo>
                  <a:pt x="2108114" y="689928"/>
                </a:lnTo>
                <a:lnTo>
                  <a:pt x="0" y="6899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37148">
            <a:off x="2422451" y="4386370"/>
            <a:ext cx="1472861" cy="482027"/>
          </a:xfrm>
          <a:custGeom>
            <a:avLst/>
            <a:gdLst/>
            <a:ahLst/>
            <a:cxnLst/>
            <a:rect l="l" t="t" r="r" b="b"/>
            <a:pathLst>
              <a:path w="1472861" h="482027">
                <a:moveTo>
                  <a:pt x="0" y="0"/>
                </a:moveTo>
                <a:lnTo>
                  <a:pt x="1472861" y="0"/>
                </a:lnTo>
                <a:lnTo>
                  <a:pt x="1472861" y="482027"/>
                </a:lnTo>
                <a:lnTo>
                  <a:pt x="0" y="4820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2750895"/>
            <a:ext cx="8790431" cy="750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</a:pPr>
            <a:r>
              <a:rPr lang="en-US" sz="4406" u="sng">
                <a:solidFill>
                  <a:srgbClr val="D66A12"/>
                </a:solidFill>
                <a:latin typeface="Canva Sans Bold"/>
              </a:rPr>
              <a:t>1.Catalytic Cracking of Butanes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1252" y="3688778"/>
            <a:ext cx="17259300" cy="611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9785" lvl="1" indent="-394892">
              <a:lnSpc>
                <a:spcPts val="5413"/>
              </a:lnSpc>
              <a:buFont typeface="Arial"/>
              <a:buChar char="•"/>
            </a:pPr>
            <a:r>
              <a:rPr lang="en-US" sz="3658" spc="142">
                <a:solidFill>
                  <a:srgbClr val="000000"/>
                </a:solidFill>
                <a:latin typeface="Childos Arabic"/>
              </a:rPr>
              <a:t> Catalytic cracking of butanes is a primary method for iso-butene production.</a:t>
            </a:r>
          </a:p>
          <a:p>
            <a:pPr marL="789785" lvl="1" indent="-394892">
              <a:lnSpc>
                <a:spcPts val="5413"/>
              </a:lnSpc>
              <a:buFont typeface="Arial"/>
              <a:buChar char="•"/>
            </a:pPr>
            <a:r>
              <a:rPr lang="en-US" sz="3658" spc="142">
                <a:solidFill>
                  <a:srgbClr val="000000"/>
                </a:solidFill>
                <a:latin typeface="Childos Arabic"/>
              </a:rPr>
              <a:t>Zeolites act as catalysts by providing active sites within their porous structure.</a:t>
            </a:r>
          </a:p>
          <a:p>
            <a:pPr marL="789785" lvl="1" indent="-394892">
              <a:lnSpc>
                <a:spcPts val="5413"/>
              </a:lnSpc>
              <a:buFont typeface="Arial"/>
              <a:buChar char="•"/>
            </a:pPr>
            <a:r>
              <a:rPr lang="en-US" sz="3658" spc="142">
                <a:solidFill>
                  <a:srgbClr val="000000"/>
                </a:solidFill>
                <a:latin typeface="Childos Arabic"/>
              </a:rPr>
              <a:t>Long-chain hydrocarbons in butane feedstocks are broken down into smaller molecules, including iso-butene.</a:t>
            </a:r>
          </a:p>
          <a:p>
            <a:pPr marL="789785" lvl="1" indent="-394892">
              <a:lnSpc>
                <a:spcPts val="5413"/>
              </a:lnSpc>
              <a:buFont typeface="Arial"/>
              <a:buChar char="•"/>
            </a:pPr>
            <a:r>
              <a:rPr lang="en-US" sz="3658" spc="142">
                <a:solidFill>
                  <a:srgbClr val="000000"/>
                </a:solidFill>
                <a:latin typeface="Childos Arabic"/>
              </a:rPr>
              <a:t>Shape-selective properties of zeolites ensure specific molecular sizes can access catalytic sites, favoring iso-butene formation.</a:t>
            </a:r>
          </a:p>
          <a:p>
            <a:pPr marL="789785" lvl="1" indent="-394892">
              <a:lnSpc>
                <a:spcPts val="5413"/>
              </a:lnSpc>
              <a:buFont typeface="Arial"/>
              <a:buChar char="•"/>
            </a:pPr>
            <a:r>
              <a:rPr lang="en-US" sz="3658" spc="142">
                <a:solidFill>
                  <a:srgbClr val="000000"/>
                </a:solidFill>
                <a:latin typeface="Childos Arabic"/>
              </a:rPr>
              <a:t>Zeolite catalysts offer high activity and selectivity, minimizing undesired byproducts.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57125" y="396327"/>
            <a:ext cx="14369800" cy="170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8"/>
              </a:lnSpc>
              <a:spcBef>
                <a:spcPct val="0"/>
              </a:spcBef>
            </a:pPr>
            <a:r>
              <a:rPr lang="en-US" sz="4920">
                <a:solidFill>
                  <a:srgbClr val="D66A12"/>
                </a:solidFill>
                <a:latin typeface="One Little Font Semi-Bold"/>
              </a:rPr>
              <a:t>CATALYTIC PROCESSES WITH ZEOLITES FOR ISO-BUTENE PRODUCTION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476524">
            <a:off x="16123629" y="4321039"/>
            <a:ext cx="4328742" cy="1644922"/>
          </a:xfrm>
          <a:custGeom>
            <a:avLst/>
            <a:gdLst/>
            <a:ahLst/>
            <a:cxnLst/>
            <a:rect l="l" t="t" r="r" b="b"/>
            <a:pathLst>
              <a:path w="4328742" h="1644922">
                <a:moveTo>
                  <a:pt x="0" y="0"/>
                </a:moveTo>
                <a:lnTo>
                  <a:pt x="4328742" y="0"/>
                </a:lnTo>
                <a:lnTo>
                  <a:pt x="4328742" y="1644922"/>
                </a:lnTo>
                <a:lnTo>
                  <a:pt x="0" y="1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776334" y="5457795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22350" y="-645783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5" y="0"/>
                </a:lnTo>
                <a:lnTo>
                  <a:pt x="1853635" y="1853635"/>
                </a:lnTo>
                <a:lnTo>
                  <a:pt x="0" y="1853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5824" y="8113203"/>
            <a:ext cx="2108113" cy="689928"/>
          </a:xfrm>
          <a:custGeom>
            <a:avLst/>
            <a:gdLst/>
            <a:ahLst/>
            <a:cxnLst/>
            <a:rect l="l" t="t" r="r" b="b"/>
            <a:pathLst>
              <a:path w="2108113" h="689928">
                <a:moveTo>
                  <a:pt x="0" y="0"/>
                </a:moveTo>
                <a:lnTo>
                  <a:pt x="2108114" y="0"/>
                </a:lnTo>
                <a:lnTo>
                  <a:pt x="2108114" y="689928"/>
                </a:lnTo>
                <a:lnTo>
                  <a:pt x="0" y="6899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37148">
            <a:off x="2422451" y="4386370"/>
            <a:ext cx="1472861" cy="482027"/>
          </a:xfrm>
          <a:custGeom>
            <a:avLst/>
            <a:gdLst/>
            <a:ahLst/>
            <a:cxnLst/>
            <a:rect l="l" t="t" r="r" b="b"/>
            <a:pathLst>
              <a:path w="1472861" h="482027">
                <a:moveTo>
                  <a:pt x="0" y="0"/>
                </a:moveTo>
                <a:lnTo>
                  <a:pt x="1472861" y="0"/>
                </a:lnTo>
                <a:lnTo>
                  <a:pt x="1472861" y="482027"/>
                </a:lnTo>
                <a:lnTo>
                  <a:pt x="0" y="4820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2750895"/>
            <a:ext cx="12492650" cy="750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</a:pPr>
            <a:r>
              <a:rPr lang="en-US" sz="4406" u="sng">
                <a:solidFill>
                  <a:srgbClr val="D66A12"/>
                </a:solidFill>
                <a:latin typeface="Canva Sans Bold"/>
              </a:rPr>
              <a:t>2.Catalytic Dehydrogenation of Iso-Butane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6470" y="3789239"/>
            <a:ext cx="16429324" cy="6157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6073" lvl="1" indent="-358036">
              <a:lnSpc>
                <a:spcPts val="4908"/>
              </a:lnSpc>
              <a:buFont typeface="Arial"/>
              <a:buChar char="•"/>
            </a:pPr>
            <a:r>
              <a:rPr lang="en-US" sz="3316" spc="129">
                <a:solidFill>
                  <a:srgbClr val="000000"/>
                </a:solidFill>
                <a:latin typeface="Childos Arabic"/>
              </a:rPr>
              <a:t>Catalytic dehydrogenation of iso-butane is another common method for iso-butene production.</a:t>
            </a:r>
          </a:p>
          <a:p>
            <a:pPr marL="716073" lvl="1" indent="-358036">
              <a:lnSpc>
                <a:spcPts val="4908"/>
              </a:lnSpc>
              <a:buFont typeface="Arial"/>
              <a:buChar char="•"/>
            </a:pPr>
            <a:r>
              <a:rPr lang="en-US" sz="3316" spc="129">
                <a:solidFill>
                  <a:srgbClr val="000000"/>
                </a:solidFill>
                <a:latin typeface="Childos Arabic"/>
              </a:rPr>
              <a:t>Zeolite catalysts facilitate this reaction by providing active sites for dehydrogenation.</a:t>
            </a:r>
          </a:p>
          <a:p>
            <a:pPr marL="716073" lvl="1" indent="-358036">
              <a:lnSpc>
                <a:spcPts val="4908"/>
              </a:lnSpc>
              <a:buFont typeface="Arial"/>
              <a:buChar char="•"/>
            </a:pPr>
            <a:r>
              <a:rPr lang="en-US" sz="3316" spc="129">
                <a:solidFill>
                  <a:srgbClr val="000000"/>
                </a:solidFill>
                <a:latin typeface="Childos Arabic"/>
              </a:rPr>
              <a:t>Iso-butane molecules adsorb onto the surface of zeolite catalysts, where they undergo dehydrogenation reactions.</a:t>
            </a:r>
          </a:p>
          <a:p>
            <a:pPr marL="716073" lvl="1" indent="-358036">
              <a:lnSpc>
                <a:spcPts val="4908"/>
              </a:lnSpc>
              <a:buFont typeface="Arial"/>
              <a:buChar char="•"/>
            </a:pPr>
            <a:r>
              <a:rPr lang="en-US" sz="3316" spc="129">
                <a:solidFill>
                  <a:srgbClr val="000000"/>
                </a:solidFill>
                <a:latin typeface="Childos Arabic"/>
              </a:rPr>
              <a:t>The acidic nature of zeolites enhances activation of iso-butane molecules, promoting hydrogen removal.</a:t>
            </a:r>
          </a:p>
          <a:p>
            <a:pPr marL="716073" lvl="1" indent="-358036">
              <a:lnSpc>
                <a:spcPts val="4908"/>
              </a:lnSpc>
              <a:buFont typeface="Arial"/>
              <a:buChar char="•"/>
            </a:pPr>
            <a:r>
              <a:rPr lang="en-US" sz="3316" spc="129">
                <a:solidFill>
                  <a:srgbClr val="000000"/>
                </a:solidFill>
                <a:latin typeface="Childos Arabic"/>
              </a:rPr>
              <a:t>Zeolite catalysts offer high stability under reaction conditions, ensuring continuous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2332" y="573471"/>
            <a:ext cx="13989827" cy="170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8"/>
              </a:lnSpc>
              <a:spcBef>
                <a:spcPct val="0"/>
              </a:spcBef>
            </a:pPr>
            <a:r>
              <a:rPr lang="en-US" sz="4920">
                <a:solidFill>
                  <a:srgbClr val="D66A12"/>
                </a:solidFill>
                <a:latin typeface="One Little Font Semi-Bold"/>
              </a:rPr>
              <a:t>CATALYTIC PROCESSES WITH ZEOLITES FOR ISO-BUTENE PRODUCTION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476524">
            <a:off x="16123629" y="4321039"/>
            <a:ext cx="4328742" cy="1644922"/>
          </a:xfrm>
          <a:custGeom>
            <a:avLst/>
            <a:gdLst/>
            <a:ahLst/>
            <a:cxnLst/>
            <a:rect l="l" t="t" r="r" b="b"/>
            <a:pathLst>
              <a:path w="4328742" h="1644922">
                <a:moveTo>
                  <a:pt x="0" y="0"/>
                </a:moveTo>
                <a:lnTo>
                  <a:pt x="4328742" y="0"/>
                </a:lnTo>
                <a:lnTo>
                  <a:pt x="4328742" y="1644922"/>
                </a:lnTo>
                <a:lnTo>
                  <a:pt x="0" y="1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776334" y="5457795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22350" y="-645783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5" y="0"/>
                </a:lnTo>
                <a:lnTo>
                  <a:pt x="1853635" y="1853635"/>
                </a:lnTo>
                <a:lnTo>
                  <a:pt x="0" y="1853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5824" y="8113203"/>
            <a:ext cx="2108113" cy="689928"/>
          </a:xfrm>
          <a:custGeom>
            <a:avLst/>
            <a:gdLst/>
            <a:ahLst/>
            <a:cxnLst/>
            <a:rect l="l" t="t" r="r" b="b"/>
            <a:pathLst>
              <a:path w="2108113" h="689928">
                <a:moveTo>
                  <a:pt x="0" y="0"/>
                </a:moveTo>
                <a:lnTo>
                  <a:pt x="2108114" y="0"/>
                </a:lnTo>
                <a:lnTo>
                  <a:pt x="2108114" y="689928"/>
                </a:lnTo>
                <a:lnTo>
                  <a:pt x="0" y="6899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37148">
            <a:off x="2422451" y="4386370"/>
            <a:ext cx="1472861" cy="482027"/>
          </a:xfrm>
          <a:custGeom>
            <a:avLst/>
            <a:gdLst/>
            <a:ahLst/>
            <a:cxnLst/>
            <a:rect l="l" t="t" r="r" b="b"/>
            <a:pathLst>
              <a:path w="1472861" h="482027">
                <a:moveTo>
                  <a:pt x="0" y="0"/>
                </a:moveTo>
                <a:lnTo>
                  <a:pt x="1472861" y="0"/>
                </a:lnTo>
                <a:lnTo>
                  <a:pt x="1472861" y="482027"/>
                </a:lnTo>
                <a:lnTo>
                  <a:pt x="0" y="4820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21849" y="3046170"/>
            <a:ext cx="12492650" cy="750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</a:pPr>
            <a:r>
              <a:rPr lang="en-US" sz="4406" u="sng">
                <a:solidFill>
                  <a:srgbClr val="D66A12"/>
                </a:solidFill>
                <a:latin typeface="Canva Sans Bold"/>
              </a:rPr>
              <a:t>3.Catalytic Dehydration of Tertiary Butanol: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7305" y="4125263"/>
            <a:ext cx="16241486" cy="513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5290" lvl="1" indent="-372645">
              <a:lnSpc>
                <a:spcPts val="5108"/>
              </a:lnSpc>
              <a:buFont typeface="Arial"/>
              <a:buChar char="•"/>
            </a:pPr>
            <a:r>
              <a:rPr lang="en-US" sz="3452" spc="134">
                <a:solidFill>
                  <a:srgbClr val="000000"/>
                </a:solidFill>
                <a:latin typeface="Childos Arabic"/>
              </a:rPr>
              <a:t>Zeolite catalysts facilitate the removal of water molecules from tertiary butanol.</a:t>
            </a:r>
          </a:p>
          <a:p>
            <a:pPr marL="745290" lvl="1" indent="-372645">
              <a:lnSpc>
                <a:spcPts val="5108"/>
              </a:lnSpc>
              <a:buFont typeface="Arial"/>
              <a:buChar char="•"/>
            </a:pPr>
            <a:r>
              <a:rPr lang="en-US" sz="3452" spc="134">
                <a:solidFill>
                  <a:srgbClr val="000000"/>
                </a:solidFill>
                <a:latin typeface="Childos Arabic"/>
              </a:rPr>
              <a:t>Tertiary butanol molecules adsorb onto the surface of zeolite catalysts, where dehydration reactions occur.</a:t>
            </a:r>
          </a:p>
          <a:p>
            <a:pPr marL="745290" lvl="1" indent="-372645">
              <a:lnSpc>
                <a:spcPts val="5108"/>
              </a:lnSpc>
              <a:buFont typeface="Arial"/>
              <a:buChar char="•"/>
            </a:pPr>
            <a:r>
              <a:rPr lang="en-US" sz="3452" spc="134">
                <a:solidFill>
                  <a:srgbClr val="000000"/>
                </a:solidFill>
                <a:latin typeface="Childos Arabic"/>
              </a:rPr>
              <a:t>The porous structure of zeolites provides an ideal environment for efficient conversion of tertiary butanol into iso-butene.</a:t>
            </a:r>
          </a:p>
          <a:p>
            <a:pPr marL="745290" lvl="1" indent="-372645">
              <a:lnSpc>
                <a:spcPts val="5108"/>
              </a:lnSpc>
              <a:buFont typeface="Arial"/>
              <a:buChar char="•"/>
            </a:pPr>
            <a:r>
              <a:rPr lang="en-US" sz="3452" spc="134">
                <a:solidFill>
                  <a:srgbClr val="000000"/>
                </a:solidFill>
                <a:latin typeface="Childos Arabic"/>
              </a:rPr>
              <a:t>Zeolite catalysts offer advantages such as high activity and selectivity, making them preferred for this process.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Fun Playful Simple Shape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Fun Playful Simple Shape"/>
          <p:cNvSpPr/>
          <p:nvPr/>
        </p:nvSpPr>
        <p:spPr>
          <a:xfrm rot="5400000">
            <a:off x="-776334" y="5457795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Fun Playful Simple Scrapbook Shape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Fun Playful Simple Scrapbook Squiggle"/>
          <p:cNvSpPr/>
          <p:nvPr/>
        </p:nvSpPr>
        <p:spPr>
          <a:xfrm>
            <a:off x="16243206" y="129590"/>
            <a:ext cx="3294690" cy="1078262"/>
          </a:xfrm>
          <a:custGeom>
            <a:avLst/>
            <a:gdLst/>
            <a:ahLst/>
            <a:cxnLst/>
            <a:rect l="l" t="t" r="r" b="b"/>
            <a:pathLst>
              <a:path w="3294690" h="1078262">
                <a:moveTo>
                  <a:pt x="0" y="0"/>
                </a:moveTo>
                <a:lnTo>
                  <a:pt x="3294691" y="0"/>
                </a:lnTo>
                <a:lnTo>
                  <a:pt x="3294691" y="1078262"/>
                </a:lnTo>
                <a:lnTo>
                  <a:pt x="0" y="107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Organic Abstract Shape Illustration"/>
          <p:cNvSpPr/>
          <p:nvPr/>
        </p:nvSpPr>
        <p:spPr>
          <a:xfrm>
            <a:off x="-622350" y="7194793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19"/>
                </a:lnTo>
                <a:lnTo>
                  <a:pt x="0" y="3723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Organic Abstract Shape Illustration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425679" y="0"/>
            <a:ext cx="8862321" cy="10287000"/>
          </a:xfrm>
          <a:prstGeom prst="rect">
            <a:avLst/>
          </a:prstGeom>
          <a:solidFill>
            <a:srgbClr val="A7D9BA"/>
          </a:solidFill>
        </p:spPr>
      </p:sp>
      <p:grpSp>
        <p:nvGrpSpPr>
          <p:cNvPr id="9" name="Group 9"/>
          <p:cNvGrpSpPr/>
          <p:nvPr/>
        </p:nvGrpSpPr>
        <p:grpSpPr>
          <a:xfrm>
            <a:off x="9927476" y="668721"/>
            <a:ext cx="7963075" cy="8526739"/>
            <a:chOff x="0" y="0"/>
            <a:chExt cx="10617434" cy="11368985"/>
          </a:xfrm>
        </p:grpSpPr>
        <p:sp>
          <p:nvSpPr>
            <p:cNvPr id="10" name="AutoShape 10"/>
            <p:cNvSpPr/>
            <p:nvPr/>
          </p:nvSpPr>
          <p:spPr>
            <a:xfrm>
              <a:off x="0" y="0"/>
              <a:ext cx="1923143" cy="268191"/>
            </a:xfrm>
            <a:prstGeom prst="rect">
              <a:avLst/>
            </a:prstGeom>
            <a:solidFill>
              <a:srgbClr val="FFF9D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4238"/>
              <a:ext cx="10617434" cy="104147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458"/>
                </a:lnSpc>
              </a:pPr>
              <a:r>
                <a:rPr lang="en-US" sz="2305" u="none">
                  <a:solidFill>
                    <a:srgbClr val="000000"/>
                  </a:solidFill>
                  <a:latin typeface="Canva Sans Bold"/>
                </a:rPr>
                <a:t>High Activity:</a:t>
              </a:r>
            </a:p>
            <a:p>
              <a:pPr marL="497812" lvl="1" indent="-248906">
                <a:lnSpc>
                  <a:spcPts val="3458"/>
                </a:lnSpc>
                <a:buAutoNum type="arabicPeriod"/>
              </a:pPr>
              <a:r>
                <a:rPr lang="en-US" sz="2305" u="none">
                  <a:solidFill>
                    <a:srgbClr val="000000"/>
                  </a:solidFill>
                  <a:latin typeface="Canva Sans"/>
                </a:rPr>
                <a:t>Zeolite catalysts exhibit high catalytic activity, accelerating conversion at low temperatures and pressures.</a:t>
              </a:r>
            </a:p>
            <a:p>
              <a:pPr marL="497812" lvl="1" indent="-248906">
                <a:lnSpc>
                  <a:spcPts val="3458"/>
                </a:lnSpc>
                <a:buAutoNum type="arabicPeriod"/>
              </a:pPr>
              <a:r>
                <a:rPr lang="en-US" sz="2305" u="none">
                  <a:solidFill>
                    <a:srgbClr val="000000"/>
                  </a:solidFill>
                  <a:latin typeface="Canva Sans"/>
                </a:rPr>
                <a:t>Porous structure provides ample active sites for efficient mass transfer and reaction kinetics.</a:t>
              </a:r>
            </a:p>
            <a:p>
              <a:pPr marL="0" lvl="0" indent="0">
                <a:lnSpc>
                  <a:spcPts val="3458"/>
                </a:lnSpc>
              </a:pPr>
              <a:r>
                <a:rPr lang="en-US" sz="2305" u="none">
                  <a:solidFill>
                    <a:srgbClr val="000000"/>
                  </a:solidFill>
                  <a:latin typeface="Canva Sans Bold"/>
                </a:rPr>
                <a:t>Selectivity:</a:t>
              </a:r>
            </a:p>
            <a:p>
              <a:pPr marL="497812" lvl="1" indent="-248906">
                <a:lnSpc>
                  <a:spcPts val="3458"/>
                </a:lnSpc>
                <a:buAutoNum type="arabicPeriod"/>
              </a:pPr>
              <a:r>
                <a:rPr lang="en-US" sz="2305" u="none">
                  <a:solidFill>
                    <a:srgbClr val="000000"/>
                  </a:solidFill>
                  <a:latin typeface="Canva Sans Bold"/>
                </a:rPr>
                <a:t> </a:t>
              </a:r>
              <a:r>
                <a:rPr lang="en-US" sz="2305" u="none">
                  <a:solidFill>
                    <a:srgbClr val="000000"/>
                  </a:solidFill>
                  <a:latin typeface="Canva Sans"/>
                </a:rPr>
                <a:t>Zeolites offer excellent selectivity towards iso-butene, minimizing undesired byproducts.</a:t>
              </a:r>
            </a:p>
            <a:p>
              <a:pPr marL="497812" lvl="1" indent="-248906">
                <a:lnSpc>
                  <a:spcPts val="3458"/>
                </a:lnSpc>
                <a:buAutoNum type="arabicPeriod"/>
              </a:pPr>
              <a:r>
                <a:rPr lang="en-US" sz="2305" u="none">
                  <a:solidFill>
                    <a:srgbClr val="000000"/>
                  </a:solidFill>
                  <a:latin typeface="Canva Sans"/>
                </a:rPr>
                <a:t>Shape-selective properties ensure only appropriate molecules access catalytic sites, favoring desired pathways.</a:t>
              </a:r>
            </a:p>
            <a:p>
              <a:pPr marL="0" lvl="0" indent="0">
                <a:lnSpc>
                  <a:spcPts val="3458"/>
                </a:lnSpc>
              </a:pPr>
              <a:r>
                <a:rPr lang="en-US" sz="2305" u="none">
                  <a:solidFill>
                    <a:srgbClr val="000000"/>
                  </a:solidFill>
                  <a:latin typeface="Canva Sans Bold"/>
                </a:rPr>
                <a:t>Stability:</a:t>
              </a:r>
            </a:p>
            <a:p>
              <a:pPr marL="497812" lvl="1" indent="-248906">
                <a:lnSpc>
                  <a:spcPts val="3458"/>
                </a:lnSpc>
                <a:buAutoNum type="arabicPeriod"/>
              </a:pPr>
              <a:r>
                <a:rPr lang="en-US" sz="2305" u="none">
                  <a:solidFill>
                    <a:srgbClr val="000000"/>
                  </a:solidFill>
                  <a:latin typeface="Canva Sans"/>
                </a:rPr>
                <a:t>Zeolite catalysts are thermally and chemically stable, maintaining performance under harsh conditions.</a:t>
              </a:r>
            </a:p>
            <a:p>
              <a:pPr marL="497812" lvl="1" indent="-248906">
                <a:lnSpc>
                  <a:spcPts val="3458"/>
                </a:lnSpc>
                <a:buAutoNum type="arabicPeriod"/>
              </a:pPr>
              <a:r>
                <a:rPr lang="en-US" sz="2305" u="none">
                  <a:solidFill>
                    <a:srgbClr val="000000"/>
                  </a:solidFill>
                  <a:latin typeface="Canva Sans"/>
                </a:rPr>
                <a:t>Stability ensures continuous performance and longevity in iso-butene production processes.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8289929"/>
            <a:ext cx="3378602" cy="968371"/>
            <a:chOff x="0" y="0"/>
            <a:chExt cx="4504802" cy="1291162"/>
          </a:xfrm>
        </p:grpSpPr>
        <p:sp>
          <p:nvSpPr>
            <p:cNvPr id="13" name="AutoShape 13"/>
            <p:cNvSpPr/>
            <p:nvPr/>
          </p:nvSpPr>
          <p:spPr>
            <a:xfrm rot="5400000">
              <a:off x="1610906" y="5447"/>
              <a:ext cx="1288438" cy="1282991"/>
            </a:xfrm>
            <a:prstGeom prst="rect">
              <a:avLst/>
            </a:prstGeom>
            <a:solidFill>
              <a:srgbClr val="D2A23D"/>
            </a:solidFill>
          </p:spPr>
        </p: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 rot="5400000">
              <a:off x="0" y="0"/>
              <a:ext cx="1288438" cy="1288438"/>
              <a:chOff x="0" y="0"/>
              <a:chExt cx="1708150" cy="17081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708150" cy="1708150"/>
              </a:xfrm>
              <a:custGeom>
                <a:avLst/>
                <a:gdLst/>
                <a:ahLst/>
                <a:cxnLst/>
                <a:rect l="l" t="t" r="r" b="b"/>
                <a:pathLst>
                  <a:path w="1708150" h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FFCB65"/>
              </a:solidFill>
            </p:spPr>
          </p:sp>
        </p:grpSp>
        <p:sp>
          <p:nvSpPr>
            <p:cNvPr id="16" name="Freeform 16"/>
            <p:cNvSpPr/>
            <p:nvPr/>
          </p:nvSpPr>
          <p:spPr>
            <a:xfrm>
              <a:off x="3221811" y="5447"/>
              <a:ext cx="1282991" cy="1282991"/>
            </a:xfrm>
            <a:custGeom>
              <a:avLst/>
              <a:gdLst/>
              <a:ahLst/>
              <a:cxnLst/>
              <a:rect l="l" t="t" r="r" b="b"/>
              <a:pathLst>
                <a:path w="1282991" h="1282991">
                  <a:moveTo>
                    <a:pt x="0" y="0"/>
                  </a:moveTo>
                  <a:lnTo>
                    <a:pt x="1282991" y="0"/>
                  </a:lnTo>
                  <a:lnTo>
                    <a:pt x="1282991" y="1282991"/>
                  </a:lnTo>
                  <a:lnTo>
                    <a:pt x="0" y="1282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5572542" y="5602033"/>
            <a:ext cx="2687896" cy="2687896"/>
          </a:xfrm>
          <a:custGeom>
            <a:avLst/>
            <a:gdLst/>
            <a:ahLst/>
            <a:cxnLst/>
            <a:rect l="l" t="t" r="r" b="b"/>
            <a:pathLst>
              <a:path w="2687896" h="2687896">
                <a:moveTo>
                  <a:pt x="0" y="0"/>
                </a:moveTo>
                <a:lnTo>
                  <a:pt x="2687896" y="0"/>
                </a:lnTo>
                <a:lnTo>
                  <a:pt x="2687896" y="2687896"/>
                </a:lnTo>
                <a:lnTo>
                  <a:pt x="0" y="26878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14610" y="885825"/>
            <a:ext cx="8641321" cy="477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360"/>
              </a:lnSpc>
            </a:pPr>
            <a:r>
              <a:rPr lang="en-US" sz="7200">
                <a:solidFill>
                  <a:srgbClr val="875F38"/>
                </a:solidFill>
                <a:latin typeface="Childos Arabic"/>
              </a:rPr>
              <a:t>ADVANTAGES OF ZEOLITE CATALYSTS IN ISO-BUTENE PRODUCTION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656652">
            <a:off x="14952962" y="6886852"/>
            <a:ext cx="2204077" cy="6482578"/>
          </a:xfrm>
          <a:custGeom>
            <a:avLst/>
            <a:gdLst/>
            <a:ahLst/>
            <a:cxnLst/>
            <a:rect l="l" t="t" r="r" b="b"/>
            <a:pathLst>
              <a:path w="2204077" h="6482578">
                <a:moveTo>
                  <a:pt x="0" y="0"/>
                </a:moveTo>
                <a:lnTo>
                  <a:pt x="2204077" y="0"/>
                </a:lnTo>
                <a:lnTo>
                  <a:pt x="2204077" y="6482579"/>
                </a:lnTo>
                <a:lnTo>
                  <a:pt x="0" y="6482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476524">
            <a:off x="16531359" y="4210092"/>
            <a:ext cx="3840318" cy="1459321"/>
          </a:xfrm>
          <a:custGeom>
            <a:avLst/>
            <a:gdLst/>
            <a:ahLst/>
            <a:cxnLst/>
            <a:rect l="l" t="t" r="r" b="b"/>
            <a:pathLst>
              <a:path w="3840318" h="1459321">
                <a:moveTo>
                  <a:pt x="0" y="0"/>
                </a:moveTo>
                <a:lnTo>
                  <a:pt x="3840318" y="0"/>
                </a:lnTo>
                <a:lnTo>
                  <a:pt x="3840318" y="1459321"/>
                </a:lnTo>
                <a:lnTo>
                  <a:pt x="0" y="1459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-622350" y="6101442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656652">
            <a:off x="1254194" y="6934742"/>
            <a:ext cx="2204077" cy="6482578"/>
          </a:xfrm>
          <a:custGeom>
            <a:avLst/>
            <a:gdLst/>
            <a:ahLst/>
            <a:cxnLst/>
            <a:rect l="l" t="t" r="r" b="b"/>
            <a:pathLst>
              <a:path w="2204077" h="6482578">
                <a:moveTo>
                  <a:pt x="0" y="0"/>
                </a:moveTo>
                <a:lnTo>
                  <a:pt x="2204077" y="0"/>
                </a:lnTo>
                <a:lnTo>
                  <a:pt x="2204077" y="6482578"/>
                </a:lnTo>
                <a:lnTo>
                  <a:pt x="0" y="6482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290481" y="0"/>
            <a:ext cx="7315200" cy="2394065"/>
          </a:xfrm>
          <a:custGeom>
            <a:avLst/>
            <a:gdLst/>
            <a:ahLst/>
            <a:cxnLst/>
            <a:rect l="l" t="t" r="r" b="b"/>
            <a:pathLst>
              <a:path w="7315200" h="2394065">
                <a:moveTo>
                  <a:pt x="0" y="0"/>
                </a:moveTo>
                <a:lnTo>
                  <a:pt x="7315200" y="0"/>
                </a:lnTo>
                <a:lnTo>
                  <a:pt x="7315200" y="2394065"/>
                </a:lnTo>
                <a:lnTo>
                  <a:pt x="0" y="23940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877148" y="610010"/>
            <a:ext cx="1790567" cy="1784056"/>
          </a:xfrm>
          <a:custGeom>
            <a:avLst/>
            <a:gdLst/>
            <a:ahLst/>
            <a:cxnLst/>
            <a:rect l="l" t="t" r="r" b="b"/>
            <a:pathLst>
              <a:path w="1790567" h="1784056">
                <a:moveTo>
                  <a:pt x="0" y="0"/>
                </a:moveTo>
                <a:lnTo>
                  <a:pt x="1790567" y="0"/>
                </a:lnTo>
                <a:lnTo>
                  <a:pt x="1790567" y="1784055"/>
                </a:lnTo>
                <a:lnTo>
                  <a:pt x="0" y="17840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6741" y="2492102"/>
            <a:ext cx="17235520" cy="756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1"/>
              </a:lnSpc>
            </a:pPr>
            <a:r>
              <a:rPr lang="en-US" sz="3886">
                <a:solidFill>
                  <a:srgbClr val="000000"/>
                </a:solidFill>
                <a:latin typeface="Childos Arabic"/>
              </a:rPr>
              <a:t>In conclusion, zeolites serve as invaluable catalysts in the production of iso-butene, offering significant advantages over traditional methods. By providing:</a:t>
            </a:r>
          </a:p>
          <a:p>
            <a:pPr marL="839112" lvl="1" indent="-419556">
              <a:lnSpc>
                <a:spcPts val="5441"/>
              </a:lnSpc>
              <a:buFont typeface="Arial"/>
              <a:buChar char="•"/>
            </a:pPr>
            <a:r>
              <a:rPr lang="en-US" sz="3886">
                <a:solidFill>
                  <a:srgbClr val="000000"/>
                </a:solidFill>
                <a:latin typeface="Childos Arabic Bold"/>
              </a:rPr>
              <a:t>Improved Selectivity</a:t>
            </a:r>
          </a:p>
          <a:p>
            <a:pPr marL="839112" lvl="1" indent="-419556">
              <a:lnSpc>
                <a:spcPts val="5441"/>
              </a:lnSpc>
              <a:buFont typeface="Arial"/>
              <a:buChar char="•"/>
            </a:pPr>
            <a:r>
              <a:rPr lang="en-US" sz="3886">
                <a:solidFill>
                  <a:srgbClr val="000000"/>
                </a:solidFill>
                <a:latin typeface="Childos Arabic Bold"/>
              </a:rPr>
              <a:t>Higher Activity</a:t>
            </a:r>
          </a:p>
          <a:p>
            <a:pPr marL="839112" lvl="1" indent="-419556">
              <a:lnSpc>
                <a:spcPts val="5441"/>
              </a:lnSpc>
              <a:buFont typeface="Arial"/>
              <a:buChar char="•"/>
            </a:pPr>
            <a:r>
              <a:rPr lang="en-US" sz="3886">
                <a:solidFill>
                  <a:srgbClr val="000000"/>
                </a:solidFill>
                <a:latin typeface="Childos Arabic Bold"/>
              </a:rPr>
              <a:t>Higher Yields</a:t>
            </a:r>
          </a:p>
          <a:p>
            <a:pPr marL="839112" lvl="1" indent="-419556">
              <a:lnSpc>
                <a:spcPts val="5441"/>
              </a:lnSpc>
              <a:buFont typeface="Arial"/>
              <a:buChar char="•"/>
            </a:pPr>
            <a:r>
              <a:rPr lang="en-US" sz="3886">
                <a:solidFill>
                  <a:srgbClr val="000000"/>
                </a:solidFill>
                <a:latin typeface="Childos Arabic Bold"/>
              </a:rPr>
              <a:t>More Stablity</a:t>
            </a:r>
          </a:p>
          <a:p>
            <a:pPr algn="ctr">
              <a:lnSpc>
                <a:spcPts val="5441"/>
              </a:lnSpc>
            </a:pPr>
            <a:r>
              <a:rPr lang="en-US" sz="3886">
                <a:solidFill>
                  <a:srgbClr val="000000"/>
                </a:solidFill>
                <a:latin typeface="Childos Arabic"/>
              </a:rPr>
              <a:t>The utilization of zeolites in the production of iso-butene not only enhances process efficiency but also contributes to greener and more sustainable industrial practices. This innovation exemplifies the potential of zeolites in revolutionizing petrochemical processes for a more efficient and environmentally conscious future.</a:t>
            </a:r>
          </a:p>
          <a:p>
            <a:pPr algn="ctr">
              <a:lnSpc>
                <a:spcPts val="5441"/>
              </a:lnSpc>
            </a:pPr>
            <a:endParaRPr lang="en-US" sz="3886">
              <a:solidFill>
                <a:srgbClr val="000000"/>
              </a:solidFill>
              <a:latin typeface="Childos Arabic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143911" y="4008288"/>
            <a:ext cx="3281768" cy="2662334"/>
          </a:xfrm>
          <a:custGeom>
            <a:avLst/>
            <a:gdLst/>
            <a:ahLst/>
            <a:cxnLst/>
            <a:rect l="l" t="t" r="r" b="b"/>
            <a:pathLst>
              <a:path w="3281768" h="2662334">
                <a:moveTo>
                  <a:pt x="0" y="0"/>
                </a:moveTo>
                <a:lnTo>
                  <a:pt x="3281768" y="0"/>
                </a:lnTo>
                <a:lnTo>
                  <a:pt x="3281768" y="2662334"/>
                </a:lnTo>
                <a:lnTo>
                  <a:pt x="0" y="26623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4029" r="-4029" b="-805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56233" y="1156576"/>
            <a:ext cx="10129878" cy="123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21"/>
              </a:lnSpc>
            </a:pPr>
            <a:r>
              <a:rPr lang="en-US" sz="9700">
                <a:solidFill>
                  <a:srgbClr val="D66A12"/>
                </a:solidFill>
                <a:latin typeface="One Little Font"/>
              </a:rPr>
              <a:t> 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9329" y="796083"/>
            <a:ext cx="12699858" cy="207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61"/>
              </a:lnSpc>
              <a:spcBef>
                <a:spcPct val="0"/>
              </a:spcBef>
            </a:pPr>
            <a:r>
              <a:rPr lang="en-US" sz="12186">
                <a:solidFill>
                  <a:srgbClr val="D66A12"/>
                </a:solidFill>
                <a:latin typeface="One Little Font"/>
              </a:rPr>
              <a:t>REFERENCES</a:t>
            </a:r>
          </a:p>
        </p:txBody>
      </p:sp>
      <p:sp>
        <p:nvSpPr>
          <p:cNvPr id="3" name="Freeform 3"/>
          <p:cNvSpPr/>
          <p:nvPr/>
        </p:nvSpPr>
        <p:spPr>
          <a:xfrm>
            <a:off x="3887491" y="2867796"/>
            <a:ext cx="11322961" cy="2983753"/>
          </a:xfrm>
          <a:custGeom>
            <a:avLst/>
            <a:gdLst/>
            <a:ahLst/>
            <a:cxnLst/>
            <a:rect l="l" t="t" r="r" b="b"/>
            <a:pathLst>
              <a:path w="11322961" h="2983753">
                <a:moveTo>
                  <a:pt x="0" y="0"/>
                </a:moveTo>
                <a:lnTo>
                  <a:pt x="11322961" y="0"/>
                </a:lnTo>
                <a:lnTo>
                  <a:pt x="11322961" y="2983753"/>
                </a:lnTo>
                <a:lnTo>
                  <a:pt x="0" y="2983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60336" y="4466388"/>
            <a:ext cx="10513018" cy="2770322"/>
          </a:xfrm>
          <a:custGeom>
            <a:avLst/>
            <a:gdLst/>
            <a:ahLst/>
            <a:cxnLst/>
            <a:rect l="l" t="t" r="r" b="b"/>
            <a:pathLst>
              <a:path w="10513018" h="2770322">
                <a:moveTo>
                  <a:pt x="0" y="0"/>
                </a:moveTo>
                <a:lnTo>
                  <a:pt x="10513017" y="0"/>
                </a:lnTo>
                <a:lnTo>
                  <a:pt x="10513017" y="2770322"/>
                </a:lnTo>
                <a:lnTo>
                  <a:pt x="0" y="277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80631" y="6036656"/>
            <a:ext cx="9457458" cy="2492168"/>
          </a:xfrm>
          <a:custGeom>
            <a:avLst/>
            <a:gdLst/>
            <a:ahLst/>
            <a:cxnLst/>
            <a:rect l="l" t="t" r="r" b="b"/>
            <a:pathLst>
              <a:path w="9457458" h="2492168">
                <a:moveTo>
                  <a:pt x="0" y="0"/>
                </a:moveTo>
                <a:lnTo>
                  <a:pt x="9457458" y="0"/>
                </a:lnTo>
                <a:lnTo>
                  <a:pt x="9457458" y="2492168"/>
                </a:lnTo>
                <a:lnTo>
                  <a:pt x="0" y="2492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656652">
            <a:off x="14952962" y="6886852"/>
            <a:ext cx="2204077" cy="6482578"/>
          </a:xfrm>
          <a:custGeom>
            <a:avLst/>
            <a:gdLst/>
            <a:ahLst/>
            <a:cxnLst/>
            <a:rect l="l" t="t" r="r" b="b"/>
            <a:pathLst>
              <a:path w="2204077" h="6482578">
                <a:moveTo>
                  <a:pt x="0" y="0"/>
                </a:moveTo>
                <a:lnTo>
                  <a:pt x="2204077" y="0"/>
                </a:lnTo>
                <a:lnTo>
                  <a:pt x="2204077" y="6482579"/>
                </a:lnTo>
                <a:lnTo>
                  <a:pt x="0" y="6482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6476524">
            <a:off x="16531359" y="4210092"/>
            <a:ext cx="3840318" cy="1459321"/>
          </a:xfrm>
          <a:custGeom>
            <a:avLst/>
            <a:gdLst/>
            <a:ahLst/>
            <a:cxnLst/>
            <a:rect l="l" t="t" r="r" b="b"/>
            <a:pathLst>
              <a:path w="3840318" h="1459321">
                <a:moveTo>
                  <a:pt x="0" y="0"/>
                </a:moveTo>
                <a:lnTo>
                  <a:pt x="3840318" y="0"/>
                </a:lnTo>
                <a:lnTo>
                  <a:pt x="3840318" y="1459321"/>
                </a:lnTo>
                <a:lnTo>
                  <a:pt x="0" y="1459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-999091" y="3145317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2" y="0"/>
                </a:lnTo>
                <a:lnTo>
                  <a:pt x="1998182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656652">
            <a:off x="1254194" y="6934742"/>
            <a:ext cx="2204077" cy="6482578"/>
          </a:xfrm>
          <a:custGeom>
            <a:avLst/>
            <a:gdLst/>
            <a:ahLst/>
            <a:cxnLst/>
            <a:rect l="l" t="t" r="r" b="b"/>
            <a:pathLst>
              <a:path w="2204077" h="6482578">
                <a:moveTo>
                  <a:pt x="0" y="0"/>
                </a:moveTo>
                <a:lnTo>
                  <a:pt x="2204077" y="0"/>
                </a:lnTo>
                <a:lnTo>
                  <a:pt x="2204077" y="6482578"/>
                </a:lnTo>
                <a:lnTo>
                  <a:pt x="0" y="6482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6556857" y="-426260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2" y="0"/>
                </a:lnTo>
                <a:lnTo>
                  <a:pt x="1998182" y="1998182"/>
                </a:lnTo>
                <a:lnTo>
                  <a:pt x="0" y="19981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009345" y="278407"/>
            <a:ext cx="3086361" cy="2609791"/>
          </a:xfrm>
          <a:custGeom>
            <a:avLst/>
            <a:gdLst/>
            <a:ahLst/>
            <a:cxnLst/>
            <a:rect l="l" t="t" r="r" b="b"/>
            <a:pathLst>
              <a:path w="3086361" h="2609791">
                <a:moveTo>
                  <a:pt x="0" y="0"/>
                </a:moveTo>
                <a:lnTo>
                  <a:pt x="3086362" y="0"/>
                </a:lnTo>
                <a:lnTo>
                  <a:pt x="3086362" y="2609791"/>
                </a:lnTo>
                <a:lnTo>
                  <a:pt x="0" y="26097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842012" y="7403665"/>
            <a:ext cx="4854300" cy="2724476"/>
          </a:xfrm>
          <a:custGeom>
            <a:avLst/>
            <a:gdLst/>
            <a:ahLst/>
            <a:cxnLst/>
            <a:rect l="l" t="t" r="r" b="b"/>
            <a:pathLst>
              <a:path w="4854300" h="2724476">
                <a:moveTo>
                  <a:pt x="0" y="0"/>
                </a:moveTo>
                <a:lnTo>
                  <a:pt x="4854300" y="0"/>
                </a:lnTo>
                <a:lnTo>
                  <a:pt x="4854300" y="2724476"/>
                </a:lnTo>
                <a:lnTo>
                  <a:pt x="0" y="27244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4426829" y="3522972"/>
            <a:ext cx="9311261" cy="3713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303" lvl="1" indent="-328152" algn="ctr">
              <a:lnSpc>
                <a:spcPts val="4255"/>
              </a:lnSpc>
              <a:buAutoNum type="arabicPeriod"/>
            </a:pPr>
            <a:r>
              <a:rPr lang="en-US" sz="3039">
                <a:solidFill>
                  <a:srgbClr val="FFF9D8"/>
                </a:solidFill>
                <a:latin typeface="Canva Sans"/>
              </a:rPr>
              <a:t>https://www.researchgate.net/figure/General-classification-of-zeolites_fig1_363591305</a:t>
            </a:r>
          </a:p>
          <a:p>
            <a:pPr marL="656303" lvl="1" indent="-328152" algn="ctr">
              <a:lnSpc>
                <a:spcPts val="4255"/>
              </a:lnSpc>
              <a:buAutoNum type="arabicPeriod"/>
            </a:pPr>
            <a:r>
              <a:rPr lang="en-US" sz="3039">
                <a:solidFill>
                  <a:srgbClr val="FFF9D8"/>
                </a:solidFill>
                <a:latin typeface="Canva Sans"/>
              </a:rPr>
              <a:t> https://comptes-rendus.academie-sciences.fr/chimie/articles/10.5802/crchim.149/#article-div</a:t>
            </a:r>
          </a:p>
          <a:p>
            <a:pPr marL="656303" lvl="1" indent="-328152" algn="ctr">
              <a:lnSpc>
                <a:spcPts val="4255"/>
              </a:lnSpc>
              <a:buAutoNum type="arabicPeriod"/>
            </a:pPr>
            <a:r>
              <a:rPr lang="en-US" sz="3039">
                <a:solidFill>
                  <a:srgbClr val="FFF9D8"/>
                </a:solidFill>
                <a:latin typeface="Canva Sans"/>
              </a:rPr>
              <a:t>https://www.slideshare.net/hzharraz/zeolite-and-its-uses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2012" y="-35398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7"/>
                </a:lnTo>
                <a:lnTo>
                  <a:pt x="0" y="169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6802" y="-353986"/>
            <a:ext cx="1853635" cy="1853635"/>
          </a:xfrm>
          <a:custGeom>
            <a:avLst/>
            <a:gdLst/>
            <a:ahLst/>
            <a:cxnLst/>
            <a:rect l="l" t="t" r="r" b="b"/>
            <a:pathLst>
              <a:path w="1853635" h="1853635">
                <a:moveTo>
                  <a:pt x="0" y="0"/>
                </a:moveTo>
                <a:lnTo>
                  <a:pt x="1853634" y="0"/>
                </a:lnTo>
                <a:lnTo>
                  <a:pt x="1853634" y="1853634"/>
                </a:lnTo>
                <a:lnTo>
                  <a:pt x="0" y="1853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476524">
            <a:off x="16531359" y="4210092"/>
            <a:ext cx="3840318" cy="1459321"/>
          </a:xfrm>
          <a:custGeom>
            <a:avLst/>
            <a:gdLst/>
            <a:ahLst/>
            <a:cxnLst/>
            <a:rect l="l" t="t" r="r" b="b"/>
            <a:pathLst>
              <a:path w="3840318" h="1459321">
                <a:moveTo>
                  <a:pt x="0" y="0"/>
                </a:moveTo>
                <a:lnTo>
                  <a:pt x="3840318" y="0"/>
                </a:lnTo>
                <a:lnTo>
                  <a:pt x="3840318" y="1459321"/>
                </a:lnTo>
                <a:lnTo>
                  <a:pt x="0" y="1459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622350" y="6101442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34028">
            <a:off x="6842012" y="9441436"/>
            <a:ext cx="5167333" cy="1691127"/>
          </a:xfrm>
          <a:custGeom>
            <a:avLst/>
            <a:gdLst/>
            <a:ahLst/>
            <a:cxnLst/>
            <a:rect l="l" t="t" r="r" b="b"/>
            <a:pathLst>
              <a:path w="5167333" h="1691127">
                <a:moveTo>
                  <a:pt x="0" y="0"/>
                </a:moveTo>
                <a:lnTo>
                  <a:pt x="5167333" y="0"/>
                </a:lnTo>
                <a:lnTo>
                  <a:pt x="5167333" y="1691128"/>
                </a:lnTo>
                <a:lnTo>
                  <a:pt x="0" y="169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6289817" y="-200553"/>
            <a:ext cx="1998183" cy="1998183"/>
          </a:xfrm>
          <a:custGeom>
            <a:avLst/>
            <a:gdLst/>
            <a:ahLst/>
            <a:cxnLst/>
            <a:rect l="l" t="t" r="r" b="b"/>
            <a:pathLst>
              <a:path w="1998183" h="1998183">
                <a:moveTo>
                  <a:pt x="0" y="0"/>
                </a:moveTo>
                <a:lnTo>
                  <a:pt x="1998183" y="0"/>
                </a:lnTo>
                <a:lnTo>
                  <a:pt x="1998183" y="1998183"/>
                </a:lnTo>
                <a:lnTo>
                  <a:pt x="0" y="19981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88351">
            <a:off x="13072252" y="7094215"/>
            <a:ext cx="1969106" cy="644435"/>
          </a:xfrm>
          <a:custGeom>
            <a:avLst/>
            <a:gdLst/>
            <a:ahLst/>
            <a:cxnLst/>
            <a:rect l="l" t="t" r="r" b="b"/>
            <a:pathLst>
              <a:path w="1969106" h="644435">
                <a:moveTo>
                  <a:pt x="0" y="0"/>
                </a:moveTo>
                <a:lnTo>
                  <a:pt x="1969106" y="0"/>
                </a:lnTo>
                <a:lnTo>
                  <a:pt x="1969106" y="644435"/>
                </a:lnTo>
                <a:lnTo>
                  <a:pt x="0" y="644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689632">
            <a:off x="2458919" y="2347467"/>
            <a:ext cx="2279241" cy="745933"/>
          </a:xfrm>
          <a:custGeom>
            <a:avLst/>
            <a:gdLst/>
            <a:ahLst/>
            <a:cxnLst/>
            <a:rect l="l" t="t" r="r" b="b"/>
            <a:pathLst>
              <a:path w="2279241" h="745933">
                <a:moveTo>
                  <a:pt x="0" y="0"/>
                </a:moveTo>
                <a:lnTo>
                  <a:pt x="2279241" y="0"/>
                </a:lnTo>
                <a:lnTo>
                  <a:pt x="2279241" y="745933"/>
                </a:lnTo>
                <a:lnTo>
                  <a:pt x="0" y="745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359316" y="7396440"/>
            <a:ext cx="4958949" cy="3723720"/>
          </a:xfrm>
          <a:custGeom>
            <a:avLst/>
            <a:gdLst/>
            <a:ahLst/>
            <a:cxnLst/>
            <a:rect l="l" t="t" r="r" b="b"/>
            <a:pathLst>
              <a:path w="4958949" h="3723720">
                <a:moveTo>
                  <a:pt x="0" y="0"/>
                </a:moveTo>
                <a:lnTo>
                  <a:pt x="4958949" y="0"/>
                </a:lnTo>
                <a:lnTo>
                  <a:pt x="4958949" y="3723720"/>
                </a:lnTo>
                <a:lnTo>
                  <a:pt x="0" y="3723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20997" y="3423090"/>
            <a:ext cx="12209363" cy="3440821"/>
          </a:xfrm>
          <a:custGeom>
            <a:avLst/>
            <a:gdLst/>
            <a:ahLst/>
            <a:cxnLst/>
            <a:rect l="l" t="t" r="r" b="b"/>
            <a:pathLst>
              <a:path w="12209363" h="3440821">
                <a:moveTo>
                  <a:pt x="0" y="0"/>
                </a:moveTo>
                <a:lnTo>
                  <a:pt x="12209363" y="0"/>
                </a:lnTo>
                <a:lnTo>
                  <a:pt x="12209363" y="3440820"/>
                </a:lnTo>
                <a:lnTo>
                  <a:pt x="0" y="34408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1022</Words>
  <Application>Microsoft Macintosh PowerPoint</Application>
  <PresentationFormat>Custom</PresentationFormat>
  <Paragraphs>117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Canva Sans Semi-Bold</vt:lpstr>
      <vt:lpstr>One Little Font Semi-Bold</vt:lpstr>
      <vt:lpstr>Arial</vt:lpstr>
      <vt:lpstr>Childos Arabic Semi-Bold</vt:lpstr>
      <vt:lpstr>Childos Arabic</vt:lpstr>
      <vt:lpstr>Childos Arabic Bold</vt:lpstr>
      <vt:lpstr>Canva Sans Bold</vt:lpstr>
      <vt:lpstr>Canva Sans</vt:lpstr>
      <vt:lpstr>One Little Font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HARISHANKAR YADAV</cp:lastModifiedBy>
  <cp:revision>3</cp:revision>
  <dcterms:created xsi:type="dcterms:W3CDTF">2006-08-16T00:00:00Z</dcterms:created>
  <dcterms:modified xsi:type="dcterms:W3CDTF">2025-10-01T17:44:27Z</dcterms:modified>
  <dc:identifier>DAGBDWdTvAE</dc:identifier>
</cp:coreProperties>
</file>