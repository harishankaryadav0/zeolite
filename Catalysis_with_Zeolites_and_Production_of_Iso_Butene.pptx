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sldSz cx="18288000" cy="10287000"/>
  <p:notesSz cx="6858000" cy="9144000"/>
  <p:embeddedFontLst>
    <p:embeddedFont>
      <p:font typeface="Calibri" panose="020F0502020204030204" pitchFamily="34" charset="0"/>
      <p:regular r:id="rId19"/>
      <p:bold r:id="rId20"/>
      <p:italic r:id="rId21"/>
      <p:boldItalic r:id="rId22"/>
    </p:embeddedFont>
    <p:embeddedFont>
      <p:font typeface="Canva Sans" panose="020B0503030501040103" pitchFamily="34" charset="0"/>
      <p:regular r:id="rId23"/>
    </p:embeddedFont>
    <p:embeddedFont>
      <p:font typeface="Canva Sans Bold" panose="020B0803030501040103" pitchFamily="34" charset="0"/>
      <p:regular r:id="rId24"/>
      <p:bold r:id="rId25"/>
    </p:embeddedFont>
    <p:embeddedFont>
      <p:font typeface="Childos Arabic" pitchFamily="2" charset="-78"/>
      <p:regular r:id="rId26"/>
    </p:embeddedFont>
    <p:embeddedFont>
      <p:font typeface="Childos Arabic Bold" pitchFamily="2" charset="-78"/>
      <p:regular r:id="rId27"/>
      <p:bold r:id="rId28"/>
    </p:embeddedFont>
    <p:embeddedFont>
      <p:font typeface="Childos Arabic Semi-Bold" pitchFamily="2" charset="-78"/>
      <p:regular r:id="rId29"/>
      <p:bold r:id="rId30"/>
    </p:embeddedFont>
    <p:embeddedFont>
      <p:font typeface="One Little Font" pitchFamily="2" charset="77"/>
      <p:regular r:id="rId31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40" autoAdjust="0"/>
    <p:restoredTop sz="94628" autoAdjust="0"/>
  </p:normalViewPr>
  <p:slideViewPr>
    <p:cSldViewPr>
      <p:cViewPr varScale="1">
        <p:scale>
          <a:sx n="68" d="100"/>
          <a:sy n="68" d="100"/>
        </p:scale>
        <p:origin x="264" y="584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font" Target="fonts/font8.fntdata"/><Relationship Id="rId3" Type="http://schemas.openxmlformats.org/officeDocument/2006/relationships/slide" Target="slides/slide2.xml"/><Relationship Id="rId21" Type="http://schemas.openxmlformats.org/officeDocument/2006/relationships/font" Target="fonts/font3.fntdata"/><Relationship Id="rId34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font" Target="fonts/font7.fntdata"/><Relationship Id="rId33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font" Target="fonts/font2.fntdata"/><Relationship Id="rId29" Type="http://schemas.openxmlformats.org/officeDocument/2006/relationships/font" Target="fonts/font11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6.fntdata"/><Relationship Id="rId32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5.fntdata"/><Relationship Id="rId28" Type="http://schemas.openxmlformats.org/officeDocument/2006/relationships/font" Target="fonts/font10.fntdata"/><Relationship Id="rId10" Type="http://schemas.openxmlformats.org/officeDocument/2006/relationships/slide" Target="slides/slide9.xml"/><Relationship Id="rId19" Type="http://schemas.openxmlformats.org/officeDocument/2006/relationships/font" Target="fonts/font1.fntdata"/><Relationship Id="rId31" Type="http://schemas.openxmlformats.org/officeDocument/2006/relationships/font" Target="fonts/font13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4.fntdata"/><Relationship Id="rId27" Type="http://schemas.openxmlformats.org/officeDocument/2006/relationships/font" Target="fonts/font9.fntdata"/><Relationship Id="rId30" Type="http://schemas.openxmlformats.org/officeDocument/2006/relationships/font" Target="fonts/font12.fntdata"/><Relationship Id="rId35" Type="http://schemas.openxmlformats.org/officeDocument/2006/relationships/tableStyles" Target="tableStyles.xml"/><Relationship Id="rId8" Type="http://schemas.openxmlformats.org/officeDocument/2006/relationships/slide" Target="slides/slide7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10/1/25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10/1/25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10/1/25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10/1/25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10/1/25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10/1/25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10/1/25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10/1/25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10/1/25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10/1/25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10/1/25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10/1/25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svg"/><Relationship Id="rId13" Type="http://schemas.openxmlformats.org/officeDocument/2006/relationships/image" Target="../media/image12.jpe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12" Type="http://schemas.openxmlformats.org/officeDocument/2006/relationships/image" Target="../media/image11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svg"/><Relationship Id="rId11" Type="http://schemas.openxmlformats.org/officeDocument/2006/relationships/image" Target="../media/image10.png"/><Relationship Id="rId5" Type="http://schemas.openxmlformats.org/officeDocument/2006/relationships/image" Target="../media/image4.png"/><Relationship Id="rId10" Type="http://schemas.openxmlformats.org/officeDocument/2006/relationships/image" Target="../media/image9.svg"/><Relationship Id="rId4" Type="http://schemas.openxmlformats.org/officeDocument/2006/relationships/image" Target="../media/image3.svg"/><Relationship Id="rId9" Type="http://schemas.openxmlformats.org/officeDocument/2006/relationships/image" Target="../media/image8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image" Target="../media/image14.svg"/><Relationship Id="rId7" Type="http://schemas.openxmlformats.org/officeDocument/2006/relationships/image" Target="../media/image7.sv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6.png"/><Relationship Id="rId11" Type="http://schemas.openxmlformats.org/officeDocument/2006/relationships/image" Target="../media/image16.jpeg"/><Relationship Id="rId5" Type="http://schemas.openxmlformats.org/officeDocument/2006/relationships/image" Target="../media/image5.svg"/><Relationship Id="rId10" Type="http://schemas.openxmlformats.org/officeDocument/2006/relationships/image" Target="../media/image15.png"/><Relationship Id="rId4" Type="http://schemas.openxmlformats.org/officeDocument/2006/relationships/image" Target="../media/image4.png"/><Relationship Id="rId9" Type="http://schemas.openxmlformats.org/officeDocument/2006/relationships/image" Target="../media/image9.sv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.png"/><Relationship Id="rId13" Type="http://schemas.openxmlformats.org/officeDocument/2006/relationships/image" Target="../media/image5.svg"/><Relationship Id="rId3" Type="http://schemas.openxmlformats.org/officeDocument/2006/relationships/image" Target="../media/image3.svg"/><Relationship Id="rId7" Type="http://schemas.openxmlformats.org/officeDocument/2006/relationships/image" Target="../media/image9.svg"/><Relationship Id="rId12" Type="http://schemas.openxmlformats.org/officeDocument/2006/relationships/image" Target="../media/image4.png"/><Relationship Id="rId17" Type="http://schemas.openxmlformats.org/officeDocument/2006/relationships/image" Target="../media/image24.jpeg"/><Relationship Id="rId2" Type="http://schemas.openxmlformats.org/officeDocument/2006/relationships/image" Target="../media/image2.png"/><Relationship Id="rId16" Type="http://schemas.openxmlformats.org/officeDocument/2006/relationships/image" Target="../media/image23.jpe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8.png"/><Relationship Id="rId11" Type="http://schemas.openxmlformats.org/officeDocument/2006/relationships/image" Target="../media/image20.svg"/><Relationship Id="rId5" Type="http://schemas.openxmlformats.org/officeDocument/2006/relationships/image" Target="../media/image7.svg"/><Relationship Id="rId15" Type="http://schemas.openxmlformats.org/officeDocument/2006/relationships/image" Target="../media/image22.svg"/><Relationship Id="rId10" Type="http://schemas.openxmlformats.org/officeDocument/2006/relationships/image" Target="../media/image19.png"/><Relationship Id="rId4" Type="http://schemas.openxmlformats.org/officeDocument/2006/relationships/image" Target="../media/image6.png"/><Relationship Id="rId9" Type="http://schemas.openxmlformats.org/officeDocument/2006/relationships/image" Target="../media/image18.svg"/><Relationship Id="rId14" Type="http://schemas.openxmlformats.org/officeDocument/2006/relationships/image" Target="../media/image21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.png"/><Relationship Id="rId3" Type="http://schemas.openxmlformats.org/officeDocument/2006/relationships/image" Target="../media/image14.svg"/><Relationship Id="rId7" Type="http://schemas.openxmlformats.org/officeDocument/2006/relationships/image" Target="../media/image7.svg"/><Relationship Id="rId12" Type="http://schemas.openxmlformats.org/officeDocument/2006/relationships/image" Target="../media/image27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6.png"/><Relationship Id="rId11" Type="http://schemas.openxmlformats.org/officeDocument/2006/relationships/image" Target="../media/image26.svg"/><Relationship Id="rId5" Type="http://schemas.openxmlformats.org/officeDocument/2006/relationships/image" Target="../media/image5.svg"/><Relationship Id="rId10" Type="http://schemas.openxmlformats.org/officeDocument/2006/relationships/image" Target="../media/image25.png"/><Relationship Id="rId4" Type="http://schemas.openxmlformats.org/officeDocument/2006/relationships/image" Target="../media/image4.png"/><Relationship Id="rId9" Type="http://schemas.openxmlformats.org/officeDocument/2006/relationships/image" Target="../media/image3.sv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25.png"/><Relationship Id="rId3" Type="http://schemas.openxmlformats.org/officeDocument/2006/relationships/image" Target="../media/image3.svg"/><Relationship Id="rId7" Type="http://schemas.openxmlformats.org/officeDocument/2006/relationships/image" Target="../media/image5.sv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.png"/><Relationship Id="rId11" Type="http://schemas.openxmlformats.org/officeDocument/2006/relationships/image" Target="../media/image29.svg"/><Relationship Id="rId5" Type="http://schemas.openxmlformats.org/officeDocument/2006/relationships/image" Target="../media/image9.svg"/><Relationship Id="rId10" Type="http://schemas.openxmlformats.org/officeDocument/2006/relationships/image" Target="../media/image28.png"/><Relationship Id="rId4" Type="http://schemas.openxmlformats.org/officeDocument/2006/relationships/image" Target="../media/image8.png"/><Relationship Id="rId9" Type="http://schemas.openxmlformats.org/officeDocument/2006/relationships/image" Target="../media/image26.sv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25.png"/><Relationship Id="rId3" Type="http://schemas.openxmlformats.org/officeDocument/2006/relationships/image" Target="../media/image3.svg"/><Relationship Id="rId7" Type="http://schemas.openxmlformats.org/officeDocument/2006/relationships/image" Target="../media/image5.svg"/><Relationship Id="rId12" Type="http://schemas.openxmlformats.org/officeDocument/2006/relationships/image" Target="../media/image30.jpe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.png"/><Relationship Id="rId11" Type="http://schemas.openxmlformats.org/officeDocument/2006/relationships/image" Target="../media/image29.svg"/><Relationship Id="rId5" Type="http://schemas.openxmlformats.org/officeDocument/2006/relationships/image" Target="../media/image9.svg"/><Relationship Id="rId10" Type="http://schemas.openxmlformats.org/officeDocument/2006/relationships/image" Target="../media/image28.png"/><Relationship Id="rId4" Type="http://schemas.openxmlformats.org/officeDocument/2006/relationships/image" Target="../media/image8.png"/><Relationship Id="rId9" Type="http://schemas.openxmlformats.org/officeDocument/2006/relationships/image" Target="../media/image26.sv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4.png"/><Relationship Id="rId13" Type="http://schemas.openxmlformats.org/officeDocument/2006/relationships/image" Target="../media/image29.svg"/><Relationship Id="rId3" Type="http://schemas.openxmlformats.org/officeDocument/2006/relationships/image" Target="../media/image3.svg"/><Relationship Id="rId7" Type="http://schemas.openxmlformats.org/officeDocument/2006/relationships/image" Target="../media/image9.svg"/><Relationship Id="rId12" Type="http://schemas.openxmlformats.org/officeDocument/2006/relationships/image" Target="../media/image28.png"/><Relationship Id="rId17" Type="http://schemas.openxmlformats.org/officeDocument/2006/relationships/image" Target="../media/image34.svg"/><Relationship Id="rId2" Type="http://schemas.openxmlformats.org/officeDocument/2006/relationships/image" Target="../media/image2.png"/><Relationship Id="rId16" Type="http://schemas.openxmlformats.org/officeDocument/2006/relationships/image" Target="../media/image33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8.png"/><Relationship Id="rId11" Type="http://schemas.openxmlformats.org/officeDocument/2006/relationships/image" Target="../media/image26.svg"/><Relationship Id="rId5" Type="http://schemas.openxmlformats.org/officeDocument/2006/relationships/image" Target="../media/image7.svg"/><Relationship Id="rId15" Type="http://schemas.openxmlformats.org/officeDocument/2006/relationships/image" Target="../media/image32.svg"/><Relationship Id="rId10" Type="http://schemas.openxmlformats.org/officeDocument/2006/relationships/image" Target="../media/image25.png"/><Relationship Id="rId4" Type="http://schemas.openxmlformats.org/officeDocument/2006/relationships/image" Target="../media/image6.png"/><Relationship Id="rId9" Type="http://schemas.openxmlformats.org/officeDocument/2006/relationships/image" Target="../media/image5.svg"/><Relationship Id="rId14" Type="http://schemas.openxmlformats.org/officeDocument/2006/relationships/image" Target="../media/image31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25.png"/><Relationship Id="rId13" Type="http://schemas.openxmlformats.org/officeDocument/2006/relationships/image" Target="../media/image36.png"/><Relationship Id="rId18" Type="http://schemas.openxmlformats.org/officeDocument/2006/relationships/image" Target="../media/image41.svg"/><Relationship Id="rId3" Type="http://schemas.openxmlformats.org/officeDocument/2006/relationships/image" Target="../media/image3.svg"/><Relationship Id="rId7" Type="http://schemas.openxmlformats.org/officeDocument/2006/relationships/image" Target="../media/image5.svg"/><Relationship Id="rId12" Type="http://schemas.openxmlformats.org/officeDocument/2006/relationships/image" Target="../media/image35.jpeg"/><Relationship Id="rId17" Type="http://schemas.openxmlformats.org/officeDocument/2006/relationships/image" Target="../media/image40.png"/><Relationship Id="rId2" Type="http://schemas.openxmlformats.org/officeDocument/2006/relationships/image" Target="../media/image2.png"/><Relationship Id="rId16" Type="http://schemas.openxmlformats.org/officeDocument/2006/relationships/image" Target="../media/image39.sv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.png"/><Relationship Id="rId11" Type="http://schemas.openxmlformats.org/officeDocument/2006/relationships/image" Target="../media/image29.svg"/><Relationship Id="rId5" Type="http://schemas.openxmlformats.org/officeDocument/2006/relationships/image" Target="../media/image9.svg"/><Relationship Id="rId15" Type="http://schemas.openxmlformats.org/officeDocument/2006/relationships/image" Target="../media/image38.png"/><Relationship Id="rId10" Type="http://schemas.openxmlformats.org/officeDocument/2006/relationships/image" Target="../media/image28.png"/><Relationship Id="rId4" Type="http://schemas.openxmlformats.org/officeDocument/2006/relationships/image" Target="../media/image8.png"/><Relationship Id="rId9" Type="http://schemas.openxmlformats.org/officeDocument/2006/relationships/image" Target="../media/image26.svg"/><Relationship Id="rId14" Type="http://schemas.openxmlformats.org/officeDocument/2006/relationships/image" Target="../media/image37.sv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4.png"/><Relationship Id="rId13" Type="http://schemas.openxmlformats.org/officeDocument/2006/relationships/image" Target="../media/image29.svg"/><Relationship Id="rId3" Type="http://schemas.openxmlformats.org/officeDocument/2006/relationships/image" Target="../media/image3.svg"/><Relationship Id="rId7" Type="http://schemas.openxmlformats.org/officeDocument/2006/relationships/image" Target="../media/image9.svg"/><Relationship Id="rId12" Type="http://schemas.openxmlformats.org/officeDocument/2006/relationships/image" Target="../media/image28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8.png"/><Relationship Id="rId11" Type="http://schemas.openxmlformats.org/officeDocument/2006/relationships/image" Target="../media/image26.svg"/><Relationship Id="rId5" Type="http://schemas.openxmlformats.org/officeDocument/2006/relationships/image" Target="../media/image7.svg"/><Relationship Id="rId15" Type="http://schemas.openxmlformats.org/officeDocument/2006/relationships/image" Target="../media/image43.svg"/><Relationship Id="rId10" Type="http://schemas.openxmlformats.org/officeDocument/2006/relationships/image" Target="../media/image25.png"/><Relationship Id="rId4" Type="http://schemas.openxmlformats.org/officeDocument/2006/relationships/image" Target="../media/image6.png"/><Relationship Id="rId9" Type="http://schemas.openxmlformats.org/officeDocument/2006/relationships/image" Target="../media/image5.svg"/><Relationship Id="rId14" Type="http://schemas.openxmlformats.org/officeDocument/2006/relationships/image" Target="../media/image42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25.png"/><Relationship Id="rId3" Type="http://schemas.openxmlformats.org/officeDocument/2006/relationships/image" Target="../media/image45.svg"/><Relationship Id="rId7" Type="http://schemas.openxmlformats.org/officeDocument/2006/relationships/image" Target="../media/image3.svg"/><Relationship Id="rId12" Type="http://schemas.openxmlformats.org/officeDocument/2006/relationships/image" Target="../media/image46.jpeg"/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.png"/><Relationship Id="rId11" Type="http://schemas.openxmlformats.org/officeDocument/2006/relationships/image" Target="../media/image29.svg"/><Relationship Id="rId5" Type="http://schemas.openxmlformats.org/officeDocument/2006/relationships/image" Target="../media/image7.svg"/><Relationship Id="rId10" Type="http://schemas.openxmlformats.org/officeDocument/2006/relationships/image" Target="../media/image28.png"/><Relationship Id="rId4" Type="http://schemas.openxmlformats.org/officeDocument/2006/relationships/image" Target="../media/image6.png"/><Relationship Id="rId9" Type="http://schemas.openxmlformats.org/officeDocument/2006/relationships/image" Target="../media/image26.sv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4.png"/><Relationship Id="rId13" Type="http://schemas.openxmlformats.org/officeDocument/2006/relationships/image" Target="../media/image29.svg"/><Relationship Id="rId3" Type="http://schemas.openxmlformats.org/officeDocument/2006/relationships/image" Target="../media/image3.svg"/><Relationship Id="rId7" Type="http://schemas.openxmlformats.org/officeDocument/2006/relationships/image" Target="../media/image9.svg"/><Relationship Id="rId12" Type="http://schemas.openxmlformats.org/officeDocument/2006/relationships/image" Target="../media/image28.png"/><Relationship Id="rId17" Type="http://schemas.openxmlformats.org/officeDocument/2006/relationships/image" Target="../media/image50.svg"/><Relationship Id="rId2" Type="http://schemas.openxmlformats.org/officeDocument/2006/relationships/image" Target="../media/image2.png"/><Relationship Id="rId16" Type="http://schemas.openxmlformats.org/officeDocument/2006/relationships/image" Target="../media/image49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8.png"/><Relationship Id="rId11" Type="http://schemas.openxmlformats.org/officeDocument/2006/relationships/image" Target="../media/image26.svg"/><Relationship Id="rId5" Type="http://schemas.openxmlformats.org/officeDocument/2006/relationships/image" Target="../media/image7.svg"/><Relationship Id="rId15" Type="http://schemas.openxmlformats.org/officeDocument/2006/relationships/image" Target="../media/image48.svg"/><Relationship Id="rId10" Type="http://schemas.openxmlformats.org/officeDocument/2006/relationships/image" Target="../media/image25.png"/><Relationship Id="rId4" Type="http://schemas.openxmlformats.org/officeDocument/2006/relationships/image" Target="../media/image6.png"/><Relationship Id="rId9" Type="http://schemas.openxmlformats.org/officeDocument/2006/relationships/image" Target="../media/image5.svg"/><Relationship Id="rId14" Type="http://schemas.openxmlformats.org/officeDocument/2006/relationships/image" Target="../media/image47.pn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4.png"/><Relationship Id="rId13" Type="http://schemas.openxmlformats.org/officeDocument/2006/relationships/image" Target="../media/image29.svg"/><Relationship Id="rId3" Type="http://schemas.openxmlformats.org/officeDocument/2006/relationships/image" Target="../media/image3.svg"/><Relationship Id="rId7" Type="http://schemas.openxmlformats.org/officeDocument/2006/relationships/image" Target="../media/image9.svg"/><Relationship Id="rId12" Type="http://schemas.openxmlformats.org/officeDocument/2006/relationships/image" Target="../media/image28.png"/><Relationship Id="rId17" Type="http://schemas.openxmlformats.org/officeDocument/2006/relationships/image" Target="../media/image50.svg"/><Relationship Id="rId2" Type="http://schemas.openxmlformats.org/officeDocument/2006/relationships/image" Target="../media/image2.png"/><Relationship Id="rId16" Type="http://schemas.openxmlformats.org/officeDocument/2006/relationships/image" Target="../media/image49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8.png"/><Relationship Id="rId11" Type="http://schemas.openxmlformats.org/officeDocument/2006/relationships/image" Target="../media/image26.svg"/><Relationship Id="rId5" Type="http://schemas.openxmlformats.org/officeDocument/2006/relationships/image" Target="../media/image7.svg"/><Relationship Id="rId15" Type="http://schemas.openxmlformats.org/officeDocument/2006/relationships/image" Target="../media/image48.svg"/><Relationship Id="rId10" Type="http://schemas.openxmlformats.org/officeDocument/2006/relationships/image" Target="../media/image25.png"/><Relationship Id="rId4" Type="http://schemas.openxmlformats.org/officeDocument/2006/relationships/image" Target="../media/image6.png"/><Relationship Id="rId9" Type="http://schemas.openxmlformats.org/officeDocument/2006/relationships/image" Target="../media/image5.svg"/><Relationship Id="rId14" Type="http://schemas.openxmlformats.org/officeDocument/2006/relationships/image" Target="../media/image47.png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4.png"/><Relationship Id="rId13" Type="http://schemas.openxmlformats.org/officeDocument/2006/relationships/image" Target="../media/image29.svg"/><Relationship Id="rId3" Type="http://schemas.openxmlformats.org/officeDocument/2006/relationships/image" Target="../media/image3.svg"/><Relationship Id="rId7" Type="http://schemas.openxmlformats.org/officeDocument/2006/relationships/image" Target="../media/image9.svg"/><Relationship Id="rId12" Type="http://schemas.openxmlformats.org/officeDocument/2006/relationships/image" Target="../media/image28.png"/><Relationship Id="rId17" Type="http://schemas.openxmlformats.org/officeDocument/2006/relationships/image" Target="../media/image50.svg"/><Relationship Id="rId2" Type="http://schemas.openxmlformats.org/officeDocument/2006/relationships/image" Target="../media/image2.png"/><Relationship Id="rId16" Type="http://schemas.openxmlformats.org/officeDocument/2006/relationships/image" Target="../media/image49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8.png"/><Relationship Id="rId11" Type="http://schemas.openxmlformats.org/officeDocument/2006/relationships/image" Target="../media/image26.svg"/><Relationship Id="rId5" Type="http://schemas.openxmlformats.org/officeDocument/2006/relationships/image" Target="../media/image7.svg"/><Relationship Id="rId15" Type="http://schemas.openxmlformats.org/officeDocument/2006/relationships/image" Target="../media/image48.svg"/><Relationship Id="rId10" Type="http://schemas.openxmlformats.org/officeDocument/2006/relationships/image" Target="../media/image25.png"/><Relationship Id="rId4" Type="http://schemas.openxmlformats.org/officeDocument/2006/relationships/image" Target="../media/image6.png"/><Relationship Id="rId9" Type="http://schemas.openxmlformats.org/officeDocument/2006/relationships/image" Target="../media/image5.svg"/><Relationship Id="rId14" Type="http://schemas.openxmlformats.org/officeDocument/2006/relationships/image" Target="../media/image47.png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5.png"/><Relationship Id="rId13" Type="http://schemas.openxmlformats.org/officeDocument/2006/relationships/image" Target="../media/image52.svg"/><Relationship Id="rId3" Type="http://schemas.openxmlformats.org/officeDocument/2006/relationships/image" Target="../media/image3.svg"/><Relationship Id="rId7" Type="http://schemas.openxmlformats.org/officeDocument/2006/relationships/image" Target="../media/image5.svg"/><Relationship Id="rId12" Type="http://schemas.openxmlformats.org/officeDocument/2006/relationships/image" Target="../media/image51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.png"/><Relationship Id="rId11" Type="http://schemas.openxmlformats.org/officeDocument/2006/relationships/image" Target="../media/image29.svg"/><Relationship Id="rId5" Type="http://schemas.openxmlformats.org/officeDocument/2006/relationships/image" Target="../media/image9.svg"/><Relationship Id="rId15" Type="http://schemas.openxmlformats.org/officeDocument/2006/relationships/image" Target="../media/image54.svg"/><Relationship Id="rId10" Type="http://schemas.openxmlformats.org/officeDocument/2006/relationships/image" Target="../media/image28.png"/><Relationship Id="rId4" Type="http://schemas.openxmlformats.org/officeDocument/2006/relationships/image" Target="../media/image8.png"/><Relationship Id="rId9" Type="http://schemas.openxmlformats.org/officeDocument/2006/relationships/image" Target="../media/image26.svg"/><Relationship Id="rId14" Type="http://schemas.openxmlformats.org/officeDocument/2006/relationships/image" Target="../media/image53.png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13" Type="http://schemas.openxmlformats.org/officeDocument/2006/relationships/image" Target="../media/image26.svg"/><Relationship Id="rId3" Type="http://schemas.openxmlformats.org/officeDocument/2006/relationships/image" Target="../media/image3.svg"/><Relationship Id="rId7" Type="http://schemas.openxmlformats.org/officeDocument/2006/relationships/image" Target="../media/image5.svg"/><Relationship Id="rId12" Type="http://schemas.openxmlformats.org/officeDocument/2006/relationships/image" Target="../media/image25.png"/><Relationship Id="rId2" Type="http://schemas.openxmlformats.org/officeDocument/2006/relationships/image" Target="../media/image2.png"/><Relationship Id="rId16" Type="http://schemas.openxmlformats.org/officeDocument/2006/relationships/image" Target="../media/image57.jpe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.png"/><Relationship Id="rId11" Type="http://schemas.openxmlformats.org/officeDocument/2006/relationships/image" Target="../media/image9.svg"/><Relationship Id="rId5" Type="http://schemas.openxmlformats.org/officeDocument/2006/relationships/image" Target="../media/image14.svg"/><Relationship Id="rId15" Type="http://schemas.openxmlformats.org/officeDocument/2006/relationships/image" Target="../media/image56.svg"/><Relationship Id="rId10" Type="http://schemas.openxmlformats.org/officeDocument/2006/relationships/image" Target="../media/image8.png"/><Relationship Id="rId4" Type="http://schemas.openxmlformats.org/officeDocument/2006/relationships/image" Target="../media/image13.png"/><Relationship Id="rId9" Type="http://schemas.openxmlformats.org/officeDocument/2006/relationships/image" Target="../media/image7.svg"/><Relationship Id="rId14" Type="http://schemas.openxmlformats.org/officeDocument/2006/relationships/image" Target="../media/image55.png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4.png"/><Relationship Id="rId13" Type="http://schemas.openxmlformats.org/officeDocument/2006/relationships/image" Target="../media/image9.svg"/><Relationship Id="rId3" Type="http://schemas.openxmlformats.org/officeDocument/2006/relationships/image" Target="../media/image59.svg"/><Relationship Id="rId7" Type="http://schemas.openxmlformats.org/officeDocument/2006/relationships/image" Target="../media/image14.svg"/><Relationship Id="rId12" Type="http://schemas.openxmlformats.org/officeDocument/2006/relationships/image" Target="../media/image8.png"/><Relationship Id="rId2" Type="http://schemas.openxmlformats.org/officeDocument/2006/relationships/image" Target="../media/image58.png"/><Relationship Id="rId16" Type="http://schemas.openxmlformats.org/officeDocument/2006/relationships/image" Target="../media/image62.jpe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3.png"/><Relationship Id="rId11" Type="http://schemas.openxmlformats.org/officeDocument/2006/relationships/image" Target="../media/image7.svg"/><Relationship Id="rId5" Type="http://schemas.openxmlformats.org/officeDocument/2006/relationships/image" Target="../media/image3.svg"/><Relationship Id="rId15" Type="http://schemas.openxmlformats.org/officeDocument/2006/relationships/image" Target="../media/image61.svg"/><Relationship Id="rId10" Type="http://schemas.openxmlformats.org/officeDocument/2006/relationships/image" Target="../media/image6.png"/><Relationship Id="rId4" Type="http://schemas.openxmlformats.org/officeDocument/2006/relationships/image" Target="../media/image2.png"/><Relationship Id="rId9" Type="http://schemas.openxmlformats.org/officeDocument/2006/relationships/image" Target="../media/image5.svg"/><Relationship Id="rId14" Type="http://schemas.openxmlformats.org/officeDocument/2006/relationships/image" Target="../media/image60.png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13" Type="http://schemas.openxmlformats.org/officeDocument/2006/relationships/image" Target="../media/image29.svg"/><Relationship Id="rId3" Type="http://schemas.openxmlformats.org/officeDocument/2006/relationships/image" Target="../media/image3.svg"/><Relationship Id="rId7" Type="http://schemas.openxmlformats.org/officeDocument/2006/relationships/image" Target="../media/image7.svg"/><Relationship Id="rId12" Type="http://schemas.openxmlformats.org/officeDocument/2006/relationships/image" Target="../media/image28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6.png"/><Relationship Id="rId11" Type="http://schemas.openxmlformats.org/officeDocument/2006/relationships/image" Target="../media/image20.svg"/><Relationship Id="rId5" Type="http://schemas.openxmlformats.org/officeDocument/2006/relationships/image" Target="../media/image5.svg"/><Relationship Id="rId15" Type="http://schemas.openxmlformats.org/officeDocument/2006/relationships/image" Target="../media/image64.svg"/><Relationship Id="rId10" Type="http://schemas.openxmlformats.org/officeDocument/2006/relationships/image" Target="../media/image19.png"/><Relationship Id="rId4" Type="http://schemas.openxmlformats.org/officeDocument/2006/relationships/image" Target="../media/image4.png"/><Relationship Id="rId9" Type="http://schemas.openxmlformats.org/officeDocument/2006/relationships/image" Target="../media/image9.svg"/><Relationship Id="rId14" Type="http://schemas.openxmlformats.org/officeDocument/2006/relationships/image" Target="../media/image6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9D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884956" y="1028700"/>
            <a:ext cx="16230600" cy="8229600"/>
          </a:xfrm>
          <a:custGeom>
            <a:avLst/>
            <a:gdLst/>
            <a:ahLst/>
            <a:cxnLst/>
            <a:rect l="l" t="t" r="r" b="b"/>
            <a:pathLst>
              <a:path w="16230600" h="8229600">
                <a:moveTo>
                  <a:pt x="0" y="0"/>
                </a:moveTo>
                <a:lnTo>
                  <a:pt x="16230600" y="0"/>
                </a:lnTo>
                <a:lnTo>
                  <a:pt x="16230600" y="8229600"/>
                </a:lnTo>
                <a:lnTo>
                  <a:pt x="0" y="822960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60000"/>
            </a:blip>
            <a:stretch>
              <a:fillRect l="-2971" t="-80933" r="-2971" b="-28007"/>
            </a:stretch>
          </a:blipFill>
        </p:spPr>
      </p:sp>
      <p:sp>
        <p:nvSpPr>
          <p:cNvPr id="3" name="Freeform 3"/>
          <p:cNvSpPr/>
          <p:nvPr/>
        </p:nvSpPr>
        <p:spPr>
          <a:xfrm>
            <a:off x="6842012" y="-353986"/>
            <a:ext cx="5167333" cy="1691127"/>
          </a:xfrm>
          <a:custGeom>
            <a:avLst/>
            <a:gdLst/>
            <a:ahLst/>
            <a:cxnLst/>
            <a:rect l="l" t="t" r="r" b="b"/>
            <a:pathLst>
              <a:path w="5167333" h="1691127">
                <a:moveTo>
                  <a:pt x="0" y="0"/>
                </a:moveTo>
                <a:lnTo>
                  <a:pt x="5167333" y="0"/>
                </a:lnTo>
                <a:lnTo>
                  <a:pt x="5167333" y="1691127"/>
                </a:lnTo>
                <a:lnTo>
                  <a:pt x="0" y="1691127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</p:sp>
      <p:sp>
        <p:nvSpPr>
          <p:cNvPr id="4" name="Freeform 4"/>
          <p:cNvSpPr/>
          <p:nvPr/>
        </p:nvSpPr>
        <p:spPr>
          <a:xfrm>
            <a:off x="-176802" y="-353986"/>
            <a:ext cx="1853635" cy="1853635"/>
          </a:xfrm>
          <a:custGeom>
            <a:avLst/>
            <a:gdLst/>
            <a:ahLst/>
            <a:cxnLst/>
            <a:rect l="l" t="t" r="r" b="b"/>
            <a:pathLst>
              <a:path w="1853635" h="1853635">
                <a:moveTo>
                  <a:pt x="0" y="0"/>
                </a:moveTo>
                <a:lnTo>
                  <a:pt x="1853634" y="0"/>
                </a:lnTo>
                <a:lnTo>
                  <a:pt x="1853634" y="1853634"/>
                </a:lnTo>
                <a:lnTo>
                  <a:pt x="0" y="1853634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a:blipFill>
        </p:spPr>
      </p:sp>
      <p:sp>
        <p:nvSpPr>
          <p:cNvPr id="5" name="Freeform 5"/>
          <p:cNvSpPr/>
          <p:nvPr/>
        </p:nvSpPr>
        <p:spPr>
          <a:xfrm rot="6476524">
            <a:off x="16531359" y="4210092"/>
            <a:ext cx="3840318" cy="1459321"/>
          </a:xfrm>
          <a:custGeom>
            <a:avLst/>
            <a:gdLst/>
            <a:ahLst/>
            <a:cxnLst/>
            <a:rect l="l" t="t" r="r" b="b"/>
            <a:pathLst>
              <a:path w="3840318" h="1459321">
                <a:moveTo>
                  <a:pt x="0" y="0"/>
                </a:moveTo>
                <a:lnTo>
                  <a:pt x="3840318" y="0"/>
                </a:lnTo>
                <a:lnTo>
                  <a:pt x="3840318" y="1459321"/>
                </a:lnTo>
                <a:lnTo>
                  <a:pt x="0" y="1459321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a:blipFill>
        </p:spPr>
      </p:sp>
      <p:sp>
        <p:nvSpPr>
          <p:cNvPr id="6" name="Freeform 6"/>
          <p:cNvSpPr/>
          <p:nvPr/>
        </p:nvSpPr>
        <p:spPr>
          <a:xfrm rot="6766209">
            <a:off x="29609" y="3197017"/>
            <a:ext cx="1998183" cy="1998183"/>
          </a:xfrm>
          <a:custGeom>
            <a:avLst/>
            <a:gdLst/>
            <a:ahLst/>
            <a:cxnLst/>
            <a:rect l="l" t="t" r="r" b="b"/>
            <a:pathLst>
              <a:path w="1998183" h="1998183">
                <a:moveTo>
                  <a:pt x="0" y="0"/>
                </a:moveTo>
                <a:lnTo>
                  <a:pt x="1998182" y="0"/>
                </a:lnTo>
                <a:lnTo>
                  <a:pt x="1998182" y="1998183"/>
                </a:lnTo>
                <a:lnTo>
                  <a:pt x="0" y="1998183"/>
                </a:lnTo>
                <a:lnTo>
                  <a:pt x="0" y="0"/>
                </a:lnTo>
                <a:close/>
              </a:path>
            </a:pathLst>
          </a:custGeom>
          <a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/>
            </a:stretch>
          </a:blipFill>
        </p:spPr>
      </p:sp>
      <p:sp>
        <p:nvSpPr>
          <p:cNvPr id="7" name="Freeform 7"/>
          <p:cNvSpPr/>
          <p:nvPr/>
        </p:nvSpPr>
        <p:spPr>
          <a:xfrm>
            <a:off x="10599622" y="8713932"/>
            <a:ext cx="7851896" cy="1413341"/>
          </a:xfrm>
          <a:custGeom>
            <a:avLst/>
            <a:gdLst/>
            <a:ahLst/>
            <a:cxnLst/>
            <a:rect l="l" t="t" r="r" b="b"/>
            <a:pathLst>
              <a:path w="7851896" h="1413341">
                <a:moveTo>
                  <a:pt x="0" y="0"/>
                </a:moveTo>
                <a:lnTo>
                  <a:pt x="7851896" y="0"/>
                </a:lnTo>
                <a:lnTo>
                  <a:pt x="7851896" y="1413341"/>
                </a:lnTo>
                <a:lnTo>
                  <a:pt x="0" y="1413341"/>
                </a:lnTo>
                <a:lnTo>
                  <a:pt x="0" y="0"/>
                </a:lnTo>
                <a:close/>
              </a:path>
            </a:pathLst>
          </a:custGeom>
          <a:blipFill>
            <a:blip r:embed="rId11"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/>
            </a:stretch>
          </a:blipFill>
        </p:spPr>
      </p:sp>
      <p:sp>
        <p:nvSpPr>
          <p:cNvPr id="8" name="Freeform 8"/>
          <p:cNvSpPr/>
          <p:nvPr/>
        </p:nvSpPr>
        <p:spPr>
          <a:xfrm>
            <a:off x="10738717" y="7628266"/>
            <a:ext cx="8037750" cy="1446795"/>
          </a:xfrm>
          <a:custGeom>
            <a:avLst/>
            <a:gdLst/>
            <a:ahLst/>
            <a:cxnLst/>
            <a:rect l="l" t="t" r="r" b="b"/>
            <a:pathLst>
              <a:path w="8037750" h="1446795">
                <a:moveTo>
                  <a:pt x="0" y="0"/>
                </a:moveTo>
                <a:lnTo>
                  <a:pt x="8037751" y="0"/>
                </a:lnTo>
                <a:lnTo>
                  <a:pt x="8037751" y="1446795"/>
                </a:lnTo>
                <a:lnTo>
                  <a:pt x="0" y="1446795"/>
                </a:lnTo>
                <a:lnTo>
                  <a:pt x="0" y="0"/>
                </a:lnTo>
                <a:close/>
              </a:path>
            </a:pathLst>
          </a:custGeom>
          <a:blipFill>
            <a:blip r:embed="rId11"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/>
            </a:stretch>
          </a:blipFill>
        </p:spPr>
      </p:sp>
      <p:sp>
        <p:nvSpPr>
          <p:cNvPr id="9" name="Freeform 9"/>
          <p:cNvSpPr/>
          <p:nvPr/>
        </p:nvSpPr>
        <p:spPr>
          <a:xfrm rot="5400000">
            <a:off x="16289817" y="-200553"/>
            <a:ext cx="1998183" cy="1998183"/>
          </a:xfrm>
          <a:custGeom>
            <a:avLst/>
            <a:gdLst/>
            <a:ahLst/>
            <a:cxnLst/>
            <a:rect l="l" t="t" r="r" b="b"/>
            <a:pathLst>
              <a:path w="1998183" h="1998183">
                <a:moveTo>
                  <a:pt x="0" y="0"/>
                </a:moveTo>
                <a:lnTo>
                  <a:pt x="1998183" y="0"/>
                </a:lnTo>
                <a:lnTo>
                  <a:pt x="1998183" y="1998183"/>
                </a:lnTo>
                <a:lnTo>
                  <a:pt x="0" y="1998183"/>
                </a:lnTo>
                <a:lnTo>
                  <a:pt x="0" y="0"/>
                </a:lnTo>
                <a:close/>
              </a:path>
            </a:pathLst>
          </a:custGeom>
          <a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/>
            </a:stretch>
          </a:blipFill>
        </p:spPr>
      </p:sp>
      <p:sp>
        <p:nvSpPr>
          <p:cNvPr id="10" name="Freeform 10"/>
          <p:cNvSpPr/>
          <p:nvPr/>
        </p:nvSpPr>
        <p:spPr>
          <a:xfrm>
            <a:off x="467715" y="5628219"/>
            <a:ext cx="5182157" cy="4499055"/>
          </a:xfrm>
          <a:custGeom>
            <a:avLst/>
            <a:gdLst/>
            <a:ahLst/>
            <a:cxnLst/>
            <a:rect l="l" t="t" r="r" b="b"/>
            <a:pathLst>
              <a:path w="5182157" h="4499055">
                <a:moveTo>
                  <a:pt x="0" y="0"/>
                </a:moveTo>
                <a:lnTo>
                  <a:pt x="5182157" y="0"/>
                </a:lnTo>
                <a:lnTo>
                  <a:pt x="5182157" y="4499054"/>
                </a:lnTo>
                <a:lnTo>
                  <a:pt x="0" y="4499054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>
              <a:fillRect/>
            </a:stretch>
          </a:blipFill>
        </p:spPr>
      </p:sp>
      <p:sp>
        <p:nvSpPr>
          <p:cNvPr id="11" name="TextBox 11"/>
          <p:cNvSpPr txBox="1"/>
          <p:nvPr/>
        </p:nvSpPr>
        <p:spPr>
          <a:xfrm>
            <a:off x="1905296" y="1511267"/>
            <a:ext cx="15260531" cy="34284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8611"/>
              </a:lnSpc>
            </a:pPr>
            <a:r>
              <a:rPr lang="en-US" sz="9360" spc="-9">
                <a:solidFill>
                  <a:srgbClr val="D66A12"/>
                </a:solidFill>
                <a:latin typeface="Childos Arabic Semi-Bold"/>
              </a:rPr>
              <a:t>Catalysis with Zeolites and Production of Iso-Butene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11085725" y="7533016"/>
            <a:ext cx="7202275" cy="298884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714"/>
              </a:lnSpc>
            </a:pPr>
            <a:r>
              <a:rPr lang="en-US" sz="3367" spc="417" dirty="0">
                <a:solidFill>
                  <a:srgbClr val="000000"/>
                </a:solidFill>
                <a:latin typeface="Childos Arabic Bold"/>
              </a:rPr>
              <a:t>Presented by:</a:t>
            </a:r>
          </a:p>
          <a:p>
            <a:pPr algn="ctr">
              <a:lnSpc>
                <a:spcPts val="4714"/>
              </a:lnSpc>
            </a:pPr>
            <a:r>
              <a:rPr lang="en-US" sz="3367" spc="417" dirty="0">
                <a:solidFill>
                  <a:srgbClr val="000000"/>
                </a:solidFill>
                <a:latin typeface="Childos Arabic Bold"/>
              </a:rPr>
              <a:t>Harishankar Yadav- 210107043</a:t>
            </a:r>
          </a:p>
          <a:p>
            <a:pPr algn="ctr">
              <a:lnSpc>
                <a:spcPts val="4714"/>
              </a:lnSpc>
            </a:pPr>
            <a:r>
              <a:rPr lang="en-US" sz="3367" spc="417" dirty="0">
                <a:solidFill>
                  <a:srgbClr val="000000"/>
                </a:solidFill>
                <a:latin typeface="Childos Arabic Bold"/>
              </a:rPr>
              <a:t>Aditya Kanglekar-210107016</a:t>
            </a:r>
          </a:p>
          <a:p>
            <a:pPr algn="ctr">
              <a:lnSpc>
                <a:spcPts val="4714"/>
              </a:lnSpc>
            </a:pPr>
            <a:r>
              <a:rPr lang="en-US" sz="3367" spc="417" dirty="0" err="1">
                <a:solidFill>
                  <a:srgbClr val="000000"/>
                </a:solidFill>
                <a:latin typeface="Childos Arabic Bold"/>
              </a:rPr>
              <a:t>Sachin</a:t>
            </a:r>
            <a:r>
              <a:rPr lang="en-US" sz="3367" spc="417" dirty="0">
                <a:solidFill>
                  <a:srgbClr val="000000"/>
                </a:solidFill>
                <a:latin typeface="Childos Arabic Bold"/>
              </a:rPr>
              <a:t> Tiwari-210107073</a:t>
            </a:r>
          </a:p>
          <a:p>
            <a:pPr algn="ctr">
              <a:lnSpc>
                <a:spcPts val="4714"/>
              </a:lnSpc>
            </a:pPr>
            <a:endParaRPr lang="en-US" sz="3367" spc="417" dirty="0">
              <a:solidFill>
                <a:srgbClr val="000000"/>
              </a:solidFill>
              <a:latin typeface="Childos Arabic Bold"/>
            </a:endParaRPr>
          </a:p>
        </p:txBody>
      </p:sp>
      <p:sp>
        <p:nvSpPr>
          <p:cNvPr id="13" name="TextBox 13"/>
          <p:cNvSpPr txBox="1"/>
          <p:nvPr/>
        </p:nvSpPr>
        <p:spPr>
          <a:xfrm>
            <a:off x="7634232" y="5380194"/>
            <a:ext cx="4965236" cy="79311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160"/>
              </a:lnSpc>
            </a:pPr>
            <a:r>
              <a:rPr lang="en-US" sz="4400" dirty="0">
                <a:solidFill>
                  <a:srgbClr val="000000"/>
                </a:solidFill>
                <a:latin typeface="Childos Arabic Bold"/>
              </a:rPr>
              <a:t>Date: 01/04/2025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5851524" y="6682770"/>
            <a:ext cx="9908003" cy="90010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7080"/>
              </a:lnSpc>
            </a:pPr>
            <a:r>
              <a:rPr lang="en-US" sz="5057">
                <a:solidFill>
                  <a:srgbClr val="000000"/>
                </a:solidFill>
                <a:latin typeface="Childos Arabic"/>
              </a:rPr>
              <a:t>CL-304 : Chemical Process Technology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9D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 rot="-5656652">
            <a:off x="14952962" y="6886852"/>
            <a:ext cx="2204077" cy="6482578"/>
          </a:xfrm>
          <a:custGeom>
            <a:avLst/>
            <a:gdLst/>
            <a:ahLst/>
            <a:cxnLst/>
            <a:rect l="l" t="t" r="r" b="b"/>
            <a:pathLst>
              <a:path w="2204077" h="6482578">
                <a:moveTo>
                  <a:pt x="0" y="0"/>
                </a:moveTo>
                <a:lnTo>
                  <a:pt x="2204077" y="0"/>
                </a:lnTo>
                <a:lnTo>
                  <a:pt x="2204077" y="6482579"/>
                </a:lnTo>
                <a:lnTo>
                  <a:pt x="0" y="6482579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3" name="Freeform 3"/>
          <p:cNvSpPr/>
          <p:nvPr/>
        </p:nvSpPr>
        <p:spPr>
          <a:xfrm>
            <a:off x="16597884" y="-353986"/>
            <a:ext cx="1853635" cy="1853635"/>
          </a:xfrm>
          <a:custGeom>
            <a:avLst/>
            <a:gdLst/>
            <a:ahLst/>
            <a:cxnLst/>
            <a:rect l="l" t="t" r="r" b="b"/>
            <a:pathLst>
              <a:path w="1853635" h="1853635">
                <a:moveTo>
                  <a:pt x="0" y="0"/>
                </a:moveTo>
                <a:lnTo>
                  <a:pt x="1853634" y="0"/>
                </a:lnTo>
                <a:lnTo>
                  <a:pt x="1853634" y="1853634"/>
                </a:lnTo>
                <a:lnTo>
                  <a:pt x="0" y="1853634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</p:sp>
      <p:sp>
        <p:nvSpPr>
          <p:cNvPr id="4" name="Freeform 4"/>
          <p:cNvSpPr/>
          <p:nvPr/>
        </p:nvSpPr>
        <p:spPr>
          <a:xfrm rot="6476524">
            <a:off x="16531359" y="4210092"/>
            <a:ext cx="3840318" cy="1459321"/>
          </a:xfrm>
          <a:custGeom>
            <a:avLst/>
            <a:gdLst/>
            <a:ahLst/>
            <a:cxnLst/>
            <a:rect l="l" t="t" r="r" b="b"/>
            <a:pathLst>
              <a:path w="3840318" h="1459321">
                <a:moveTo>
                  <a:pt x="0" y="0"/>
                </a:moveTo>
                <a:lnTo>
                  <a:pt x="3840318" y="0"/>
                </a:lnTo>
                <a:lnTo>
                  <a:pt x="3840318" y="1459321"/>
                </a:lnTo>
                <a:lnTo>
                  <a:pt x="0" y="1459321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</p:sp>
      <p:sp>
        <p:nvSpPr>
          <p:cNvPr id="5" name="Freeform 5"/>
          <p:cNvSpPr/>
          <p:nvPr/>
        </p:nvSpPr>
        <p:spPr>
          <a:xfrm rot="5400000">
            <a:off x="-958226" y="6275414"/>
            <a:ext cx="1998183" cy="1998183"/>
          </a:xfrm>
          <a:custGeom>
            <a:avLst/>
            <a:gdLst/>
            <a:ahLst/>
            <a:cxnLst/>
            <a:rect l="l" t="t" r="r" b="b"/>
            <a:pathLst>
              <a:path w="1998183" h="1998183">
                <a:moveTo>
                  <a:pt x="0" y="0"/>
                </a:moveTo>
                <a:lnTo>
                  <a:pt x="1998182" y="0"/>
                </a:lnTo>
                <a:lnTo>
                  <a:pt x="1998182" y="1998182"/>
                </a:lnTo>
                <a:lnTo>
                  <a:pt x="0" y="1998182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a:blipFill>
        </p:spPr>
      </p:sp>
      <p:sp>
        <p:nvSpPr>
          <p:cNvPr id="6" name="Freeform 6"/>
          <p:cNvSpPr/>
          <p:nvPr/>
        </p:nvSpPr>
        <p:spPr>
          <a:xfrm rot="-2867120">
            <a:off x="-1247509" y="246138"/>
            <a:ext cx="3840318" cy="1459321"/>
          </a:xfrm>
          <a:custGeom>
            <a:avLst/>
            <a:gdLst/>
            <a:ahLst/>
            <a:cxnLst/>
            <a:rect l="l" t="t" r="r" b="b"/>
            <a:pathLst>
              <a:path w="3840318" h="1459321">
                <a:moveTo>
                  <a:pt x="0" y="0"/>
                </a:moveTo>
                <a:lnTo>
                  <a:pt x="3840319" y="0"/>
                </a:lnTo>
                <a:lnTo>
                  <a:pt x="3840319" y="1459321"/>
                </a:lnTo>
                <a:lnTo>
                  <a:pt x="0" y="1459321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</p:sp>
      <p:sp>
        <p:nvSpPr>
          <p:cNvPr id="7" name="Freeform 7"/>
          <p:cNvSpPr/>
          <p:nvPr/>
        </p:nvSpPr>
        <p:spPr>
          <a:xfrm>
            <a:off x="10324755" y="3573955"/>
            <a:ext cx="7540943" cy="4211827"/>
          </a:xfrm>
          <a:custGeom>
            <a:avLst/>
            <a:gdLst/>
            <a:ahLst/>
            <a:cxnLst/>
            <a:rect l="l" t="t" r="r" b="b"/>
            <a:pathLst>
              <a:path w="7540943" h="4211827">
                <a:moveTo>
                  <a:pt x="0" y="0"/>
                </a:moveTo>
                <a:lnTo>
                  <a:pt x="7540943" y="0"/>
                </a:lnTo>
                <a:lnTo>
                  <a:pt x="7540943" y="4211827"/>
                </a:lnTo>
                <a:lnTo>
                  <a:pt x="0" y="4211827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>
              <a:fillRect l="-443" t="-555" b="-555"/>
            </a:stretch>
          </a:blipFill>
          <a:ln w="38100" cap="sq">
            <a:solidFill>
              <a:srgbClr val="FFCB65"/>
            </a:solidFill>
            <a:prstDash val="solid"/>
            <a:miter/>
          </a:ln>
        </p:spPr>
      </p:sp>
      <p:sp>
        <p:nvSpPr>
          <p:cNvPr id="8" name="Freeform 8"/>
          <p:cNvSpPr/>
          <p:nvPr/>
        </p:nvSpPr>
        <p:spPr>
          <a:xfrm>
            <a:off x="5422195" y="8632376"/>
            <a:ext cx="6439991" cy="748812"/>
          </a:xfrm>
          <a:custGeom>
            <a:avLst/>
            <a:gdLst/>
            <a:ahLst/>
            <a:cxnLst/>
            <a:rect l="l" t="t" r="r" b="b"/>
            <a:pathLst>
              <a:path w="6439991" h="748812">
                <a:moveTo>
                  <a:pt x="0" y="0"/>
                </a:moveTo>
                <a:lnTo>
                  <a:pt x="6439991" y="0"/>
                </a:lnTo>
                <a:lnTo>
                  <a:pt x="6439991" y="748812"/>
                </a:lnTo>
                <a:lnTo>
                  <a:pt x="0" y="748812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>
              <a:fillRect l="-51477" t="-367893" r="-45330" b="-801557"/>
            </a:stretch>
          </a:blipFill>
          <a:ln w="38100" cap="sq">
            <a:solidFill>
              <a:srgbClr val="000000"/>
            </a:solidFill>
            <a:prstDash val="solid"/>
            <a:miter/>
          </a:ln>
        </p:spPr>
      </p:sp>
      <p:sp>
        <p:nvSpPr>
          <p:cNvPr id="9" name="TextBox 9"/>
          <p:cNvSpPr txBox="1"/>
          <p:nvPr/>
        </p:nvSpPr>
        <p:spPr>
          <a:xfrm>
            <a:off x="3482538" y="766249"/>
            <a:ext cx="10949174" cy="186674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5233"/>
              </a:lnSpc>
              <a:spcBef>
                <a:spcPct val="0"/>
              </a:spcBef>
            </a:pPr>
            <a:r>
              <a:rPr lang="en-US" sz="10881">
                <a:solidFill>
                  <a:srgbClr val="D66A12"/>
                </a:solidFill>
                <a:latin typeface="One Little Font"/>
              </a:rPr>
              <a:t>INTRODUCTION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40865" y="2660686"/>
            <a:ext cx="10283890" cy="597169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813743" lvl="1" indent="-406871" algn="ctr">
              <a:lnSpc>
                <a:spcPts val="5276"/>
              </a:lnSpc>
              <a:buFont typeface="Arial"/>
              <a:buChar char="•"/>
            </a:pPr>
            <a:r>
              <a:rPr lang="en-US" sz="3769">
                <a:solidFill>
                  <a:srgbClr val="D66A12"/>
                </a:solidFill>
                <a:latin typeface="Canva Sans"/>
              </a:rPr>
              <a:t>Zeolites are </a:t>
            </a:r>
            <a:r>
              <a:rPr lang="en-US" sz="3769">
                <a:solidFill>
                  <a:srgbClr val="D66A12"/>
                </a:solidFill>
                <a:latin typeface="Canva Sans Bold"/>
              </a:rPr>
              <a:t>crystalline,  aluminosilicates </a:t>
            </a:r>
            <a:r>
              <a:rPr lang="en-US" sz="3769">
                <a:solidFill>
                  <a:srgbClr val="D66A12"/>
                </a:solidFill>
                <a:latin typeface="Canva Sans"/>
              </a:rPr>
              <a:t>characterized by their porous structure and high surface area.</a:t>
            </a:r>
          </a:p>
          <a:p>
            <a:pPr marL="813743" lvl="1" indent="-406871" algn="ctr">
              <a:lnSpc>
                <a:spcPts val="5276"/>
              </a:lnSpc>
              <a:buFont typeface="Arial"/>
              <a:buChar char="•"/>
            </a:pPr>
            <a:r>
              <a:rPr lang="en-US" sz="3769">
                <a:solidFill>
                  <a:srgbClr val="D66A12"/>
                </a:solidFill>
                <a:latin typeface="Canva Sans"/>
              </a:rPr>
              <a:t>They consist of a framework of silicon, aluminum, and oxygen atoms.</a:t>
            </a:r>
          </a:p>
          <a:p>
            <a:pPr marL="813743" lvl="1" indent="-406871" algn="ctr">
              <a:lnSpc>
                <a:spcPts val="5276"/>
              </a:lnSpc>
              <a:buFont typeface="Arial"/>
              <a:buChar char="•"/>
            </a:pPr>
            <a:r>
              <a:rPr lang="en-US" sz="3769">
                <a:solidFill>
                  <a:srgbClr val="D66A12"/>
                </a:solidFill>
                <a:latin typeface="Canva Sans"/>
              </a:rPr>
              <a:t>They have a </a:t>
            </a:r>
            <a:r>
              <a:rPr lang="en-US" sz="3769">
                <a:solidFill>
                  <a:srgbClr val="D66A12"/>
                </a:solidFill>
                <a:latin typeface="Canva Sans Bold"/>
              </a:rPr>
              <a:t>porous structure</a:t>
            </a:r>
            <a:r>
              <a:rPr lang="en-US" sz="3769">
                <a:solidFill>
                  <a:srgbClr val="D66A12"/>
                </a:solidFill>
                <a:latin typeface="Canva Sans"/>
              </a:rPr>
              <a:t> (Allows molecules to enter and react within their cavity).</a:t>
            </a:r>
          </a:p>
          <a:p>
            <a:pPr marL="813743" lvl="1" indent="-406871" algn="ctr">
              <a:lnSpc>
                <a:spcPts val="5276"/>
              </a:lnSpc>
              <a:buFont typeface="Arial"/>
              <a:buChar char="•"/>
            </a:pPr>
            <a:r>
              <a:rPr lang="en-US" sz="3769">
                <a:solidFill>
                  <a:srgbClr val="D66A12"/>
                </a:solidFill>
                <a:latin typeface="Canva Sans"/>
              </a:rPr>
              <a:t>Chemical Structure -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6842012" y="9490474"/>
            <a:ext cx="8020943" cy="63766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278"/>
              </a:lnSpc>
            </a:pPr>
            <a:r>
              <a:rPr lang="en-US" sz="3770">
                <a:solidFill>
                  <a:srgbClr val="D66A12"/>
                </a:solidFill>
                <a:latin typeface="Canva Sans"/>
              </a:rPr>
              <a:t>[here, M is either a metal ion or H+]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9D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6842012" y="-353986"/>
            <a:ext cx="5167333" cy="1691127"/>
          </a:xfrm>
          <a:custGeom>
            <a:avLst/>
            <a:gdLst/>
            <a:ahLst/>
            <a:cxnLst/>
            <a:rect l="l" t="t" r="r" b="b"/>
            <a:pathLst>
              <a:path w="5167333" h="1691127">
                <a:moveTo>
                  <a:pt x="0" y="0"/>
                </a:moveTo>
                <a:lnTo>
                  <a:pt x="5167333" y="0"/>
                </a:lnTo>
                <a:lnTo>
                  <a:pt x="5167333" y="1691127"/>
                </a:lnTo>
                <a:lnTo>
                  <a:pt x="0" y="1691127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3" name="Freeform 3"/>
          <p:cNvSpPr/>
          <p:nvPr/>
        </p:nvSpPr>
        <p:spPr>
          <a:xfrm rot="6476524">
            <a:off x="16123629" y="4321039"/>
            <a:ext cx="4328742" cy="1644922"/>
          </a:xfrm>
          <a:custGeom>
            <a:avLst/>
            <a:gdLst/>
            <a:ahLst/>
            <a:cxnLst/>
            <a:rect l="l" t="t" r="r" b="b"/>
            <a:pathLst>
              <a:path w="4328742" h="1644922">
                <a:moveTo>
                  <a:pt x="0" y="0"/>
                </a:moveTo>
                <a:lnTo>
                  <a:pt x="4328742" y="0"/>
                </a:lnTo>
                <a:lnTo>
                  <a:pt x="4328742" y="1644922"/>
                </a:lnTo>
                <a:lnTo>
                  <a:pt x="0" y="1644922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</p:sp>
      <p:sp>
        <p:nvSpPr>
          <p:cNvPr id="4" name="Freeform 4"/>
          <p:cNvSpPr/>
          <p:nvPr/>
        </p:nvSpPr>
        <p:spPr>
          <a:xfrm rot="5400000">
            <a:off x="-622350" y="6101442"/>
            <a:ext cx="1998183" cy="1998183"/>
          </a:xfrm>
          <a:custGeom>
            <a:avLst/>
            <a:gdLst/>
            <a:ahLst/>
            <a:cxnLst/>
            <a:rect l="l" t="t" r="r" b="b"/>
            <a:pathLst>
              <a:path w="1998183" h="1998183">
                <a:moveTo>
                  <a:pt x="0" y="0"/>
                </a:moveTo>
                <a:lnTo>
                  <a:pt x="1998183" y="0"/>
                </a:lnTo>
                <a:lnTo>
                  <a:pt x="1998183" y="1998183"/>
                </a:lnTo>
                <a:lnTo>
                  <a:pt x="0" y="1998183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</p:sp>
      <p:sp>
        <p:nvSpPr>
          <p:cNvPr id="5" name="Freeform 5"/>
          <p:cNvSpPr/>
          <p:nvPr/>
        </p:nvSpPr>
        <p:spPr>
          <a:xfrm rot="1034028">
            <a:off x="6943791" y="8827129"/>
            <a:ext cx="5167333" cy="1691127"/>
          </a:xfrm>
          <a:custGeom>
            <a:avLst/>
            <a:gdLst/>
            <a:ahLst/>
            <a:cxnLst/>
            <a:rect l="l" t="t" r="r" b="b"/>
            <a:pathLst>
              <a:path w="5167333" h="1691127">
                <a:moveTo>
                  <a:pt x="0" y="0"/>
                </a:moveTo>
                <a:lnTo>
                  <a:pt x="5167334" y="0"/>
                </a:lnTo>
                <a:lnTo>
                  <a:pt x="5167334" y="1691128"/>
                </a:lnTo>
                <a:lnTo>
                  <a:pt x="0" y="1691128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6" name="Freeform 6"/>
          <p:cNvSpPr/>
          <p:nvPr/>
        </p:nvSpPr>
        <p:spPr>
          <a:xfrm>
            <a:off x="2457032" y="-1019199"/>
            <a:ext cx="13417029" cy="5861854"/>
          </a:xfrm>
          <a:custGeom>
            <a:avLst/>
            <a:gdLst/>
            <a:ahLst/>
            <a:cxnLst/>
            <a:rect l="l" t="t" r="r" b="b"/>
            <a:pathLst>
              <a:path w="13417029" h="5861854">
                <a:moveTo>
                  <a:pt x="0" y="0"/>
                </a:moveTo>
                <a:lnTo>
                  <a:pt x="13417029" y="0"/>
                </a:lnTo>
                <a:lnTo>
                  <a:pt x="13417029" y="5861853"/>
                </a:lnTo>
                <a:lnTo>
                  <a:pt x="0" y="5861853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a:blipFill>
        </p:spPr>
      </p:sp>
      <p:sp>
        <p:nvSpPr>
          <p:cNvPr id="7" name="Freeform 7"/>
          <p:cNvSpPr/>
          <p:nvPr/>
        </p:nvSpPr>
        <p:spPr>
          <a:xfrm>
            <a:off x="15874061" y="8719169"/>
            <a:ext cx="3294690" cy="1078262"/>
          </a:xfrm>
          <a:custGeom>
            <a:avLst/>
            <a:gdLst/>
            <a:ahLst/>
            <a:cxnLst/>
            <a:rect l="l" t="t" r="r" b="b"/>
            <a:pathLst>
              <a:path w="3294690" h="1078262">
                <a:moveTo>
                  <a:pt x="0" y="0"/>
                </a:moveTo>
                <a:lnTo>
                  <a:pt x="3294690" y="0"/>
                </a:lnTo>
                <a:lnTo>
                  <a:pt x="3294690" y="1078262"/>
                </a:lnTo>
                <a:lnTo>
                  <a:pt x="0" y="1078262"/>
                </a:lnTo>
                <a:lnTo>
                  <a:pt x="0" y="0"/>
                </a:lnTo>
                <a:close/>
              </a:path>
            </a:pathLst>
          </a:custGeom>
          <a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a:blipFill>
        </p:spPr>
      </p:sp>
      <p:sp>
        <p:nvSpPr>
          <p:cNvPr id="8" name="Freeform 8"/>
          <p:cNvSpPr/>
          <p:nvPr/>
        </p:nvSpPr>
        <p:spPr>
          <a:xfrm>
            <a:off x="16597884" y="-353986"/>
            <a:ext cx="1853635" cy="1853635"/>
          </a:xfrm>
          <a:custGeom>
            <a:avLst/>
            <a:gdLst/>
            <a:ahLst/>
            <a:cxnLst/>
            <a:rect l="l" t="t" r="r" b="b"/>
            <a:pathLst>
              <a:path w="1853635" h="1853635">
                <a:moveTo>
                  <a:pt x="0" y="0"/>
                </a:moveTo>
                <a:lnTo>
                  <a:pt x="1853634" y="0"/>
                </a:lnTo>
                <a:lnTo>
                  <a:pt x="1853634" y="1853634"/>
                </a:lnTo>
                <a:lnTo>
                  <a:pt x="0" y="1853634"/>
                </a:lnTo>
                <a:lnTo>
                  <a:pt x="0" y="0"/>
                </a:lnTo>
                <a:close/>
              </a:path>
            </a:pathLst>
          </a:custGeom>
          <a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a:blipFill>
        </p:spPr>
      </p:sp>
      <p:sp>
        <p:nvSpPr>
          <p:cNvPr id="9" name="Freeform 9"/>
          <p:cNvSpPr/>
          <p:nvPr/>
        </p:nvSpPr>
        <p:spPr>
          <a:xfrm>
            <a:off x="101883" y="8713932"/>
            <a:ext cx="1853635" cy="1853635"/>
          </a:xfrm>
          <a:custGeom>
            <a:avLst/>
            <a:gdLst/>
            <a:ahLst/>
            <a:cxnLst/>
            <a:rect l="l" t="t" r="r" b="b"/>
            <a:pathLst>
              <a:path w="1853635" h="1853635">
                <a:moveTo>
                  <a:pt x="0" y="0"/>
                </a:moveTo>
                <a:lnTo>
                  <a:pt x="1853634" y="0"/>
                </a:lnTo>
                <a:lnTo>
                  <a:pt x="1853634" y="1853634"/>
                </a:lnTo>
                <a:lnTo>
                  <a:pt x="0" y="1853634"/>
                </a:lnTo>
                <a:lnTo>
                  <a:pt x="0" y="0"/>
                </a:lnTo>
                <a:close/>
              </a:path>
            </a:pathLst>
          </a:custGeom>
          <a:blipFill>
            <a:blip r:embed="rId14">
              <a:extLst>
                <a:ext uri="{96DAC541-7B7A-43D3-8B79-37D633B846F1}">
                  <asvg:svgBlip xmlns:asvg="http://schemas.microsoft.com/office/drawing/2016/SVG/main" r:embed="rId15"/>
                </a:ext>
              </a:extLst>
            </a:blip>
            <a:stretch>
              <a:fillRect/>
            </a:stretch>
          </a:blipFill>
        </p:spPr>
      </p:sp>
      <p:sp>
        <p:nvSpPr>
          <p:cNvPr id="10" name="Freeform 10"/>
          <p:cNvSpPr/>
          <p:nvPr/>
        </p:nvSpPr>
        <p:spPr>
          <a:xfrm rot="-2810949">
            <a:off x="-1787630" y="514680"/>
            <a:ext cx="4328742" cy="1644922"/>
          </a:xfrm>
          <a:custGeom>
            <a:avLst/>
            <a:gdLst/>
            <a:ahLst/>
            <a:cxnLst/>
            <a:rect l="l" t="t" r="r" b="b"/>
            <a:pathLst>
              <a:path w="4328742" h="1644922">
                <a:moveTo>
                  <a:pt x="0" y="0"/>
                </a:moveTo>
                <a:lnTo>
                  <a:pt x="4328742" y="0"/>
                </a:lnTo>
                <a:lnTo>
                  <a:pt x="4328742" y="1644922"/>
                </a:lnTo>
                <a:lnTo>
                  <a:pt x="0" y="1644922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</p:sp>
      <p:sp>
        <p:nvSpPr>
          <p:cNvPr id="11" name="Freeform 11"/>
          <p:cNvSpPr/>
          <p:nvPr/>
        </p:nvSpPr>
        <p:spPr>
          <a:xfrm>
            <a:off x="9922244" y="3748946"/>
            <a:ext cx="7868297" cy="6378048"/>
          </a:xfrm>
          <a:custGeom>
            <a:avLst/>
            <a:gdLst/>
            <a:ahLst/>
            <a:cxnLst/>
            <a:rect l="l" t="t" r="r" b="b"/>
            <a:pathLst>
              <a:path w="7868297" h="6378048">
                <a:moveTo>
                  <a:pt x="0" y="0"/>
                </a:moveTo>
                <a:lnTo>
                  <a:pt x="7868297" y="0"/>
                </a:lnTo>
                <a:lnTo>
                  <a:pt x="7868297" y="6378048"/>
                </a:lnTo>
                <a:lnTo>
                  <a:pt x="0" y="6378048"/>
                </a:lnTo>
                <a:lnTo>
                  <a:pt x="0" y="0"/>
                </a:lnTo>
                <a:close/>
              </a:path>
            </a:pathLst>
          </a:custGeom>
          <a:blipFill>
            <a:blip r:embed="rId16"/>
            <a:stretch>
              <a:fillRect l="-17905" t="-77927" r="-76597" b="-2034"/>
            </a:stretch>
          </a:blipFill>
        </p:spPr>
      </p:sp>
      <p:sp>
        <p:nvSpPr>
          <p:cNvPr id="12" name="Freeform 12"/>
          <p:cNvSpPr/>
          <p:nvPr/>
        </p:nvSpPr>
        <p:spPr>
          <a:xfrm>
            <a:off x="2314778" y="5580398"/>
            <a:ext cx="6048686" cy="4546595"/>
          </a:xfrm>
          <a:custGeom>
            <a:avLst/>
            <a:gdLst/>
            <a:ahLst/>
            <a:cxnLst/>
            <a:rect l="l" t="t" r="r" b="b"/>
            <a:pathLst>
              <a:path w="6048686" h="4546595">
                <a:moveTo>
                  <a:pt x="0" y="0"/>
                </a:moveTo>
                <a:lnTo>
                  <a:pt x="6048686" y="0"/>
                </a:lnTo>
                <a:lnTo>
                  <a:pt x="6048686" y="4546596"/>
                </a:lnTo>
                <a:lnTo>
                  <a:pt x="0" y="4546596"/>
                </a:lnTo>
                <a:lnTo>
                  <a:pt x="0" y="0"/>
                </a:lnTo>
                <a:close/>
              </a:path>
            </a:pathLst>
          </a:custGeom>
          <a:blipFill>
            <a:blip r:embed="rId17"/>
            <a:stretch>
              <a:fillRect/>
            </a:stretch>
          </a:blipFill>
        </p:spPr>
      </p:sp>
      <p:sp>
        <p:nvSpPr>
          <p:cNvPr id="13" name="TextBox 13"/>
          <p:cNvSpPr txBox="1"/>
          <p:nvPr/>
        </p:nvSpPr>
        <p:spPr>
          <a:xfrm>
            <a:off x="2314778" y="729702"/>
            <a:ext cx="13858702" cy="137085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0176"/>
              </a:lnSpc>
            </a:pPr>
            <a:r>
              <a:rPr lang="en-US" sz="10600" spc="-116">
                <a:solidFill>
                  <a:srgbClr val="FFF9D8"/>
                </a:solidFill>
                <a:latin typeface="One Little Font"/>
              </a:rPr>
              <a:t>COMMON ZEOLITES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0" y="2294796"/>
            <a:ext cx="18451518" cy="12065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899"/>
              </a:lnSpc>
            </a:pPr>
            <a:r>
              <a:rPr lang="en-US" sz="3499">
                <a:solidFill>
                  <a:srgbClr val="000000"/>
                </a:solidFill>
                <a:latin typeface="Canva Sans Bold"/>
              </a:rPr>
              <a:t>Zeolites are either formed naturally or can be synthesised or produced industrially.</a:t>
            </a:r>
          </a:p>
          <a:p>
            <a:pPr algn="ctr">
              <a:lnSpc>
                <a:spcPts val="4899"/>
              </a:lnSpc>
            </a:pPr>
            <a:r>
              <a:rPr lang="en-US" sz="3499">
                <a:solidFill>
                  <a:srgbClr val="000000"/>
                </a:solidFill>
                <a:latin typeface="Canva Sans Bold"/>
              </a:rPr>
              <a:t>There are nearly 50 different types of zeolites which are available.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3048296" y="4240324"/>
            <a:ext cx="6479161" cy="113798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563"/>
              </a:lnSpc>
            </a:pPr>
            <a:r>
              <a:rPr lang="en-US" sz="3259">
                <a:solidFill>
                  <a:srgbClr val="000000"/>
                </a:solidFill>
                <a:latin typeface="Canva Sans Bold"/>
              </a:rPr>
              <a:t>some of the most common mineral zeolites are-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9D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3156030" y="31676"/>
            <a:ext cx="11975940" cy="188276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5400"/>
              </a:lnSpc>
              <a:spcBef>
                <a:spcPct val="0"/>
              </a:spcBef>
            </a:pPr>
            <a:r>
              <a:rPr lang="en-US" sz="11000">
                <a:solidFill>
                  <a:srgbClr val="D66A12"/>
                </a:solidFill>
                <a:latin typeface="One Little Font"/>
              </a:rPr>
              <a:t>TYPES OF ZEOLITES</a:t>
            </a:r>
          </a:p>
        </p:txBody>
      </p:sp>
      <p:sp>
        <p:nvSpPr>
          <p:cNvPr id="3" name="Freeform 3"/>
          <p:cNvSpPr/>
          <p:nvPr/>
        </p:nvSpPr>
        <p:spPr>
          <a:xfrm rot="-5757242">
            <a:off x="17660149" y="6517914"/>
            <a:ext cx="2204077" cy="6482578"/>
          </a:xfrm>
          <a:custGeom>
            <a:avLst/>
            <a:gdLst/>
            <a:ahLst/>
            <a:cxnLst/>
            <a:rect l="l" t="t" r="r" b="b"/>
            <a:pathLst>
              <a:path w="2204077" h="6482578">
                <a:moveTo>
                  <a:pt x="0" y="0"/>
                </a:moveTo>
                <a:lnTo>
                  <a:pt x="2204076" y="0"/>
                </a:lnTo>
                <a:lnTo>
                  <a:pt x="2204076" y="6482579"/>
                </a:lnTo>
                <a:lnTo>
                  <a:pt x="0" y="6482579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4" name="Freeform 4"/>
          <p:cNvSpPr/>
          <p:nvPr/>
        </p:nvSpPr>
        <p:spPr>
          <a:xfrm>
            <a:off x="-176802" y="-353986"/>
            <a:ext cx="1853635" cy="1853635"/>
          </a:xfrm>
          <a:custGeom>
            <a:avLst/>
            <a:gdLst/>
            <a:ahLst/>
            <a:cxnLst/>
            <a:rect l="l" t="t" r="r" b="b"/>
            <a:pathLst>
              <a:path w="1853635" h="1853635">
                <a:moveTo>
                  <a:pt x="0" y="0"/>
                </a:moveTo>
                <a:lnTo>
                  <a:pt x="1853634" y="0"/>
                </a:lnTo>
                <a:lnTo>
                  <a:pt x="1853634" y="1853634"/>
                </a:lnTo>
                <a:lnTo>
                  <a:pt x="0" y="1853634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</p:sp>
      <p:sp>
        <p:nvSpPr>
          <p:cNvPr id="5" name="Freeform 5"/>
          <p:cNvSpPr/>
          <p:nvPr/>
        </p:nvSpPr>
        <p:spPr>
          <a:xfrm rot="6476524">
            <a:off x="16531359" y="4210092"/>
            <a:ext cx="3840318" cy="1459321"/>
          </a:xfrm>
          <a:custGeom>
            <a:avLst/>
            <a:gdLst/>
            <a:ahLst/>
            <a:cxnLst/>
            <a:rect l="l" t="t" r="r" b="b"/>
            <a:pathLst>
              <a:path w="3840318" h="1459321">
                <a:moveTo>
                  <a:pt x="0" y="0"/>
                </a:moveTo>
                <a:lnTo>
                  <a:pt x="3840318" y="0"/>
                </a:lnTo>
                <a:lnTo>
                  <a:pt x="3840318" y="1459321"/>
                </a:lnTo>
                <a:lnTo>
                  <a:pt x="0" y="1459321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</p:sp>
      <p:sp>
        <p:nvSpPr>
          <p:cNvPr id="6" name="Freeform 6"/>
          <p:cNvSpPr/>
          <p:nvPr/>
        </p:nvSpPr>
        <p:spPr>
          <a:xfrm rot="-5656652">
            <a:off x="-1278841" y="7045711"/>
            <a:ext cx="2204077" cy="6482578"/>
          </a:xfrm>
          <a:custGeom>
            <a:avLst/>
            <a:gdLst/>
            <a:ahLst/>
            <a:cxnLst/>
            <a:rect l="l" t="t" r="r" b="b"/>
            <a:pathLst>
              <a:path w="2204077" h="6482578">
                <a:moveTo>
                  <a:pt x="0" y="0"/>
                </a:moveTo>
                <a:lnTo>
                  <a:pt x="2204077" y="0"/>
                </a:lnTo>
                <a:lnTo>
                  <a:pt x="2204077" y="6482578"/>
                </a:lnTo>
                <a:lnTo>
                  <a:pt x="0" y="6482578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7" name="Freeform 7"/>
          <p:cNvSpPr/>
          <p:nvPr/>
        </p:nvSpPr>
        <p:spPr>
          <a:xfrm rot="1400681">
            <a:off x="13471334" y="-49905"/>
            <a:ext cx="5167333" cy="1691127"/>
          </a:xfrm>
          <a:custGeom>
            <a:avLst/>
            <a:gdLst/>
            <a:ahLst/>
            <a:cxnLst/>
            <a:rect l="l" t="t" r="r" b="b"/>
            <a:pathLst>
              <a:path w="5167333" h="1691127">
                <a:moveTo>
                  <a:pt x="0" y="0"/>
                </a:moveTo>
                <a:lnTo>
                  <a:pt x="5167333" y="0"/>
                </a:lnTo>
                <a:lnTo>
                  <a:pt x="5167333" y="1691128"/>
                </a:lnTo>
                <a:lnTo>
                  <a:pt x="0" y="1691128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a:blipFill>
        </p:spPr>
      </p:sp>
      <p:sp>
        <p:nvSpPr>
          <p:cNvPr id="8" name="Freeform 8"/>
          <p:cNvSpPr/>
          <p:nvPr/>
        </p:nvSpPr>
        <p:spPr>
          <a:xfrm>
            <a:off x="7020856" y="9516891"/>
            <a:ext cx="3294690" cy="1078262"/>
          </a:xfrm>
          <a:custGeom>
            <a:avLst/>
            <a:gdLst/>
            <a:ahLst/>
            <a:cxnLst/>
            <a:rect l="l" t="t" r="r" b="b"/>
            <a:pathLst>
              <a:path w="3294690" h="1078262">
                <a:moveTo>
                  <a:pt x="0" y="0"/>
                </a:moveTo>
                <a:lnTo>
                  <a:pt x="3294691" y="0"/>
                </a:lnTo>
                <a:lnTo>
                  <a:pt x="3294691" y="1078262"/>
                </a:lnTo>
                <a:lnTo>
                  <a:pt x="0" y="1078262"/>
                </a:lnTo>
                <a:lnTo>
                  <a:pt x="0" y="0"/>
                </a:lnTo>
                <a:close/>
              </a:path>
            </a:pathLst>
          </a:custGeom>
          <a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a:blipFill>
        </p:spPr>
      </p:sp>
      <p:sp>
        <p:nvSpPr>
          <p:cNvPr id="9" name="Freeform 9"/>
          <p:cNvSpPr/>
          <p:nvPr/>
        </p:nvSpPr>
        <p:spPr>
          <a:xfrm>
            <a:off x="5141820" y="3904032"/>
            <a:ext cx="8622328" cy="6151989"/>
          </a:xfrm>
          <a:custGeom>
            <a:avLst/>
            <a:gdLst/>
            <a:ahLst/>
            <a:cxnLst/>
            <a:rect l="l" t="t" r="r" b="b"/>
            <a:pathLst>
              <a:path w="8622328" h="6151989">
                <a:moveTo>
                  <a:pt x="0" y="0"/>
                </a:moveTo>
                <a:lnTo>
                  <a:pt x="8622328" y="0"/>
                </a:lnTo>
                <a:lnTo>
                  <a:pt x="8622328" y="6151990"/>
                </a:lnTo>
                <a:lnTo>
                  <a:pt x="0" y="6151990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>
              <a:fillRect l="-29594" t="-78632" r="-36034" b="-149754"/>
            </a:stretch>
          </a:blipFill>
        </p:spPr>
      </p:sp>
      <p:sp>
        <p:nvSpPr>
          <p:cNvPr id="10" name="TextBox 10"/>
          <p:cNvSpPr txBox="1"/>
          <p:nvPr/>
        </p:nvSpPr>
        <p:spPr>
          <a:xfrm>
            <a:off x="2198009" y="3166767"/>
            <a:ext cx="5330329" cy="58039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759"/>
              </a:lnSpc>
            </a:pPr>
            <a:r>
              <a:rPr lang="en-US" sz="3399">
                <a:solidFill>
                  <a:srgbClr val="000000"/>
                </a:solidFill>
                <a:latin typeface="Canva Sans"/>
              </a:rPr>
              <a:t>Zeolites are of two types :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3972867" y="1644231"/>
            <a:ext cx="10342265" cy="124396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9659"/>
              </a:lnSpc>
            </a:pPr>
            <a:r>
              <a:rPr lang="en-US" sz="6899">
                <a:solidFill>
                  <a:srgbClr val="D66A12"/>
                </a:solidFill>
                <a:latin typeface="Childos Arabic Bold"/>
              </a:rPr>
              <a:t>{ NATURAL V/S SYNTHETIC }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9D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 descr="Fun Playful Simple Shape"/>
          <p:cNvSpPr/>
          <p:nvPr/>
        </p:nvSpPr>
        <p:spPr>
          <a:xfrm>
            <a:off x="6842012" y="-353986"/>
            <a:ext cx="5167333" cy="1691127"/>
          </a:xfrm>
          <a:custGeom>
            <a:avLst/>
            <a:gdLst/>
            <a:ahLst/>
            <a:cxnLst/>
            <a:rect l="l" t="t" r="r" b="b"/>
            <a:pathLst>
              <a:path w="5167333" h="1691127">
                <a:moveTo>
                  <a:pt x="0" y="0"/>
                </a:moveTo>
                <a:lnTo>
                  <a:pt x="5167333" y="0"/>
                </a:lnTo>
                <a:lnTo>
                  <a:pt x="5167333" y="1691127"/>
                </a:lnTo>
                <a:lnTo>
                  <a:pt x="0" y="1691127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3" name="Freeform 3" descr="Fun Playful Simple Shape"/>
          <p:cNvSpPr/>
          <p:nvPr/>
        </p:nvSpPr>
        <p:spPr>
          <a:xfrm rot="5400000">
            <a:off x="-776334" y="5457795"/>
            <a:ext cx="1998183" cy="1998183"/>
          </a:xfrm>
          <a:custGeom>
            <a:avLst/>
            <a:gdLst/>
            <a:ahLst/>
            <a:cxnLst/>
            <a:rect l="l" t="t" r="r" b="b"/>
            <a:pathLst>
              <a:path w="1998183" h="1998183">
                <a:moveTo>
                  <a:pt x="0" y="0"/>
                </a:moveTo>
                <a:lnTo>
                  <a:pt x="1998183" y="0"/>
                </a:lnTo>
                <a:lnTo>
                  <a:pt x="1998183" y="1998183"/>
                </a:lnTo>
                <a:lnTo>
                  <a:pt x="0" y="1998183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</p:sp>
      <p:sp>
        <p:nvSpPr>
          <p:cNvPr id="4" name="Freeform 4" descr="Fun Playful Simple Shape"/>
          <p:cNvSpPr/>
          <p:nvPr/>
        </p:nvSpPr>
        <p:spPr>
          <a:xfrm rot="1034028">
            <a:off x="6842012" y="9441436"/>
            <a:ext cx="5167333" cy="1691127"/>
          </a:xfrm>
          <a:custGeom>
            <a:avLst/>
            <a:gdLst/>
            <a:ahLst/>
            <a:cxnLst/>
            <a:rect l="l" t="t" r="r" b="b"/>
            <a:pathLst>
              <a:path w="5167333" h="1691127">
                <a:moveTo>
                  <a:pt x="0" y="0"/>
                </a:moveTo>
                <a:lnTo>
                  <a:pt x="5167333" y="0"/>
                </a:lnTo>
                <a:lnTo>
                  <a:pt x="5167333" y="1691128"/>
                </a:lnTo>
                <a:lnTo>
                  <a:pt x="0" y="1691128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5" name="Freeform 5" descr="Fun Playful Simple Scrapbook Shape"/>
          <p:cNvSpPr/>
          <p:nvPr/>
        </p:nvSpPr>
        <p:spPr>
          <a:xfrm>
            <a:off x="-176802" y="-353986"/>
            <a:ext cx="1853635" cy="1853635"/>
          </a:xfrm>
          <a:custGeom>
            <a:avLst/>
            <a:gdLst/>
            <a:ahLst/>
            <a:cxnLst/>
            <a:rect l="l" t="t" r="r" b="b"/>
            <a:pathLst>
              <a:path w="1853635" h="1853635">
                <a:moveTo>
                  <a:pt x="0" y="0"/>
                </a:moveTo>
                <a:lnTo>
                  <a:pt x="1853634" y="0"/>
                </a:lnTo>
                <a:lnTo>
                  <a:pt x="1853634" y="1853634"/>
                </a:lnTo>
                <a:lnTo>
                  <a:pt x="0" y="1853634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</p:sp>
      <p:sp>
        <p:nvSpPr>
          <p:cNvPr id="6" name="Freeform 6" descr="Fun Playful Simple Scrapbook Squiggle"/>
          <p:cNvSpPr/>
          <p:nvPr/>
        </p:nvSpPr>
        <p:spPr>
          <a:xfrm>
            <a:off x="16243206" y="129590"/>
            <a:ext cx="3294690" cy="1078262"/>
          </a:xfrm>
          <a:custGeom>
            <a:avLst/>
            <a:gdLst/>
            <a:ahLst/>
            <a:cxnLst/>
            <a:rect l="l" t="t" r="r" b="b"/>
            <a:pathLst>
              <a:path w="3294690" h="1078262">
                <a:moveTo>
                  <a:pt x="0" y="0"/>
                </a:moveTo>
                <a:lnTo>
                  <a:pt x="3294691" y="0"/>
                </a:lnTo>
                <a:lnTo>
                  <a:pt x="3294691" y="1078262"/>
                </a:lnTo>
                <a:lnTo>
                  <a:pt x="0" y="1078262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a:blipFill>
        </p:spPr>
      </p:sp>
      <p:sp>
        <p:nvSpPr>
          <p:cNvPr id="7" name="Freeform 7" descr="Organic Abstract Shape Illustration"/>
          <p:cNvSpPr/>
          <p:nvPr/>
        </p:nvSpPr>
        <p:spPr>
          <a:xfrm>
            <a:off x="-622350" y="7194793"/>
            <a:ext cx="4958949" cy="3723720"/>
          </a:xfrm>
          <a:custGeom>
            <a:avLst/>
            <a:gdLst/>
            <a:ahLst/>
            <a:cxnLst/>
            <a:rect l="l" t="t" r="r" b="b"/>
            <a:pathLst>
              <a:path w="4958949" h="3723720">
                <a:moveTo>
                  <a:pt x="0" y="0"/>
                </a:moveTo>
                <a:lnTo>
                  <a:pt x="4958949" y="0"/>
                </a:lnTo>
                <a:lnTo>
                  <a:pt x="4958949" y="3723719"/>
                </a:lnTo>
                <a:lnTo>
                  <a:pt x="0" y="3723719"/>
                </a:lnTo>
                <a:lnTo>
                  <a:pt x="0" y="0"/>
                </a:lnTo>
                <a:close/>
              </a:path>
            </a:pathLst>
          </a:custGeom>
          <a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a:blipFill>
        </p:spPr>
      </p:sp>
      <p:sp>
        <p:nvSpPr>
          <p:cNvPr id="8" name="Freeform 8" descr="Organic Abstract Shape Illustration"/>
          <p:cNvSpPr/>
          <p:nvPr/>
        </p:nvSpPr>
        <p:spPr>
          <a:xfrm>
            <a:off x="14359316" y="7396440"/>
            <a:ext cx="4958949" cy="3723720"/>
          </a:xfrm>
          <a:custGeom>
            <a:avLst/>
            <a:gdLst/>
            <a:ahLst/>
            <a:cxnLst/>
            <a:rect l="l" t="t" r="r" b="b"/>
            <a:pathLst>
              <a:path w="4958949" h="3723720">
                <a:moveTo>
                  <a:pt x="0" y="0"/>
                </a:moveTo>
                <a:lnTo>
                  <a:pt x="4958949" y="0"/>
                </a:lnTo>
                <a:lnTo>
                  <a:pt x="4958949" y="3723720"/>
                </a:lnTo>
                <a:lnTo>
                  <a:pt x="0" y="3723720"/>
                </a:lnTo>
                <a:lnTo>
                  <a:pt x="0" y="0"/>
                </a:lnTo>
                <a:close/>
              </a:path>
            </a:pathLst>
          </a:custGeom>
          <a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a:blipFill>
        </p:spPr>
      </p:sp>
      <p:grpSp>
        <p:nvGrpSpPr>
          <p:cNvPr id="9" name="Group 9"/>
          <p:cNvGrpSpPr/>
          <p:nvPr/>
        </p:nvGrpSpPr>
        <p:grpSpPr>
          <a:xfrm>
            <a:off x="750015" y="6262248"/>
            <a:ext cx="5317794" cy="3370834"/>
            <a:chOff x="0" y="0"/>
            <a:chExt cx="7090392" cy="4494445"/>
          </a:xfrm>
        </p:grpSpPr>
        <p:sp>
          <p:nvSpPr>
            <p:cNvPr id="10" name="TextBox 10"/>
            <p:cNvSpPr txBox="1"/>
            <p:nvPr/>
          </p:nvSpPr>
          <p:spPr>
            <a:xfrm>
              <a:off x="0" y="1052750"/>
              <a:ext cx="7090392" cy="3441694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ctr">
                <a:lnSpc>
                  <a:spcPts val="4136"/>
                </a:lnSpc>
              </a:pPr>
              <a:r>
                <a:rPr lang="en-US" sz="2954">
                  <a:solidFill>
                    <a:srgbClr val="000000"/>
                  </a:solidFill>
                  <a:latin typeface="Canva Sans"/>
                </a:rPr>
                <a:t>Zeolites with pore sizes less than 2 nanometers, ideal for molecular sieving applications due to their small pore size.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0" y="-66675"/>
              <a:ext cx="7090392" cy="743048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ctr">
                <a:lnSpc>
                  <a:spcPts val="4727"/>
                </a:lnSpc>
              </a:pPr>
              <a:r>
                <a:rPr lang="en-US" sz="3376">
                  <a:solidFill>
                    <a:srgbClr val="000000"/>
                  </a:solidFill>
                  <a:latin typeface="Canva Sans Bold"/>
                </a:rPr>
                <a:t>Microporous Zeolites</a:t>
              </a:r>
              <a:r>
                <a:rPr lang="en-US" sz="3376">
                  <a:solidFill>
                    <a:srgbClr val="000000"/>
                  </a:solidFill>
                  <a:latin typeface="Canva Sans"/>
                </a:rPr>
                <a:t>:</a:t>
              </a:r>
            </a:p>
          </p:txBody>
        </p:sp>
      </p:grpSp>
      <p:sp>
        <p:nvSpPr>
          <p:cNvPr id="12" name="TextBox 12"/>
          <p:cNvSpPr txBox="1"/>
          <p:nvPr/>
        </p:nvSpPr>
        <p:spPr>
          <a:xfrm>
            <a:off x="2090546" y="1257300"/>
            <a:ext cx="14106909" cy="12287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9119"/>
              </a:lnSpc>
            </a:pPr>
            <a:r>
              <a:rPr lang="en-US" sz="7599">
                <a:solidFill>
                  <a:srgbClr val="D49314"/>
                </a:solidFill>
                <a:latin typeface="Childos Arabic"/>
              </a:rPr>
              <a:t>CLASSIFICATION OF ZEOLITES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3557396" y="3056215"/>
            <a:ext cx="11173209" cy="5619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4439"/>
              </a:lnSpc>
            </a:pPr>
            <a:r>
              <a:rPr lang="en-US" sz="3699">
                <a:solidFill>
                  <a:srgbClr val="000000"/>
                </a:solidFill>
                <a:latin typeface="Canva Sans Bold"/>
              </a:rPr>
              <a:t>Based on Pore Size and Shape:</a:t>
            </a:r>
          </a:p>
        </p:txBody>
      </p:sp>
      <p:sp>
        <p:nvSpPr>
          <p:cNvPr id="14" name="AutoShape 14"/>
          <p:cNvSpPr/>
          <p:nvPr/>
        </p:nvSpPr>
        <p:spPr>
          <a:xfrm>
            <a:off x="1028700" y="5429250"/>
            <a:ext cx="16230600" cy="38100"/>
          </a:xfrm>
          <a:prstGeom prst="rect">
            <a:avLst/>
          </a:prstGeom>
          <a:solidFill>
            <a:srgbClr val="D49314"/>
          </a:solidFill>
        </p:spPr>
      </p:sp>
      <p:sp>
        <p:nvSpPr>
          <p:cNvPr id="15" name="AutoShape 15"/>
          <p:cNvSpPr/>
          <p:nvPr/>
        </p:nvSpPr>
        <p:spPr>
          <a:xfrm>
            <a:off x="2386204" y="5257800"/>
            <a:ext cx="2324100" cy="381000"/>
          </a:xfrm>
          <a:prstGeom prst="rect">
            <a:avLst/>
          </a:prstGeom>
          <a:solidFill>
            <a:srgbClr val="FFCB65"/>
          </a:solidFill>
        </p:spPr>
      </p:sp>
      <p:grpSp>
        <p:nvGrpSpPr>
          <p:cNvPr id="16" name="Group 16"/>
          <p:cNvGrpSpPr/>
          <p:nvPr/>
        </p:nvGrpSpPr>
        <p:grpSpPr>
          <a:xfrm>
            <a:off x="6337424" y="6262248"/>
            <a:ext cx="5326130" cy="3278060"/>
            <a:chOff x="0" y="0"/>
            <a:chExt cx="7101507" cy="4370747"/>
          </a:xfrm>
        </p:grpSpPr>
        <p:sp>
          <p:nvSpPr>
            <p:cNvPr id="17" name="TextBox 17"/>
            <p:cNvSpPr txBox="1"/>
            <p:nvPr/>
          </p:nvSpPr>
          <p:spPr>
            <a:xfrm>
              <a:off x="0" y="1064015"/>
              <a:ext cx="7101507" cy="3306731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ctr">
                <a:lnSpc>
                  <a:spcPts val="3998"/>
                </a:lnSpc>
              </a:pPr>
              <a:r>
                <a:rPr lang="en-US" sz="2856">
                  <a:solidFill>
                    <a:srgbClr val="000000"/>
                  </a:solidFill>
                  <a:latin typeface="Canva Sans"/>
                </a:rPr>
                <a:t>Zeolites featuring pore sizes ranging from 2 to 50 nanometers, suitable for adsorption and catalysis of medium-sized molecules.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0" y="-66675"/>
              <a:ext cx="7101507" cy="744108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ctr">
                <a:lnSpc>
                  <a:spcPts val="4735"/>
                </a:lnSpc>
              </a:pPr>
              <a:r>
                <a:rPr lang="en-US" sz="3382">
                  <a:solidFill>
                    <a:srgbClr val="000000"/>
                  </a:solidFill>
                  <a:latin typeface="Canva Sans Bold"/>
                </a:rPr>
                <a:t>Mesoporous Zeolites:</a:t>
              </a:r>
            </a:p>
          </p:txBody>
        </p:sp>
      </p:grpSp>
      <p:sp>
        <p:nvSpPr>
          <p:cNvPr id="19" name="AutoShape 19"/>
          <p:cNvSpPr/>
          <p:nvPr/>
        </p:nvSpPr>
        <p:spPr>
          <a:xfrm>
            <a:off x="7981950" y="5257800"/>
            <a:ext cx="2324100" cy="381000"/>
          </a:xfrm>
          <a:prstGeom prst="rect">
            <a:avLst/>
          </a:prstGeom>
          <a:solidFill>
            <a:srgbClr val="FFCB65"/>
          </a:solidFill>
        </p:spPr>
      </p:sp>
      <p:grpSp>
        <p:nvGrpSpPr>
          <p:cNvPr id="20" name="Group 20"/>
          <p:cNvGrpSpPr/>
          <p:nvPr/>
        </p:nvGrpSpPr>
        <p:grpSpPr>
          <a:xfrm>
            <a:off x="11933176" y="6262248"/>
            <a:ext cx="5326124" cy="3278124"/>
            <a:chOff x="0" y="0"/>
            <a:chExt cx="7101499" cy="4370831"/>
          </a:xfrm>
        </p:grpSpPr>
        <p:sp>
          <p:nvSpPr>
            <p:cNvPr id="21" name="TextBox 21"/>
            <p:cNvSpPr txBox="1"/>
            <p:nvPr/>
          </p:nvSpPr>
          <p:spPr>
            <a:xfrm>
              <a:off x="0" y="1064014"/>
              <a:ext cx="7101499" cy="3306817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ctr">
                <a:lnSpc>
                  <a:spcPts val="3995"/>
                </a:lnSpc>
              </a:pPr>
              <a:r>
                <a:rPr lang="en-US" sz="2853">
                  <a:solidFill>
                    <a:srgbClr val="000000"/>
                  </a:solidFill>
                  <a:latin typeface="Canva Sans"/>
                </a:rPr>
                <a:t>Zeolites characterized by pore sizes greater than 50 nanometers, utilized in larger-scale separations and industrial processes.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0" y="-66675"/>
              <a:ext cx="7101499" cy="744107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ctr">
                <a:lnSpc>
                  <a:spcPts val="4735"/>
                </a:lnSpc>
              </a:pPr>
              <a:r>
                <a:rPr lang="en-US" sz="3382">
                  <a:solidFill>
                    <a:srgbClr val="000000"/>
                  </a:solidFill>
                  <a:latin typeface="Canva Sans Bold"/>
                </a:rPr>
                <a:t>Macroporous Zeolites:</a:t>
              </a:r>
            </a:p>
          </p:txBody>
        </p:sp>
      </p:grpSp>
      <p:sp>
        <p:nvSpPr>
          <p:cNvPr id="23" name="AutoShape 23"/>
          <p:cNvSpPr/>
          <p:nvPr/>
        </p:nvSpPr>
        <p:spPr>
          <a:xfrm>
            <a:off x="13577696" y="5257800"/>
            <a:ext cx="2324100" cy="381000"/>
          </a:xfrm>
          <a:prstGeom prst="rect">
            <a:avLst/>
          </a:prstGeom>
          <a:solidFill>
            <a:srgbClr val="FFCB65"/>
          </a:solidFill>
        </p:spPr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9D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 descr="Fun Playful Simple Shape"/>
          <p:cNvSpPr/>
          <p:nvPr/>
        </p:nvSpPr>
        <p:spPr>
          <a:xfrm>
            <a:off x="6842012" y="-353986"/>
            <a:ext cx="5167333" cy="1691127"/>
          </a:xfrm>
          <a:custGeom>
            <a:avLst/>
            <a:gdLst/>
            <a:ahLst/>
            <a:cxnLst/>
            <a:rect l="l" t="t" r="r" b="b"/>
            <a:pathLst>
              <a:path w="5167333" h="1691127">
                <a:moveTo>
                  <a:pt x="0" y="0"/>
                </a:moveTo>
                <a:lnTo>
                  <a:pt x="5167333" y="0"/>
                </a:lnTo>
                <a:lnTo>
                  <a:pt x="5167333" y="1691127"/>
                </a:lnTo>
                <a:lnTo>
                  <a:pt x="0" y="1691127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3" name="Freeform 3" descr="Fun Playful Simple Shape"/>
          <p:cNvSpPr/>
          <p:nvPr/>
        </p:nvSpPr>
        <p:spPr>
          <a:xfrm rot="5400000">
            <a:off x="-776334" y="5457795"/>
            <a:ext cx="1998183" cy="1998183"/>
          </a:xfrm>
          <a:custGeom>
            <a:avLst/>
            <a:gdLst/>
            <a:ahLst/>
            <a:cxnLst/>
            <a:rect l="l" t="t" r="r" b="b"/>
            <a:pathLst>
              <a:path w="1998183" h="1998183">
                <a:moveTo>
                  <a:pt x="0" y="0"/>
                </a:moveTo>
                <a:lnTo>
                  <a:pt x="1998183" y="0"/>
                </a:lnTo>
                <a:lnTo>
                  <a:pt x="1998183" y="1998183"/>
                </a:lnTo>
                <a:lnTo>
                  <a:pt x="0" y="1998183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</p:sp>
      <p:sp>
        <p:nvSpPr>
          <p:cNvPr id="4" name="Freeform 4" descr="Fun Playful Simple Shape"/>
          <p:cNvSpPr/>
          <p:nvPr/>
        </p:nvSpPr>
        <p:spPr>
          <a:xfrm rot="1034028">
            <a:off x="6842012" y="9441436"/>
            <a:ext cx="5167333" cy="1691127"/>
          </a:xfrm>
          <a:custGeom>
            <a:avLst/>
            <a:gdLst/>
            <a:ahLst/>
            <a:cxnLst/>
            <a:rect l="l" t="t" r="r" b="b"/>
            <a:pathLst>
              <a:path w="5167333" h="1691127">
                <a:moveTo>
                  <a:pt x="0" y="0"/>
                </a:moveTo>
                <a:lnTo>
                  <a:pt x="5167333" y="0"/>
                </a:lnTo>
                <a:lnTo>
                  <a:pt x="5167333" y="1691128"/>
                </a:lnTo>
                <a:lnTo>
                  <a:pt x="0" y="1691128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5" name="Freeform 5" descr="Fun Playful Simple Scrapbook Shape"/>
          <p:cNvSpPr/>
          <p:nvPr/>
        </p:nvSpPr>
        <p:spPr>
          <a:xfrm>
            <a:off x="-176802" y="-353986"/>
            <a:ext cx="1853635" cy="1853635"/>
          </a:xfrm>
          <a:custGeom>
            <a:avLst/>
            <a:gdLst/>
            <a:ahLst/>
            <a:cxnLst/>
            <a:rect l="l" t="t" r="r" b="b"/>
            <a:pathLst>
              <a:path w="1853635" h="1853635">
                <a:moveTo>
                  <a:pt x="0" y="0"/>
                </a:moveTo>
                <a:lnTo>
                  <a:pt x="1853634" y="0"/>
                </a:lnTo>
                <a:lnTo>
                  <a:pt x="1853634" y="1853634"/>
                </a:lnTo>
                <a:lnTo>
                  <a:pt x="0" y="1853634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</p:sp>
      <p:sp>
        <p:nvSpPr>
          <p:cNvPr id="6" name="Freeform 6" descr="Fun Playful Simple Scrapbook Squiggle"/>
          <p:cNvSpPr/>
          <p:nvPr/>
        </p:nvSpPr>
        <p:spPr>
          <a:xfrm>
            <a:off x="16243206" y="129590"/>
            <a:ext cx="3294690" cy="1078262"/>
          </a:xfrm>
          <a:custGeom>
            <a:avLst/>
            <a:gdLst/>
            <a:ahLst/>
            <a:cxnLst/>
            <a:rect l="l" t="t" r="r" b="b"/>
            <a:pathLst>
              <a:path w="3294690" h="1078262">
                <a:moveTo>
                  <a:pt x="0" y="0"/>
                </a:moveTo>
                <a:lnTo>
                  <a:pt x="3294691" y="0"/>
                </a:lnTo>
                <a:lnTo>
                  <a:pt x="3294691" y="1078262"/>
                </a:lnTo>
                <a:lnTo>
                  <a:pt x="0" y="1078262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a:blipFill>
        </p:spPr>
      </p:sp>
      <p:sp>
        <p:nvSpPr>
          <p:cNvPr id="7" name="Freeform 7" descr="Organic Abstract Shape Illustration"/>
          <p:cNvSpPr/>
          <p:nvPr/>
        </p:nvSpPr>
        <p:spPr>
          <a:xfrm>
            <a:off x="-622350" y="7194793"/>
            <a:ext cx="4958949" cy="3723720"/>
          </a:xfrm>
          <a:custGeom>
            <a:avLst/>
            <a:gdLst/>
            <a:ahLst/>
            <a:cxnLst/>
            <a:rect l="l" t="t" r="r" b="b"/>
            <a:pathLst>
              <a:path w="4958949" h="3723720">
                <a:moveTo>
                  <a:pt x="0" y="0"/>
                </a:moveTo>
                <a:lnTo>
                  <a:pt x="4958949" y="0"/>
                </a:lnTo>
                <a:lnTo>
                  <a:pt x="4958949" y="3723719"/>
                </a:lnTo>
                <a:lnTo>
                  <a:pt x="0" y="3723719"/>
                </a:lnTo>
                <a:lnTo>
                  <a:pt x="0" y="0"/>
                </a:lnTo>
                <a:close/>
              </a:path>
            </a:pathLst>
          </a:custGeom>
          <a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a:blipFill>
        </p:spPr>
      </p:sp>
      <p:sp>
        <p:nvSpPr>
          <p:cNvPr id="8" name="Freeform 8" descr="Organic Abstract Shape Illustration"/>
          <p:cNvSpPr/>
          <p:nvPr/>
        </p:nvSpPr>
        <p:spPr>
          <a:xfrm>
            <a:off x="14359316" y="7396440"/>
            <a:ext cx="4958949" cy="3723720"/>
          </a:xfrm>
          <a:custGeom>
            <a:avLst/>
            <a:gdLst/>
            <a:ahLst/>
            <a:cxnLst/>
            <a:rect l="l" t="t" r="r" b="b"/>
            <a:pathLst>
              <a:path w="4958949" h="3723720">
                <a:moveTo>
                  <a:pt x="0" y="0"/>
                </a:moveTo>
                <a:lnTo>
                  <a:pt x="4958949" y="0"/>
                </a:lnTo>
                <a:lnTo>
                  <a:pt x="4958949" y="3723720"/>
                </a:lnTo>
                <a:lnTo>
                  <a:pt x="0" y="3723720"/>
                </a:lnTo>
                <a:lnTo>
                  <a:pt x="0" y="0"/>
                </a:lnTo>
                <a:close/>
              </a:path>
            </a:pathLst>
          </a:custGeom>
          <a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a:blipFill>
        </p:spPr>
      </p:sp>
      <p:grpSp>
        <p:nvGrpSpPr>
          <p:cNvPr id="9" name="Group 9"/>
          <p:cNvGrpSpPr/>
          <p:nvPr/>
        </p:nvGrpSpPr>
        <p:grpSpPr>
          <a:xfrm>
            <a:off x="8092377" y="0"/>
            <a:ext cx="10195623" cy="10594713"/>
            <a:chOff x="0" y="0"/>
            <a:chExt cx="1901533" cy="1975965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1901533" cy="1975965"/>
            </a:xfrm>
            <a:custGeom>
              <a:avLst/>
              <a:gdLst/>
              <a:ahLst/>
              <a:cxnLst/>
              <a:rect l="l" t="t" r="r" b="b"/>
              <a:pathLst>
                <a:path w="1901533" h="1975965">
                  <a:moveTo>
                    <a:pt x="0" y="0"/>
                  </a:moveTo>
                  <a:lnTo>
                    <a:pt x="1901533" y="0"/>
                  </a:lnTo>
                  <a:lnTo>
                    <a:pt x="1901533" y="1975965"/>
                  </a:lnTo>
                  <a:lnTo>
                    <a:pt x="0" y="1975965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</p:sp>
      </p:grpSp>
      <p:sp>
        <p:nvSpPr>
          <p:cNvPr id="11" name="Freeform 11"/>
          <p:cNvSpPr/>
          <p:nvPr/>
        </p:nvSpPr>
        <p:spPr>
          <a:xfrm>
            <a:off x="2850256" y="5695950"/>
            <a:ext cx="5507551" cy="4138531"/>
          </a:xfrm>
          <a:custGeom>
            <a:avLst/>
            <a:gdLst/>
            <a:ahLst/>
            <a:cxnLst/>
            <a:rect l="l" t="t" r="r" b="b"/>
            <a:pathLst>
              <a:path w="5507551" h="4138531">
                <a:moveTo>
                  <a:pt x="0" y="0"/>
                </a:moveTo>
                <a:lnTo>
                  <a:pt x="5507551" y="0"/>
                </a:lnTo>
                <a:lnTo>
                  <a:pt x="5507551" y="4138531"/>
                </a:lnTo>
                <a:lnTo>
                  <a:pt x="0" y="4138531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>
              <a:fillRect/>
            </a:stretch>
          </a:blipFill>
        </p:spPr>
      </p:sp>
      <p:grpSp>
        <p:nvGrpSpPr>
          <p:cNvPr id="12" name="Group 12"/>
          <p:cNvGrpSpPr/>
          <p:nvPr/>
        </p:nvGrpSpPr>
        <p:grpSpPr>
          <a:xfrm>
            <a:off x="9754790" y="1885911"/>
            <a:ext cx="7504510" cy="2105993"/>
            <a:chOff x="0" y="0"/>
            <a:chExt cx="10006013" cy="2807991"/>
          </a:xfrm>
        </p:grpSpPr>
        <p:sp>
          <p:nvSpPr>
            <p:cNvPr id="13" name="TextBox 13"/>
            <p:cNvSpPr txBox="1"/>
            <p:nvPr/>
          </p:nvSpPr>
          <p:spPr>
            <a:xfrm>
              <a:off x="0" y="958024"/>
              <a:ext cx="10006013" cy="1849967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863598" lvl="2" indent="-287866" algn="l">
                <a:lnSpc>
                  <a:spcPts val="2799"/>
                </a:lnSpc>
                <a:spcBef>
                  <a:spcPct val="0"/>
                </a:spcBef>
                <a:buFont typeface="Arial"/>
                <a:buChar char="⚬"/>
              </a:pPr>
              <a:r>
                <a:rPr lang="en-US" sz="1999" u="none">
                  <a:solidFill>
                    <a:srgbClr val="000000"/>
                  </a:solidFill>
                  <a:latin typeface="Canva Sans"/>
                </a:rPr>
                <a:t>Si/Al ratio of less than 2.</a:t>
              </a:r>
            </a:p>
            <a:p>
              <a:pPr marL="863598" lvl="2" indent="-287866" algn="l">
                <a:lnSpc>
                  <a:spcPts val="2799"/>
                </a:lnSpc>
                <a:spcBef>
                  <a:spcPct val="0"/>
                </a:spcBef>
                <a:buFont typeface="Arial"/>
                <a:buChar char="⚬"/>
              </a:pPr>
              <a:r>
                <a:rPr lang="en-US" sz="1999" u="none">
                  <a:solidFill>
                    <a:srgbClr val="000000"/>
                  </a:solidFill>
                  <a:latin typeface="Canva Sans"/>
                </a:rPr>
                <a:t>They are typically less acidic compared to their high Si/Al ratio counterparts.</a:t>
              </a:r>
            </a:p>
            <a:p>
              <a:pPr marL="863598" lvl="2" indent="-287866" algn="l">
                <a:lnSpc>
                  <a:spcPts val="2799"/>
                </a:lnSpc>
                <a:spcBef>
                  <a:spcPct val="0"/>
                </a:spcBef>
                <a:buFont typeface="Arial"/>
                <a:buChar char="⚬"/>
              </a:pPr>
              <a:r>
                <a:rPr lang="en-US" sz="1999" u="none">
                  <a:solidFill>
                    <a:srgbClr val="000000"/>
                  </a:solidFill>
                  <a:latin typeface="Canva Sans"/>
                </a:rPr>
                <a:t>Examples include Zeolite X and Zeolite L (Linnaeite).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0" y="-66675"/>
              <a:ext cx="10006013" cy="762297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l">
                <a:lnSpc>
                  <a:spcPts val="4843"/>
                </a:lnSpc>
                <a:spcBef>
                  <a:spcPct val="0"/>
                </a:spcBef>
              </a:pPr>
              <a:r>
                <a:rPr lang="en-US" sz="3459" u="none">
                  <a:solidFill>
                    <a:srgbClr val="000000"/>
                  </a:solidFill>
                  <a:latin typeface="Canva Sans Bold"/>
                </a:rPr>
                <a:t>Low Si/Al Ratio Zeolites:</a:t>
              </a:r>
            </a:p>
          </p:txBody>
        </p:sp>
      </p:grpSp>
      <p:grpSp>
        <p:nvGrpSpPr>
          <p:cNvPr id="15" name="Group 15"/>
          <p:cNvGrpSpPr/>
          <p:nvPr/>
        </p:nvGrpSpPr>
        <p:grpSpPr>
          <a:xfrm>
            <a:off x="9754790" y="4079159"/>
            <a:ext cx="7504510" cy="2111234"/>
            <a:chOff x="0" y="0"/>
            <a:chExt cx="10006013" cy="2814979"/>
          </a:xfrm>
        </p:grpSpPr>
        <p:sp>
          <p:nvSpPr>
            <p:cNvPr id="16" name="TextBox 16"/>
            <p:cNvSpPr txBox="1"/>
            <p:nvPr/>
          </p:nvSpPr>
          <p:spPr>
            <a:xfrm>
              <a:off x="0" y="965012"/>
              <a:ext cx="10006013" cy="1849967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863598" lvl="2" indent="-287866" algn="l">
                <a:lnSpc>
                  <a:spcPts val="2799"/>
                </a:lnSpc>
                <a:spcBef>
                  <a:spcPct val="0"/>
                </a:spcBef>
                <a:buFont typeface="Arial"/>
                <a:buChar char="⚬"/>
              </a:pPr>
              <a:r>
                <a:rPr lang="en-US" sz="1999" u="none">
                  <a:solidFill>
                    <a:srgbClr val="000000"/>
                  </a:solidFill>
                  <a:latin typeface="Canva Sans"/>
                </a:rPr>
                <a:t>They have Si/Al ratios ranging between 2 and 10, offering moderate acidity and framework rigidity.</a:t>
              </a:r>
            </a:p>
            <a:p>
              <a:pPr marL="863598" lvl="2" indent="-287866" algn="l">
                <a:lnSpc>
                  <a:spcPts val="2799"/>
                </a:lnSpc>
                <a:spcBef>
                  <a:spcPct val="0"/>
                </a:spcBef>
                <a:buFont typeface="Arial"/>
                <a:buChar char="⚬"/>
              </a:pPr>
              <a:r>
                <a:rPr lang="en-US" sz="1999" u="none">
                  <a:solidFill>
                    <a:srgbClr val="000000"/>
                  </a:solidFill>
                  <a:latin typeface="Canva Sans"/>
                </a:rPr>
                <a:t>Zeolite A (Linde Type A) and ZSM-11 are common examples.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0" y="-66675"/>
              <a:ext cx="10006013" cy="762296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l">
                <a:lnSpc>
                  <a:spcPts val="4843"/>
                </a:lnSpc>
                <a:spcBef>
                  <a:spcPct val="0"/>
                </a:spcBef>
              </a:pPr>
              <a:r>
                <a:rPr lang="en-US" sz="3459" u="none">
                  <a:solidFill>
                    <a:srgbClr val="000000"/>
                  </a:solidFill>
                  <a:latin typeface="Canva Sans Bold"/>
                </a:rPr>
                <a:t>Intermediate Si/Al Ratio Zeolites:</a:t>
              </a:r>
            </a:p>
          </p:txBody>
        </p:sp>
      </p:grpSp>
      <p:grpSp>
        <p:nvGrpSpPr>
          <p:cNvPr id="18" name="Group 18"/>
          <p:cNvGrpSpPr/>
          <p:nvPr/>
        </p:nvGrpSpPr>
        <p:grpSpPr>
          <a:xfrm>
            <a:off x="9754790" y="6784636"/>
            <a:ext cx="7504510" cy="2111234"/>
            <a:chOff x="0" y="0"/>
            <a:chExt cx="10006013" cy="2814979"/>
          </a:xfrm>
        </p:grpSpPr>
        <p:sp>
          <p:nvSpPr>
            <p:cNvPr id="19" name="TextBox 19"/>
            <p:cNvSpPr txBox="1"/>
            <p:nvPr/>
          </p:nvSpPr>
          <p:spPr>
            <a:xfrm>
              <a:off x="0" y="965012"/>
              <a:ext cx="10006013" cy="1849967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863598" lvl="2" indent="-287866" algn="l">
                <a:lnSpc>
                  <a:spcPts val="2799"/>
                </a:lnSpc>
                <a:spcBef>
                  <a:spcPct val="0"/>
                </a:spcBef>
                <a:buFont typeface="Arial"/>
                <a:buChar char="⚬"/>
              </a:pPr>
              <a:r>
                <a:rPr lang="en-US" sz="1999" u="none">
                  <a:solidFill>
                    <a:srgbClr val="000000"/>
                  </a:solidFill>
                  <a:latin typeface="Canva Sans"/>
                </a:rPr>
                <a:t>Characterized by a Si/Al ratio greater than 10, typically acidic in nature.</a:t>
              </a:r>
            </a:p>
            <a:p>
              <a:pPr marL="863598" lvl="2" indent="-287866" algn="l">
                <a:lnSpc>
                  <a:spcPts val="2799"/>
                </a:lnSpc>
                <a:spcBef>
                  <a:spcPct val="0"/>
                </a:spcBef>
                <a:buFont typeface="Arial"/>
                <a:buChar char="⚬"/>
              </a:pPr>
              <a:r>
                <a:rPr lang="en-US" sz="1999" u="none">
                  <a:solidFill>
                    <a:srgbClr val="000000"/>
                  </a:solidFill>
                  <a:latin typeface="Canva Sans"/>
                </a:rPr>
                <a:t>Zeolite Y, ZSM-5, and Beta Zeolite are prominent examples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0" y="-66675"/>
              <a:ext cx="10006013" cy="762296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l">
                <a:lnSpc>
                  <a:spcPts val="4843"/>
                </a:lnSpc>
                <a:spcBef>
                  <a:spcPct val="0"/>
                </a:spcBef>
              </a:pPr>
              <a:r>
                <a:rPr lang="en-US" sz="3459" u="none">
                  <a:solidFill>
                    <a:srgbClr val="000000"/>
                  </a:solidFill>
                  <a:latin typeface="Canva Sans Bold"/>
                </a:rPr>
                <a:t>High Si/Al Ratio Zeolites:</a:t>
              </a:r>
            </a:p>
          </p:txBody>
        </p:sp>
      </p:grpSp>
      <p:sp>
        <p:nvSpPr>
          <p:cNvPr id="21" name="TextBox 21"/>
          <p:cNvSpPr txBox="1"/>
          <p:nvPr/>
        </p:nvSpPr>
        <p:spPr>
          <a:xfrm>
            <a:off x="1028700" y="1885911"/>
            <a:ext cx="7329107" cy="233002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8822"/>
              </a:lnSpc>
              <a:spcBef>
                <a:spcPct val="0"/>
              </a:spcBef>
            </a:pPr>
            <a:r>
              <a:rPr lang="en-US" sz="8020" u="none">
                <a:solidFill>
                  <a:srgbClr val="D49314"/>
                </a:solidFill>
                <a:latin typeface="Childos Arabic"/>
              </a:rPr>
              <a:t>CLASSIFICATION OF ZEOLITES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2260955" y="4530090"/>
            <a:ext cx="5831422" cy="6134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5040"/>
              </a:lnSpc>
              <a:spcBef>
                <a:spcPct val="0"/>
              </a:spcBef>
            </a:pPr>
            <a:r>
              <a:rPr lang="en-US" sz="3600" u="none">
                <a:solidFill>
                  <a:srgbClr val="000000"/>
                </a:solidFill>
                <a:latin typeface="Canva Sans Bold"/>
              </a:rPr>
              <a:t>Based on Si/Al Ratio: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9D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6842012" y="-353986"/>
            <a:ext cx="5167333" cy="1691127"/>
          </a:xfrm>
          <a:custGeom>
            <a:avLst/>
            <a:gdLst/>
            <a:ahLst/>
            <a:cxnLst/>
            <a:rect l="l" t="t" r="r" b="b"/>
            <a:pathLst>
              <a:path w="5167333" h="1691127">
                <a:moveTo>
                  <a:pt x="0" y="0"/>
                </a:moveTo>
                <a:lnTo>
                  <a:pt x="5167333" y="0"/>
                </a:lnTo>
                <a:lnTo>
                  <a:pt x="5167333" y="1691127"/>
                </a:lnTo>
                <a:lnTo>
                  <a:pt x="0" y="1691127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3" name="Freeform 3"/>
          <p:cNvSpPr/>
          <p:nvPr/>
        </p:nvSpPr>
        <p:spPr>
          <a:xfrm rot="6476524">
            <a:off x="16123629" y="4321039"/>
            <a:ext cx="4328742" cy="1644922"/>
          </a:xfrm>
          <a:custGeom>
            <a:avLst/>
            <a:gdLst/>
            <a:ahLst/>
            <a:cxnLst/>
            <a:rect l="l" t="t" r="r" b="b"/>
            <a:pathLst>
              <a:path w="4328742" h="1644922">
                <a:moveTo>
                  <a:pt x="0" y="0"/>
                </a:moveTo>
                <a:lnTo>
                  <a:pt x="4328742" y="0"/>
                </a:lnTo>
                <a:lnTo>
                  <a:pt x="4328742" y="1644922"/>
                </a:lnTo>
                <a:lnTo>
                  <a:pt x="0" y="1644922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</p:sp>
      <p:sp>
        <p:nvSpPr>
          <p:cNvPr id="4" name="Freeform 4"/>
          <p:cNvSpPr/>
          <p:nvPr/>
        </p:nvSpPr>
        <p:spPr>
          <a:xfrm rot="5400000">
            <a:off x="-776334" y="5457795"/>
            <a:ext cx="1998183" cy="1998183"/>
          </a:xfrm>
          <a:custGeom>
            <a:avLst/>
            <a:gdLst/>
            <a:ahLst/>
            <a:cxnLst/>
            <a:rect l="l" t="t" r="r" b="b"/>
            <a:pathLst>
              <a:path w="1998183" h="1998183">
                <a:moveTo>
                  <a:pt x="0" y="0"/>
                </a:moveTo>
                <a:lnTo>
                  <a:pt x="1998183" y="0"/>
                </a:lnTo>
                <a:lnTo>
                  <a:pt x="1998183" y="1998183"/>
                </a:lnTo>
                <a:lnTo>
                  <a:pt x="0" y="1998183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</p:sp>
      <p:sp>
        <p:nvSpPr>
          <p:cNvPr id="5" name="Freeform 5"/>
          <p:cNvSpPr/>
          <p:nvPr/>
        </p:nvSpPr>
        <p:spPr>
          <a:xfrm rot="1034028">
            <a:off x="6842012" y="9441436"/>
            <a:ext cx="5167333" cy="1691127"/>
          </a:xfrm>
          <a:custGeom>
            <a:avLst/>
            <a:gdLst/>
            <a:ahLst/>
            <a:cxnLst/>
            <a:rect l="l" t="t" r="r" b="b"/>
            <a:pathLst>
              <a:path w="5167333" h="1691127">
                <a:moveTo>
                  <a:pt x="0" y="0"/>
                </a:moveTo>
                <a:lnTo>
                  <a:pt x="5167333" y="0"/>
                </a:lnTo>
                <a:lnTo>
                  <a:pt x="5167333" y="1691128"/>
                </a:lnTo>
                <a:lnTo>
                  <a:pt x="0" y="1691128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6" name="Freeform 6"/>
          <p:cNvSpPr/>
          <p:nvPr/>
        </p:nvSpPr>
        <p:spPr>
          <a:xfrm>
            <a:off x="-176802" y="-353986"/>
            <a:ext cx="1853635" cy="1853635"/>
          </a:xfrm>
          <a:custGeom>
            <a:avLst/>
            <a:gdLst/>
            <a:ahLst/>
            <a:cxnLst/>
            <a:rect l="l" t="t" r="r" b="b"/>
            <a:pathLst>
              <a:path w="1853635" h="1853635">
                <a:moveTo>
                  <a:pt x="0" y="0"/>
                </a:moveTo>
                <a:lnTo>
                  <a:pt x="1853634" y="0"/>
                </a:lnTo>
                <a:lnTo>
                  <a:pt x="1853634" y="1853634"/>
                </a:lnTo>
                <a:lnTo>
                  <a:pt x="0" y="1853634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a:blipFill>
        </p:spPr>
      </p:sp>
      <p:sp>
        <p:nvSpPr>
          <p:cNvPr id="7" name="Freeform 7"/>
          <p:cNvSpPr/>
          <p:nvPr/>
        </p:nvSpPr>
        <p:spPr>
          <a:xfrm>
            <a:off x="16243206" y="129590"/>
            <a:ext cx="3294690" cy="1078262"/>
          </a:xfrm>
          <a:custGeom>
            <a:avLst/>
            <a:gdLst/>
            <a:ahLst/>
            <a:cxnLst/>
            <a:rect l="l" t="t" r="r" b="b"/>
            <a:pathLst>
              <a:path w="3294690" h="1078262">
                <a:moveTo>
                  <a:pt x="0" y="0"/>
                </a:moveTo>
                <a:lnTo>
                  <a:pt x="3294691" y="0"/>
                </a:lnTo>
                <a:lnTo>
                  <a:pt x="3294691" y="1078262"/>
                </a:lnTo>
                <a:lnTo>
                  <a:pt x="0" y="1078262"/>
                </a:lnTo>
                <a:lnTo>
                  <a:pt x="0" y="0"/>
                </a:lnTo>
                <a:close/>
              </a:path>
            </a:pathLst>
          </a:custGeom>
          <a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a:blipFill>
        </p:spPr>
      </p:sp>
      <p:sp>
        <p:nvSpPr>
          <p:cNvPr id="8" name="Freeform 8"/>
          <p:cNvSpPr/>
          <p:nvPr/>
        </p:nvSpPr>
        <p:spPr>
          <a:xfrm>
            <a:off x="-622350" y="7194793"/>
            <a:ext cx="4958949" cy="3723720"/>
          </a:xfrm>
          <a:custGeom>
            <a:avLst/>
            <a:gdLst/>
            <a:ahLst/>
            <a:cxnLst/>
            <a:rect l="l" t="t" r="r" b="b"/>
            <a:pathLst>
              <a:path w="4958949" h="3723720">
                <a:moveTo>
                  <a:pt x="0" y="0"/>
                </a:moveTo>
                <a:lnTo>
                  <a:pt x="4958949" y="0"/>
                </a:lnTo>
                <a:lnTo>
                  <a:pt x="4958949" y="3723719"/>
                </a:lnTo>
                <a:lnTo>
                  <a:pt x="0" y="3723719"/>
                </a:lnTo>
                <a:lnTo>
                  <a:pt x="0" y="0"/>
                </a:lnTo>
                <a:close/>
              </a:path>
            </a:pathLst>
          </a:custGeom>
          <a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a:blipFill>
        </p:spPr>
      </p:sp>
      <p:sp>
        <p:nvSpPr>
          <p:cNvPr id="9" name="Freeform 9"/>
          <p:cNvSpPr/>
          <p:nvPr/>
        </p:nvSpPr>
        <p:spPr>
          <a:xfrm>
            <a:off x="14359316" y="7396440"/>
            <a:ext cx="4958949" cy="3723720"/>
          </a:xfrm>
          <a:custGeom>
            <a:avLst/>
            <a:gdLst/>
            <a:ahLst/>
            <a:cxnLst/>
            <a:rect l="l" t="t" r="r" b="b"/>
            <a:pathLst>
              <a:path w="4958949" h="3723720">
                <a:moveTo>
                  <a:pt x="0" y="0"/>
                </a:moveTo>
                <a:lnTo>
                  <a:pt x="4958949" y="0"/>
                </a:lnTo>
                <a:lnTo>
                  <a:pt x="4958949" y="3723720"/>
                </a:lnTo>
                <a:lnTo>
                  <a:pt x="0" y="3723720"/>
                </a:lnTo>
                <a:lnTo>
                  <a:pt x="0" y="0"/>
                </a:lnTo>
                <a:close/>
              </a:path>
            </a:pathLst>
          </a:custGeom>
          <a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a:blipFill>
        </p:spPr>
      </p:sp>
      <p:sp>
        <p:nvSpPr>
          <p:cNvPr id="10" name="TextBox 10"/>
          <p:cNvSpPr txBox="1"/>
          <p:nvPr/>
        </p:nvSpPr>
        <p:spPr>
          <a:xfrm>
            <a:off x="3126121" y="674798"/>
            <a:ext cx="12750118" cy="115133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9515"/>
              </a:lnSpc>
              <a:spcBef>
                <a:spcPct val="0"/>
              </a:spcBef>
            </a:pPr>
            <a:r>
              <a:rPr lang="en-US" sz="6796">
                <a:solidFill>
                  <a:srgbClr val="D66A12"/>
                </a:solidFill>
                <a:latin typeface="One Little Font Semi-Bold"/>
              </a:rPr>
              <a:t>PROPERTIES OF ZEOLITES</a:t>
            </a:r>
          </a:p>
        </p:txBody>
      </p:sp>
      <p:sp>
        <p:nvSpPr>
          <p:cNvPr id="11" name="Freeform 11"/>
          <p:cNvSpPr/>
          <p:nvPr/>
        </p:nvSpPr>
        <p:spPr>
          <a:xfrm>
            <a:off x="750015" y="2496683"/>
            <a:ext cx="4828826" cy="3868814"/>
          </a:xfrm>
          <a:custGeom>
            <a:avLst/>
            <a:gdLst/>
            <a:ahLst/>
            <a:cxnLst/>
            <a:rect l="l" t="t" r="r" b="b"/>
            <a:pathLst>
              <a:path w="4828826" h="3868814">
                <a:moveTo>
                  <a:pt x="0" y="0"/>
                </a:moveTo>
                <a:lnTo>
                  <a:pt x="4828826" y="0"/>
                </a:lnTo>
                <a:lnTo>
                  <a:pt x="4828826" y="3868814"/>
                </a:lnTo>
                <a:lnTo>
                  <a:pt x="0" y="3868814"/>
                </a:lnTo>
                <a:lnTo>
                  <a:pt x="0" y="0"/>
                </a:lnTo>
                <a:close/>
              </a:path>
            </a:pathLst>
          </a:custGeom>
          <a:blipFill>
            <a:blip r:embed="rId14">
              <a:extLst>
                <a:ext uri="{96DAC541-7B7A-43D3-8B79-37D633B846F1}">
                  <asvg:svgBlip xmlns:asvg="http://schemas.microsoft.com/office/drawing/2016/SVG/main" r:embed="rId15"/>
                </a:ext>
              </a:extLst>
            </a:blip>
            <a:stretch>
              <a:fillRect/>
            </a:stretch>
          </a:blipFill>
        </p:spPr>
      </p:sp>
      <p:sp>
        <p:nvSpPr>
          <p:cNvPr id="12" name="Freeform 12"/>
          <p:cNvSpPr/>
          <p:nvPr/>
        </p:nvSpPr>
        <p:spPr>
          <a:xfrm>
            <a:off x="7997023" y="2669558"/>
            <a:ext cx="4749522" cy="3805276"/>
          </a:xfrm>
          <a:custGeom>
            <a:avLst/>
            <a:gdLst/>
            <a:ahLst/>
            <a:cxnLst/>
            <a:rect l="l" t="t" r="r" b="b"/>
            <a:pathLst>
              <a:path w="4749522" h="3805276">
                <a:moveTo>
                  <a:pt x="0" y="0"/>
                </a:moveTo>
                <a:lnTo>
                  <a:pt x="4749522" y="0"/>
                </a:lnTo>
                <a:lnTo>
                  <a:pt x="4749522" y="3805276"/>
                </a:lnTo>
                <a:lnTo>
                  <a:pt x="0" y="3805276"/>
                </a:lnTo>
                <a:lnTo>
                  <a:pt x="0" y="0"/>
                </a:lnTo>
                <a:close/>
              </a:path>
            </a:pathLst>
          </a:custGeom>
          <a:blipFill>
            <a:blip r:embed="rId16">
              <a:extLst>
                <a:ext uri="{96DAC541-7B7A-43D3-8B79-37D633B846F1}">
                  <asvg:svgBlip xmlns:asvg="http://schemas.microsoft.com/office/drawing/2016/SVG/main" r:embed="rId17"/>
                </a:ext>
              </a:extLst>
            </a:blip>
            <a:stretch>
              <a:fillRect/>
            </a:stretch>
          </a:blipFill>
        </p:spPr>
      </p:sp>
      <p:sp>
        <p:nvSpPr>
          <p:cNvPr id="13" name="Freeform 13"/>
          <p:cNvSpPr/>
          <p:nvPr/>
        </p:nvSpPr>
        <p:spPr>
          <a:xfrm>
            <a:off x="4165884" y="6176536"/>
            <a:ext cx="5061336" cy="4055099"/>
          </a:xfrm>
          <a:custGeom>
            <a:avLst/>
            <a:gdLst/>
            <a:ahLst/>
            <a:cxnLst/>
            <a:rect l="l" t="t" r="r" b="b"/>
            <a:pathLst>
              <a:path w="5061336" h="4055099">
                <a:moveTo>
                  <a:pt x="0" y="0"/>
                </a:moveTo>
                <a:lnTo>
                  <a:pt x="5061336" y="0"/>
                </a:lnTo>
                <a:lnTo>
                  <a:pt x="5061336" y="4055099"/>
                </a:lnTo>
                <a:lnTo>
                  <a:pt x="0" y="4055099"/>
                </a:lnTo>
                <a:lnTo>
                  <a:pt x="0" y="0"/>
                </a:lnTo>
                <a:close/>
              </a:path>
            </a:pathLst>
          </a:custGeom>
          <a:blipFill>
            <a:blip r:embed="rId16">
              <a:extLst>
                <a:ext uri="{96DAC541-7B7A-43D3-8B79-37D633B846F1}">
                  <asvg:svgBlip xmlns:asvg="http://schemas.microsoft.com/office/drawing/2016/SVG/main" r:embed="rId17"/>
                </a:ext>
              </a:extLst>
            </a:blip>
            <a:stretch>
              <a:fillRect/>
            </a:stretch>
          </a:blipFill>
        </p:spPr>
      </p:sp>
      <p:sp>
        <p:nvSpPr>
          <p:cNvPr id="14" name="Freeform 14"/>
          <p:cNvSpPr/>
          <p:nvPr/>
        </p:nvSpPr>
        <p:spPr>
          <a:xfrm>
            <a:off x="12415807" y="5556362"/>
            <a:ext cx="5474745" cy="4386318"/>
          </a:xfrm>
          <a:custGeom>
            <a:avLst/>
            <a:gdLst/>
            <a:ahLst/>
            <a:cxnLst/>
            <a:rect l="l" t="t" r="r" b="b"/>
            <a:pathLst>
              <a:path w="5474745" h="4386318">
                <a:moveTo>
                  <a:pt x="0" y="0"/>
                </a:moveTo>
                <a:lnTo>
                  <a:pt x="5474745" y="0"/>
                </a:lnTo>
                <a:lnTo>
                  <a:pt x="5474745" y="4386318"/>
                </a:lnTo>
                <a:lnTo>
                  <a:pt x="0" y="4386318"/>
                </a:lnTo>
                <a:lnTo>
                  <a:pt x="0" y="0"/>
                </a:lnTo>
                <a:close/>
              </a:path>
            </a:pathLst>
          </a:custGeom>
          <a:blipFill>
            <a:blip r:embed="rId14">
              <a:extLst>
                <a:ext uri="{96DAC541-7B7A-43D3-8B79-37D633B846F1}">
                  <asvg:svgBlip xmlns:asvg="http://schemas.microsoft.com/office/drawing/2016/SVG/main" r:embed="rId15"/>
                </a:ext>
              </a:extLst>
            </a:blip>
            <a:stretch>
              <a:fillRect/>
            </a:stretch>
          </a:blipFill>
        </p:spPr>
      </p:sp>
      <p:sp>
        <p:nvSpPr>
          <p:cNvPr id="15" name="TextBox 15"/>
          <p:cNvSpPr txBox="1"/>
          <p:nvPr/>
        </p:nvSpPr>
        <p:spPr>
          <a:xfrm>
            <a:off x="1028700" y="3180482"/>
            <a:ext cx="4194842" cy="246727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974"/>
              </a:lnSpc>
            </a:pPr>
            <a:r>
              <a:rPr lang="en-US" sz="3553">
                <a:solidFill>
                  <a:srgbClr val="FFF9D8"/>
                </a:solidFill>
                <a:latin typeface="Canva Sans"/>
              </a:rPr>
              <a:t> </a:t>
            </a:r>
            <a:r>
              <a:rPr lang="en-US" sz="3553" u="sng">
                <a:solidFill>
                  <a:srgbClr val="FFF9D8"/>
                </a:solidFill>
                <a:latin typeface="Canva Sans Bold"/>
              </a:rPr>
              <a:t>porous structure</a:t>
            </a:r>
          </a:p>
          <a:p>
            <a:pPr algn="ctr">
              <a:lnSpc>
                <a:spcPts val="4974"/>
              </a:lnSpc>
            </a:pPr>
            <a:r>
              <a:rPr lang="en-US" sz="3553">
                <a:solidFill>
                  <a:srgbClr val="FFF9D8"/>
                </a:solidFill>
                <a:latin typeface="Canva Sans"/>
              </a:rPr>
              <a:t>Allows molecules to enter and react within their cavity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8106493" y="3294950"/>
            <a:ext cx="4418784" cy="254024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106"/>
              </a:lnSpc>
            </a:pPr>
            <a:r>
              <a:rPr lang="en-US" sz="3647">
                <a:solidFill>
                  <a:srgbClr val="FFF9D8"/>
                </a:solidFill>
                <a:latin typeface="Canva Sans"/>
              </a:rPr>
              <a:t> </a:t>
            </a:r>
            <a:r>
              <a:rPr lang="en-US" sz="3647" u="sng">
                <a:solidFill>
                  <a:srgbClr val="FFF9D8"/>
                </a:solidFill>
                <a:latin typeface="Canva Sans Bold"/>
              </a:rPr>
              <a:t>high surface area</a:t>
            </a:r>
            <a:r>
              <a:rPr lang="en-US" sz="3647" u="sng">
                <a:solidFill>
                  <a:srgbClr val="FFF9D8"/>
                </a:solidFill>
                <a:latin typeface="Canva Sans"/>
              </a:rPr>
              <a:t> </a:t>
            </a:r>
            <a:r>
              <a:rPr lang="en-US" sz="3647">
                <a:solidFill>
                  <a:srgbClr val="FFF9D8"/>
                </a:solidFill>
                <a:latin typeface="Canva Sans"/>
              </a:rPr>
              <a:t> provide ample active sites for catalytic reactions.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12746545" y="6308347"/>
            <a:ext cx="4813268" cy="363433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996"/>
              </a:lnSpc>
            </a:pPr>
            <a:r>
              <a:rPr lang="en-US" sz="3568" u="sng">
                <a:solidFill>
                  <a:srgbClr val="FFF9D8"/>
                </a:solidFill>
                <a:latin typeface="Canva Sans Bold"/>
              </a:rPr>
              <a:t>Selective Adsorption</a:t>
            </a:r>
          </a:p>
          <a:p>
            <a:pPr algn="ctr">
              <a:lnSpc>
                <a:spcPts val="4996"/>
              </a:lnSpc>
            </a:pPr>
            <a:r>
              <a:rPr lang="en-US" sz="3568">
                <a:solidFill>
                  <a:srgbClr val="FFF9D8"/>
                </a:solidFill>
                <a:latin typeface="Canva Sans Semi-Bold"/>
              </a:rPr>
              <a:t>P</a:t>
            </a:r>
            <a:r>
              <a:rPr lang="en-US" sz="3568">
                <a:solidFill>
                  <a:srgbClr val="FFF9D8"/>
                </a:solidFill>
                <a:latin typeface="Canva Sans"/>
              </a:rPr>
              <a:t>recise pore sizes allows for selective adsorption based on size and shape.</a:t>
            </a:r>
          </a:p>
          <a:p>
            <a:pPr algn="ctr">
              <a:lnSpc>
                <a:spcPts val="4282"/>
              </a:lnSpc>
            </a:pPr>
            <a:endParaRPr lang="en-US" sz="3568">
              <a:solidFill>
                <a:srgbClr val="FFF9D8"/>
              </a:solidFill>
              <a:latin typeface="Canva Sans"/>
            </a:endParaRPr>
          </a:p>
        </p:txBody>
      </p:sp>
      <p:sp>
        <p:nvSpPr>
          <p:cNvPr id="18" name="TextBox 18"/>
          <p:cNvSpPr txBox="1"/>
          <p:nvPr/>
        </p:nvSpPr>
        <p:spPr>
          <a:xfrm>
            <a:off x="4591212" y="6575394"/>
            <a:ext cx="4210680" cy="319070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140"/>
              </a:lnSpc>
            </a:pPr>
            <a:r>
              <a:rPr lang="en-US" sz="3671">
                <a:solidFill>
                  <a:srgbClr val="FFF9D8"/>
                </a:solidFill>
                <a:latin typeface="Canva Sans"/>
              </a:rPr>
              <a:t>I</a:t>
            </a:r>
            <a:r>
              <a:rPr lang="en-US" sz="3671" u="sng">
                <a:solidFill>
                  <a:srgbClr val="FFF9D8"/>
                </a:solidFill>
                <a:latin typeface="Canva Sans Bold"/>
              </a:rPr>
              <a:t>on-Exchange capability</a:t>
            </a:r>
          </a:p>
          <a:p>
            <a:pPr algn="ctr">
              <a:lnSpc>
                <a:spcPts val="5140"/>
              </a:lnSpc>
            </a:pPr>
            <a:r>
              <a:rPr lang="en-US" sz="3671">
                <a:solidFill>
                  <a:srgbClr val="FFF9D8"/>
                </a:solidFill>
                <a:latin typeface="Canva Sans"/>
              </a:rPr>
              <a:t>Enables modification of catalytic property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9D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 descr="Fun Playful Simple Shape"/>
          <p:cNvSpPr/>
          <p:nvPr/>
        </p:nvSpPr>
        <p:spPr>
          <a:xfrm>
            <a:off x="6842012" y="-353986"/>
            <a:ext cx="5167333" cy="1691127"/>
          </a:xfrm>
          <a:custGeom>
            <a:avLst/>
            <a:gdLst/>
            <a:ahLst/>
            <a:cxnLst/>
            <a:rect l="l" t="t" r="r" b="b"/>
            <a:pathLst>
              <a:path w="5167333" h="1691127">
                <a:moveTo>
                  <a:pt x="0" y="0"/>
                </a:moveTo>
                <a:lnTo>
                  <a:pt x="5167333" y="0"/>
                </a:lnTo>
                <a:lnTo>
                  <a:pt x="5167333" y="1691127"/>
                </a:lnTo>
                <a:lnTo>
                  <a:pt x="0" y="1691127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3" name="Freeform 3" descr="Fun Playful Simple Shape"/>
          <p:cNvSpPr/>
          <p:nvPr/>
        </p:nvSpPr>
        <p:spPr>
          <a:xfrm rot="5400000">
            <a:off x="-776334" y="5457795"/>
            <a:ext cx="1998183" cy="1998183"/>
          </a:xfrm>
          <a:custGeom>
            <a:avLst/>
            <a:gdLst/>
            <a:ahLst/>
            <a:cxnLst/>
            <a:rect l="l" t="t" r="r" b="b"/>
            <a:pathLst>
              <a:path w="1998183" h="1998183">
                <a:moveTo>
                  <a:pt x="0" y="0"/>
                </a:moveTo>
                <a:lnTo>
                  <a:pt x="1998183" y="0"/>
                </a:lnTo>
                <a:lnTo>
                  <a:pt x="1998183" y="1998183"/>
                </a:lnTo>
                <a:lnTo>
                  <a:pt x="0" y="1998183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</p:sp>
      <p:sp>
        <p:nvSpPr>
          <p:cNvPr id="4" name="Freeform 4" descr="Fun Playful Simple Shape"/>
          <p:cNvSpPr/>
          <p:nvPr/>
        </p:nvSpPr>
        <p:spPr>
          <a:xfrm rot="1034028">
            <a:off x="6842012" y="9441436"/>
            <a:ext cx="5167333" cy="1691127"/>
          </a:xfrm>
          <a:custGeom>
            <a:avLst/>
            <a:gdLst/>
            <a:ahLst/>
            <a:cxnLst/>
            <a:rect l="l" t="t" r="r" b="b"/>
            <a:pathLst>
              <a:path w="5167333" h="1691127">
                <a:moveTo>
                  <a:pt x="0" y="0"/>
                </a:moveTo>
                <a:lnTo>
                  <a:pt x="5167333" y="0"/>
                </a:lnTo>
                <a:lnTo>
                  <a:pt x="5167333" y="1691128"/>
                </a:lnTo>
                <a:lnTo>
                  <a:pt x="0" y="1691128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5" name="Freeform 5" descr="Fun Playful Simple Scrapbook Shape"/>
          <p:cNvSpPr/>
          <p:nvPr/>
        </p:nvSpPr>
        <p:spPr>
          <a:xfrm>
            <a:off x="-176802" y="-353986"/>
            <a:ext cx="1853635" cy="1853635"/>
          </a:xfrm>
          <a:custGeom>
            <a:avLst/>
            <a:gdLst/>
            <a:ahLst/>
            <a:cxnLst/>
            <a:rect l="l" t="t" r="r" b="b"/>
            <a:pathLst>
              <a:path w="1853635" h="1853635">
                <a:moveTo>
                  <a:pt x="0" y="0"/>
                </a:moveTo>
                <a:lnTo>
                  <a:pt x="1853634" y="0"/>
                </a:lnTo>
                <a:lnTo>
                  <a:pt x="1853634" y="1853634"/>
                </a:lnTo>
                <a:lnTo>
                  <a:pt x="0" y="1853634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</p:sp>
      <p:sp>
        <p:nvSpPr>
          <p:cNvPr id="6" name="Freeform 6" descr="Fun Playful Simple Scrapbook Squiggle"/>
          <p:cNvSpPr/>
          <p:nvPr/>
        </p:nvSpPr>
        <p:spPr>
          <a:xfrm>
            <a:off x="16243206" y="129590"/>
            <a:ext cx="3294690" cy="1078262"/>
          </a:xfrm>
          <a:custGeom>
            <a:avLst/>
            <a:gdLst/>
            <a:ahLst/>
            <a:cxnLst/>
            <a:rect l="l" t="t" r="r" b="b"/>
            <a:pathLst>
              <a:path w="3294690" h="1078262">
                <a:moveTo>
                  <a:pt x="0" y="0"/>
                </a:moveTo>
                <a:lnTo>
                  <a:pt x="3294691" y="0"/>
                </a:lnTo>
                <a:lnTo>
                  <a:pt x="3294691" y="1078262"/>
                </a:lnTo>
                <a:lnTo>
                  <a:pt x="0" y="1078262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a:blipFill>
        </p:spPr>
      </p:sp>
      <p:sp>
        <p:nvSpPr>
          <p:cNvPr id="7" name="Freeform 7" descr="Organic Abstract Shape Illustration"/>
          <p:cNvSpPr/>
          <p:nvPr/>
        </p:nvSpPr>
        <p:spPr>
          <a:xfrm>
            <a:off x="-622350" y="7194793"/>
            <a:ext cx="4958949" cy="3723720"/>
          </a:xfrm>
          <a:custGeom>
            <a:avLst/>
            <a:gdLst/>
            <a:ahLst/>
            <a:cxnLst/>
            <a:rect l="l" t="t" r="r" b="b"/>
            <a:pathLst>
              <a:path w="4958949" h="3723720">
                <a:moveTo>
                  <a:pt x="0" y="0"/>
                </a:moveTo>
                <a:lnTo>
                  <a:pt x="4958949" y="0"/>
                </a:lnTo>
                <a:lnTo>
                  <a:pt x="4958949" y="3723719"/>
                </a:lnTo>
                <a:lnTo>
                  <a:pt x="0" y="3723719"/>
                </a:lnTo>
                <a:lnTo>
                  <a:pt x="0" y="0"/>
                </a:lnTo>
                <a:close/>
              </a:path>
            </a:pathLst>
          </a:custGeom>
          <a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a:blipFill>
        </p:spPr>
      </p:sp>
      <p:sp>
        <p:nvSpPr>
          <p:cNvPr id="8" name="Freeform 8" descr="Organic Abstract Shape Illustration"/>
          <p:cNvSpPr/>
          <p:nvPr/>
        </p:nvSpPr>
        <p:spPr>
          <a:xfrm>
            <a:off x="14359316" y="7396440"/>
            <a:ext cx="4958949" cy="3723720"/>
          </a:xfrm>
          <a:custGeom>
            <a:avLst/>
            <a:gdLst/>
            <a:ahLst/>
            <a:cxnLst/>
            <a:rect l="l" t="t" r="r" b="b"/>
            <a:pathLst>
              <a:path w="4958949" h="3723720">
                <a:moveTo>
                  <a:pt x="0" y="0"/>
                </a:moveTo>
                <a:lnTo>
                  <a:pt x="4958949" y="0"/>
                </a:lnTo>
                <a:lnTo>
                  <a:pt x="4958949" y="3723720"/>
                </a:lnTo>
                <a:lnTo>
                  <a:pt x="0" y="3723720"/>
                </a:lnTo>
                <a:lnTo>
                  <a:pt x="0" y="0"/>
                </a:lnTo>
                <a:close/>
              </a:path>
            </a:pathLst>
          </a:custGeom>
          <a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a:blipFill>
        </p:spPr>
      </p:sp>
      <p:grpSp>
        <p:nvGrpSpPr>
          <p:cNvPr id="9" name="Group 9"/>
          <p:cNvGrpSpPr/>
          <p:nvPr/>
        </p:nvGrpSpPr>
        <p:grpSpPr>
          <a:xfrm>
            <a:off x="1256762" y="1028700"/>
            <a:ext cx="7484826" cy="8325569"/>
            <a:chOff x="687070" y="247650"/>
            <a:chExt cx="11148060" cy="12400280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11148060" cy="12400280"/>
            </a:xfrm>
            <a:custGeom>
              <a:avLst/>
              <a:gdLst/>
              <a:ahLst/>
              <a:cxnLst/>
              <a:rect l="l" t="t" r="r" b="b"/>
              <a:pathLst>
                <a:path w="11148060" h="12400280">
                  <a:moveTo>
                    <a:pt x="9215120" y="1497330"/>
                  </a:moveTo>
                  <a:cubicBezTo>
                    <a:pt x="8773160" y="972820"/>
                    <a:pt x="8234680" y="508000"/>
                    <a:pt x="7590790" y="252730"/>
                  </a:cubicBezTo>
                  <a:cubicBezTo>
                    <a:pt x="7132320" y="71120"/>
                    <a:pt x="6633210" y="0"/>
                    <a:pt x="6139180" y="6350"/>
                  </a:cubicBezTo>
                  <a:cubicBezTo>
                    <a:pt x="4053840" y="36830"/>
                    <a:pt x="2157730" y="1490980"/>
                    <a:pt x="1289050" y="3346450"/>
                  </a:cubicBezTo>
                  <a:cubicBezTo>
                    <a:pt x="527050" y="4977130"/>
                    <a:pt x="0" y="7792720"/>
                    <a:pt x="680720" y="9457690"/>
                  </a:cubicBezTo>
                  <a:cubicBezTo>
                    <a:pt x="1360170" y="11122660"/>
                    <a:pt x="2499360" y="12005310"/>
                    <a:pt x="4248150" y="12081510"/>
                  </a:cubicBezTo>
                  <a:cubicBezTo>
                    <a:pt x="7001510" y="12400280"/>
                    <a:pt x="9088120" y="10502900"/>
                    <a:pt x="10118090" y="8309610"/>
                  </a:cubicBezTo>
                  <a:cubicBezTo>
                    <a:pt x="11148061" y="6116320"/>
                    <a:pt x="10782300" y="3361690"/>
                    <a:pt x="9215120" y="1497330"/>
                  </a:cubicBezTo>
                  <a:close/>
                </a:path>
              </a:pathLst>
            </a:custGeom>
            <a:blipFill>
              <a:blip r:embed="rId12"/>
              <a:stretch>
                <a:fillRect l="-28143" r="-28143"/>
              </a:stretch>
            </a:blipFill>
          </p:spPr>
        </p:sp>
      </p:grpSp>
      <p:sp>
        <p:nvSpPr>
          <p:cNvPr id="11" name="Freeform 11"/>
          <p:cNvSpPr/>
          <p:nvPr/>
        </p:nvSpPr>
        <p:spPr>
          <a:xfrm rot="1038991">
            <a:off x="14706933" y="6381541"/>
            <a:ext cx="5621674" cy="6564587"/>
          </a:xfrm>
          <a:custGeom>
            <a:avLst/>
            <a:gdLst/>
            <a:ahLst/>
            <a:cxnLst/>
            <a:rect l="l" t="t" r="r" b="b"/>
            <a:pathLst>
              <a:path w="5621674" h="6564587">
                <a:moveTo>
                  <a:pt x="0" y="0"/>
                </a:moveTo>
                <a:lnTo>
                  <a:pt x="5621674" y="0"/>
                </a:lnTo>
                <a:lnTo>
                  <a:pt x="5621674" y="6564587"/>
                </a:lnTo>
                <a:lnTo>
                  <a:pt x="0" y="6564587"/>
                </a:lnTo>
                <a:lnTo>
                  <a:pt x="0" y="0"/>
                </a:lnTo>
                <a:close/>
              </a:path>
            </a:pathLst>
          </a:custGeom>
          <a:blipFill>
            <a:blip r:embed="rId13">
              <a:extLst>
                <a:ext uri="{96DAC541-7B7A-43D3-8B79-37D633B846F1}">
                  <asvg:svgBlip xmlns:asvg="http://schemas.microsoft.com/office/drawing/2016/SVG/main" r:embed="rId14"/>
                </a:ext>
              </a:extLst>
            </a:blip>
            <a:stretch>
              <a:fillRect/>
            </a:stretch>
          </a:blipFill>
        </p:spPr>
      </p:sp>
      <p:sp>
        <p:nvSpPr>
          <p:cNvPr id="12" name="Freeform 12"/>
          <p:cNvSpPr/>
          <p:nvPr/>
        </p:nvSpPr>
        <p:spPr>
          <a:xfrm rot="-2899698">
            <a:off x="16322381" y="4775412"/>
            <a:ext cx="3008329" cy="4035563"/>
          </a:xfrm>
          <a:custGeom>
            <a:avLst/>
            <a:gdLst/>
            <a:ahLst/>
            <a:cxnLst/>
            <a:rect l="l" t="t" r="r" b="b"/>
            <a:pathLst>
              <a:path w="3008329" h="4035563">
                <a:moveTo>
                  <a:pt x="0" y="0"/>
                </a:moveTo>
                <a:lnTo>
                  <a:pt x="3008329" y="0"/>
                </a:lnTo>
                <a:lnTo>
                  <a:pt x="3008329" y="4035564"/>
                </a:lnTo>
                <a:lnTo>
                  <a:pt x="0" y="4035564"/>
                </a:lnTo>
                <a:lnTo>
                  <a:pt x="0" y="0"/>
                </a:lnTo>
                <a:close/>
              </a:path>
            </a:pathLst>
          </a:custGeom>
          <a:blipFill>
            <a:blip r:embed="rId15">
              <a:extLst>
                <a:ext uri="{96DAC541-7B7A-43D3-8B79-37D633B846F1}">
                  <asvg:svgBlip xmlns:asvg="http://schemas.microsoft.com/office/drawing/2016/SVG/main" r:embed="rId16"/>
                </a:ext>
              </a:extLst>
            </a:blip>
            <a:stretch>
              <a:fillRect/>
            </a:stretch>
          </a:blipFill>
        </p:spPr>
      </p:sp>
      <p:sp>
        <p:nvSpPr>
          <p:cNvPr id="13" name="Freeform 13"/>
          <p:cNvSpPr/>
          <p:nvPr/>
        </p:nvSpPr>
        <p:spPr>
          <a:xfrm>
            <a:off x="1028700" y="1437647"/>
            <a:ext cx="2130602" cy="2293212"/>
          </a:xfrm>
          <a:custGeom>
            <a:avLst/>
            <a:gdLst/>
            <a:ahLst/>
            <a:cxnLst/>
            <a:rect l="l" t="t" r="r" b="b"/>
            <a:pathLst>
              <a:path w="2130602" h="2293212">
                <a:moveTo>
                  <a:pt x="0" y="0"/>
                </a:moveTo>
                <a:lnTo>
                  <a:pt x="2130602" y="0"/>
                </a:lnTo>
                <a:lnTo>
                  <a:pt x="2130602" y="2293212"/>
                </a:lnTo>
                <a:lnTo>
                  <a:pt x="0" y="2293212"/>
                </a:lnTo>
                <a:lnTo>
                  <a:pt x="0" y="0"/>
                </a:lnTo>
                <a:close/>
              </a:path>
            </a:pathLst>
          </a:custGeom>
          <a:blipFill>
            <a:blip r:embed="rId17">
              <a:extLst>
                <a:ext uri="{96DAC541-7B7A-43D3-8B79-37D633B846F1}">
                  <asvg:svgBlip xmlns:asvg="http://schemas.microsoft.com/office/drawing/2016/SVG/main" r:embed="rId18"/>
                </a:ext>
              </a:extLst>
            </a:blip>
            <a:stretch>
              <a:fillRect/>
            </a:stretch>
          </a:blipFill>
        </p:spPr>
      </p:sp>
      <p:sp>
        <p:nvSpPr>
          <p:cNvPr id="14" name="TextBox 14"/>
          <p:cNvSpPr txBox="1"/>
          <p:nvPr/>
        </p:nvSpPr>
        <p:spPr>
          <a:xfrm>
            <a:off x="9144000" y="3184203"/>
            <a:ext cx="6175269" cy="54665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>
              <a:lnSpc>
                <a:spcPts val="4493"/>
              </a:lnSpc>
            </a:pPr>
            <a:r>
              <a:rPr lang="en-US" sz="3456">
                <a:solidFill>
                  <a:srgbClr val="000000"/>
                </a:solidFill>
                <a:latin typeface="Canva Sans Bold"/>
              </a:rPr>
              <a:t>OVERVIEW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9144000" y="973137"/>
            <a:ext cx="6489911" cy="223964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>
              <a:lnSpc>
                <a:spcPts val="8439"/>
              </a:lnSpc>
            </a:pPr>
            <a:r>
              <a:rPr lang="en-US" sz="7671">
                <a:solidFill>
                  <a:srgbClr val="D49314"/>
                </a:solidFill>
                <a:latin typeface="Childos Arabic Bold"/>
              </a:rPr>
              <a:t>CATALYSIS WITH ZEOLITES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9144000" y="3953697"/>
            <a:ext cx="6175269" cy="542939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>
              <a:lnSpc>
                <a:spcPts val="3369"/>
              </a:lnSpc>
            </a:pPr>
            <a:r>
              <a:rPr lang="en-US" sz="2246">
                <a:solidFill>
                  <a:srgbClr val="000000"/>
                </a:solidFill>
                <a:latin typeface="Canva Sans Bold"/>
              </a:rPr>
              <a:t>Shape Selectivity:</a:t>
            </a:r>
          </a:p>
          <a:p>
            <a:pPr marL="0" lvl="0" indent="0">
              <a:lnSpc>
                <a:spcPts val="3369"/>
              </a:lnSpc>
            </a:pPr>
            <a:endParaRPr lang="en-US" sz="2246">
              <a:solidFill>
                <a:srgbClr val="000000"/>
              </a:solidFill>
              <a:latin typeface="Canva Sans Bold"/>
            </a:endParaRPr>
          </a:p>
          <a:p>
            <a:pPr marL="484954" lvl="1" indent="-242477">
              <a:lnSpc>
                <a:spcPts val="3369"/>
              </a:lnSpc>
              <a:buFont typeface="Arial"/>
              <a:buChar char="•"/>
            </a:pPr>
            <a:r>
              <a:rPr lang="en-US" sz="2246">
                <a:solidFill>
                  <a:srgbClr val="000000"/>
                </a:solidFill>
                <a:latin typeface="Canva Sans"/>
              </a:rPr>
              <a:t>Zeolites have channels of specific sizes, allowing only certain molecules to react.</a:t>
            </a:r>
          </a:p>
          <a:p>
            <a:pPr marL="484954" lvl="1" indent="-242477">
              <a:lnSpc>
                <a:spcPts val="3369"/>
              </a:lnSpc>
              <a:buFont typeface="Arial"/>
              <a:buChar char="•"/>
            </a:pPr>
            <a:r>
              <a:rPr lang="en-US" sz="2246">
                <a:solidFill>
                  <a:srgbClr val="000000"/>
                </a:solidFill>
                <a:latin typeface="Canva Sans"/>
              </a:rPr>
              <a:t>Enables precise control over product distribution in catalytic reactions.</a:t>
            </a:r>
          </a:p>
          <a:p>
            <a:pPr marL="0" lvl="0" indent="0">
              <a:lnSpc>
                <a:spcPts val="3369"/>
              </a:lnSpc>
            </a:pPr>
            <a:endParaRPr lang="en-US" sz="2246">
              <a:solidFill>
                <a:srgbClr val="000000"/>
              </a:solidFill>
              <a:latin typeface="Canva Sans"/>
            </a:endParaRPr>
          </a:p>
          <a:p>
            <a:pPr marL="0" lvl="0" indent="0">
              <a:lnSpc>
                <a:spcPts val="3369"/>
              </a:lnSpc>
            </a:pPr>
            <a:r>
              <a:rPr lang="en-US" sz="2246">
                <a:solidFill>
                  <a:srgbClr val="000000"/>
                </a:solidFill>
                <a:latin typeface="Canva Sans Bold"/>
              </a:rPr>
              <a:t>Acidic Sites for Reactions:</a:t>
            </a:r>
          </a:p>
          <a:p>
            <a:pPr marL="0" lvl="0" indent="0">
              <a:lnSpc>
                <a:spcPts val="3369"/>
              </a:lnSpc>
            </a:pPr>
            <a:endParaRPr lang="en-US" sz="2246">
              <a:solidFill>
                <a:srgbClr val="000000"/>
              </a:solidFill>
              <a:latin typeface="Canva Sans Bold"/>
            </a:endParaRPr>
          </a:p>
          <a:p>
            <a:pPr marL="484954" lvl="1" indent="-242477">
              <a:lnSpc>
                <a:spcPts val="3369"/>
              </a:lnSpc>
              <a:buFont typeface="Arial"/>
              <a:buChar char="•"/>
            </a:pPr>
            <a:r>
              <a:rPr lang="en-US" sz="2246">
                <a:solidFill>
                  <a:srgbClr val="000000"/>
                </a:solidFill>
                <a:latin typeface="Canva Sans"/>
              </a:rPr>
              <a:t>Zeolites contain acid sites crucial for various chemical transformations.</a:t>
            </a:r>
          </a:p>
          <a:p>
            <a:pPr marL="484954" lvl="1" indent="-242477">
              <a:lnSpc>
                <a:spcPts val="3369"/>
              </a:lnSpc>
              <a:buFont typeface="Arial"/>
              <a:buChar char="•"/>
            </a:pPr>
            <a:r>
              <a:rPr lang="en-US" sz="2246">
                <a:solidFill>
                  <a:srgbClr val="000000"/>
                </a:solidFill>
                <a:latin typeface="Canva Sans"/>
              </a:rPr>
              <a:t>These sites catalyze reactions like cracking, isomerization, and alkylation.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9D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6842012" y="-353986"/>
            <a:ext cx="5167333" cy="1691127"/>
          </a:xfrm>
          <a:custGeom>
            <a:avLst/>
            <a:gdLst/>
            <a:ahLst/>
            <a:cxnLst/>
            <a:rect l="l" t="t" r="r" b="b"/>
            <a:pathLst>
              <a:path w="5167333" h="1691127">
                <a:moveTo>
                  <a:pt x="0" y="0"/>
                </a:moveTo>
                <a:lnTo>
                  <a:pt x="5167333" y="0"/>
                </a:lnTo>
                <a:lnTo>
                  <a:pt x="5167333" y="1691127"/>
                </a:lnTo>
                <a:lnTo>
                  <a:pt x="0" y="1691127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3" name="Freeform 3"/>
          <p:cNvSpPr/>
          <p:nvPr/>
        </p:nvSpPr>
        <p:spPr>
          <a:xfrm rot="6476524">
            <a:off x="16123629" y="4321039"/>
            <a:ext cx="4328742" cy="1644922"/>
          </a:xfrm>
          <a:custGeom>
            <a:avLst/>
            <a:gdLst/>
            <a:ahLst/>
            <a:cxnLst/>
            <a:rect l="l" t="t" r="r" b="b"/>
            <a:pathLst>
              <a:path w="4328742" h="1644922">
                <a:moveTo>
                  <a:pt x="0" y="0"/>
                </a:moveTo>
                <a:lnTo>
                  <a:pt x="4328742" y="0"/>
                </a:lnTo>
                <a:lnTo>
                  <a:pt x="4328742" y="1644922"/>
                </a:lnTo>
                <a:lnTo>
                  <a:pt x="0" y="1644922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</p:sp>
      <p:sp>
        <p:nvSpPr>
          <p:cNvPr id="4" name="Freeform 4"/>
          <p:cNvSpPr/>
          <p:nvPr/>
        </p:nvSpPr>
        <p:spPr>
          <a:xfrm rot="5400000">
            <a:off x="-969483" y="2390794"/>
            <a:ext cx="1998183" cy="1998183"/>
          </a:xfrm>
          <a:custGeom>
            <a:avLst/>
            <a:gdLst/>
            <a:ahLst/>
            <a:cxnLst/>
            <a:rect l="l" t="t" r="r" b="b"/>
            <a:pathLst>
              <a:path w="1998183" h="1998183">
                <a:moveTo>
                  <a:pt x="0" y="0"/>
                </a:moveTo>
                <a:lnTo>
                  <a:pt x="1998183" y="0"/>
                </a:lnTo>
                <a:lnTo>
                  <a:pt x="1998183" y="1998183"/>
                </a:lnTo>
                <a:lnTo>
                  <a:pt x="0" y="1998183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</p:sp>
      <p:sp>
        <p:nvSpPr>
          <p:cNvPr id="5" name="Freeform 5"/>
          <p:cNvSpPr/>
          <p:nvPr/>
        </p:nvSpPr>
        <p:spPr>
          <a:xfrm rot="1034028">
            <a:off x="6842012" y="9441436"/>
            <a:ext cx="5167333" cy="1691127"/>
          </a:xfrm>
          <a:custGeom>
            <a:avLst/>
            <a:gdLst/>
            <a:ahLst/>
            <a:cxnLst/>
            <a:rect l="l" t="t" r="r" b="b"/>
            <a:pathLst>
              <a:path w="5167333" h="1691127">
                <a:moveTo>
                  <a:pt x="0" y="0"/>
                </a:moveTo>
                <a:lnTo>
                  <a:pt x="5167333" y="0"/>
                </a:lnTo>
                <a:lnTo>
                  <a:pt x="5167333" y="1691128"/>
                </a:lnTo>
                <a:lnTo>
                  <a:pt x="0" y="1691128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6" name="Freeform 6"/>
          <p:cNvSpPr/>
          <p:nvPr/>
        </p:nvSpPr>
        <p:spPr>
          <a:xfrm>
            <a:off x="-176802" y="-353986"/>
            <a:ext cx="1853635" cy="1853635"/>
          </a:xfrm>
          <a:custGeom>
            <a:avLst/>
            <a:gdLst/>
            <a:ahLst/>
            <a:cxnLst/>
            <a:rect l="l" t="t" r="r" b="b"/>
            <a:pathLst>
              <a:path w="1853635" h="1853635">
                <a:moveTo>
                  <a:pt x="0" y="0"/>
                </a:moveTo>
                <a:lnTo>
                  <a:pt x="1853634" y="0"/>
                </a:lnTo>
                <a:lnTo>
                  <a:pt x="1853634" y="1853634"/>
                </a:lnTo>
                <a:lnTo>
                  <a:pt x="0" y="1853634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a:blipFill>
        </p:spPr>
      </p:sp>
      <p:sp>
        <p:nvSpPr>
          <p:cNvPr id="7" name="Freeform 7"/>
          <p:cNvSpPr/>
          <p:nvPr/>
        </p:nvSpPr>
        <p:spPr>
          <a:xfrm>
            <a:off x="16243206" y="129590"/>
            <a:ext cx="3294690" cy="1078262"/>
          </a:xfrm>
          <a:custGeom>
            <a:avLst/>
            <a:gdLst/>
            <a:ahLst/>
            <a:cxnLst/>
            <a:rect l="l" t="t" r="r" b="b"/>
            <a:pathLst>
              <a:path w="3294690" h="1078262">
                <a:moveTo>
                  <a:pt x="0" y="0"/>
                </a:moveTo>
                <a:lnTo>
                  <a:pt x="3294691" y="0"/>
                </a:lnTo>
                <a:lnTo>
                  <a:pt x="3294691" y="1078262"/>
                </a:lnTo>
                <a:lnTo>
                  <a:pt x="0" y="1078262"/>
                </a:lnTo>
                <a:lnTo>
                  <a:pt x="0" y="0"/>
                </a:lnTo>
                <a:close/>
              </a:path>
            </a:pathLst>
          </a:custGeom>
          <a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a:blipFill>
        </p:spPr>
      </p:sp>
      <p:sp>
        <p:nvSpPr>
          <p:cNvPr id="8" name="Freeform 8"/>
          <p:cNvSpPr/>
          <p:nvPr/>
        </p:nvSpPr>
        <p:spPr>
          <a:xfrm>
            <a:off x="-622350" y="7194793"/>
            <a:ext cx="4958949" cy="3723720"/>
          </a:xfrm>
          <a:custGeom>
            <a:avLst/>
            <a:gdLst/>
            <a:ahLst/>
            <a:cxnLst/>
            <a:rect l="l" t="t" r="r" b="b"/>
            <a:pathLst>
              <a:path w="4958949" h="3723720">
                <a:moveTo>
                  <a:pt x="0" y="0"/>
                </a:moveTo>
                <a:lnTo>
                  <a:pt x="4958949" y="0"/>
                </a:lnTo>
                <a:lnTo>
                  <a:pt x="4958949" y="3723719"/>
                </a:lnTo>
                <a:lnTo>
                  <a:pt x="0" y="3723719"/>
                </a:lnTo>
                <a:lnTo>
                  <a:pt x="0" y="0"/>
                </a:lnTo>
                <a:close/>
              </a:path>
            </a:pathLst>
          </a:custGeom>
          <a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a:blipFill>
        </p:spPr>
      </p:sp>
      <p:sp>
        <p:nvSpPr>
          <p:cNvPr id="9" name="Freeform 9"/>
          <p:cNvSpPr/>
          <p:nvPr/>
        </p:nvSpPr>
        <p:spPr>
          <a:xfrm>
            <a:off x="14359316" y="7396440"/>
            <a:ext cx="4958949" cy="3723720"/>
          </a:xfrm>
          <a:custGeom>
            <a:avLst/>
            <a:gdLst/>
            <a:ahLst/>
            <a:cxnLst/>
            <a:rect l="l" t="t" r="r" b="b"/>
            <a:pathLst>
              <a:path w="4958949" h="3723720">
                <a:moveTo>
                  <a:pt x="0" y="0"/>
                </a:moveTo>
                <a:lnTo>
                  <a:pt x="4958949" y="0"/>
                </a:lnTo>
                <a:lnTo>
                  <a:pt x="4958949" y="3723720"/>
                </a:lnTo>
                <a:lnTo>
                  <a:pt x="0" y="3723720"/>
                </a:lnTo>
                <a:lnTo>
                  <a:pt x="0" y="0"/>
                </a:lnTo>
                <a:close/>
              </a:path>
            </a:pathLst>
          </a:custGeom>
          <a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a:blipFill>
        </p:spPr>
      </p:sp>
      <p:sp>
        <p:nvSpPr>
          <p:cNvPr id="10" name="TextBox 10"/>
          <p:cNvSpPr txBox="1"/>
          <p:nvPr/>
        </p:nvSpPr>
        <p:spPr>
          <a:xfrm>
            <a:off x="458294" y="979252"/>
            <a:ext cx="17371413" cy="141154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0923"/>
              </a:lnSpc>
            </a:pPr>
            <a:r>
              <a:rPr lang="en-US" sz="7802">
                <a:solidFill>
                  <a:srgbClr val="D66A12"/>
                </a:solidFill>
                <a:latin typeface="Childos Arabic Bold"/>
              </a:rPr>
              <a:t>ADVANTAGES OF ZEOLITES IN CATALYSIS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458294" y="3507128"/>
            <a:ext cx="17829706" cy="554952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4920"/>
              </a:lnSpc>
            </a:pPr>
            <a:r>
              <a:rPr lang="en-US" sz="3514" u="sng">
                <a:solidFill>
                  <a:srgbClr val="000000"/>
                </a:solidFill>
                <a:latin typeface="Canva Sans Bold"/>
              </a:rPr>
              <a:t>High Surface Area:</a:t>
            </a:r>
          </a:p>
          <a:p>
            <a:pPr marL="758844" lvl="1" indent="-379422" algn="just">
              <a:lnSpc>
                <a:spcPts val="4920"/>
              </a:lnSpc>
              <a:buFont typeface="Arial"/>
              <a:buChar char="•"/>
            </a:pPr>
            <a:r>
              <a:rPr lang="en-US" sz="3514">
                <a:solidFill>
                  <a:srgbClr val="000000"/>
                </a:solidFill>
                <a:latin typeface="Canva Sans"/>
              </a:rPr>
              <a:t>Porous structure provides a large active surface area and thereby accelerate the reactions.</a:t>
            </a:r>
          </a:p>
          <a:p>
            <a:pPr algn="just">
              <a:lnSpc>
                <a:spcPts val="4920"/>
              </a:lnSpc>
            </a:pPr>
            <a:r>
              <a:rPr lang="en-US" sz="3514" u="sng">
                <a:solidFill>
                  <a:srgbClr val="000000"/>
                </a:solidFill>
                <a:latin typeface="Canva Sans Bold"/>
              </a:rPr>
              <a:t>Specific Pore Sizes</a:t>
            </a:r>
          </a:p>
          <a:p>
            <a:pPr marL="758844" lvl="1" indent="-379422" algn="just">
              <a:lnSpc>
                <a:spcPts val="4920"/>
              </a:lnSpc>
              <a:buFont typeface="Arial"/>
              <a:buChar char="•"/>
            </a:pPr>
            <a:r>
              <a:rPr lang="en-US" sz="3514">
                <a:solidFill>
                  <a:srgbClr val="000000"/>
                </a:solidFill>
                <a:latin typeface="Canva Sans"/>
              </a:rPr>
              <a:t>Different zeolite structures offer pores of specific sizes and shapes , selectively admitting molecules based on size.</a:t>
            </a:r>
          </a:p>
          <a:p>
            <a:pPr algn="just">
              <a:lnSpc>
                <a:spcPts val="4920"/>
              </a:lnSpc>
            </a:pPr>
            <a:r>
              <a:rPr lang="en-US" sz="3514" u="sng">
                <a:solidFill>
                  <a:srgbClr val="000000"/>
                </a:solidFill>
                <a:latin typeface="Canva Sans Bold"/>
              </a:rPr>
              <a:t>Thermal and Chemical Stability:</a:t>
            </a:r>
          </a:p>
          <a:p>
            <a:pPr marL="758844" lvl="1" indent="-379422" algn="just">
              <a:lnSpc>
                <a:spcPts val="4920"/>
              </a:lnSpc>
              <a:buFont typeface="Arial"/>
              <a:buChar char="•"/>
            </a:pPr>
            <a:r>
              <a:rPr lang="en-US" sz="3514">
                <a:solidFill>
                  <a:srgbClr val="000000"/>
                </a:solidFill>
                <a:latin typeface="Canva Sans"/>
              </a:rPr>
              <a:t>Zeolites are stable under high temperatures and harsh chemical conditions.</a:t>
            </a:r>
          </a:p>
          <a:p>
            <a:pPr algn="ctr">
              <a:lnSpc>
                <a:spcPts val="4920"/>
              </a:lnSpc>
            </a:pPr>
            <a:endParaRPr lang="en-US" sz="3514">
              <a:solidFill>
                <a:srgbClr val="000000"/>
              </a:solidFill>
              <a:latin typeface="Canva Sans"/>
            </a:endParaRPr>
          </a:p>
        </p:txBody>
      </p:sp>
      <p:sp>
        <p:nvSpPr>
          <p:cNvPr id="12" name="Freeform 12"/>
          <p:cNvSpPr/>
          <p:nvPr/>
        </p:nvSpPr>
        <p:spPr>
          <a:xfrm>
            <a:off x="-147745" y="2863319"/>
            <a:ext cx="19041784" cy="6193333"/>
          </a:xfrm>
          <a:custGeom>
            <a:avLst/>
            <a:gdLst/>
            <a:ahLst/>
            <a:cxnLst/>
            <a:rect l="l" t="t" r="r" b="b"/>
            <a:pathLst>
              <a:path w="19041784" h="6193333">
                <a:moveTo>
                  <a:pt x="0" y="0"/>
                </a:moveTo>
                <a:lnTo>
                  <a:pt x="19041784" y="0"/>
                </a:lnTo>
                <a:lnTo>
                  <a:pt x="19041784" y="6193334"/>
                </a:lnTo>
                <a:lnTo>
                  <a:pt x="0" y="6193334"/>
                </a:lnTo>
                <a:lnTo>
                  <a:pt x="0" y="0"/>
                </a:lnTo>
                <a:close/>
              </a:path>
            </a:pathLst>
          </a:custGeom>
          <a:blipFill>
            <a:blip r:embed="rId14">
              <a:alphaModFix amt="14000"/>
              <a:extLst>
                <a:ext uri="{96DAC541-7B7A-43D3-8B79-37D633B846F1}">
                  <asvg:svgBlip xmlns:asvg="http://schemas.microsoft.com/office/drawing/2016/SVG/main" r:embed="rId15"/>
                </a:ext>
              </a:extLst>
            </a:blip>
            <a:stretch>
              <a:fillRect/>
            </a:stretch>
          </a:blipFill>
        </p:spPr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9D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873218" y="2831022"/>
            <a:ext cx="15965572" cy="6975303"/>
          </a:xfrm>
          <a:custGeom>
            <a:avLst/>
            <a:gdLst/>
            <a:ahLst/>
            <a:cxnLst/>
            <a:rect l="l" t="t" r="r" b="b"/>
            <a:pathLst>
              <a:path w="15965572" h="6975303">
                <a:moveTo>
                  <a:pt x="0" y="0"/>
                </a:moveTo>
                <a:lnTo>
                  <a:pt x="15965572" y="0"/>
                </a:lnTo>
                <a:lnTo>
                  <a:pt x="15965572" y="6975304"/>
                </a:lnTo>
                <a:lnTo>
                  <a:pt x="0" y="6975304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3" name="Freeform 3"/>
          <p:cNvSpPr/>
          <p:nvPr/>
        </p:nvSpPr>
        <p:spPr>
          <a:xfrm rot="6476524">
            <a:off x="16123629" y="4321039"/>
            <a:ext cx="4328742" cy="1644922"/>
          </a:xfrm>
          <a:custGeom>
            <a:avLst/>
            <a:gdLst/>
            <a:ahLst/>
            <a:cxnLst/>
            <a:rect l="l" t="t" r="r" b="b"/>
            <a:pathLst>
              <a:path w="4328742" h="1644922">
                <a:moveTo>
                  <a:pt x="0" y="0"/>
                </a:moveTo>
                <a:lnTo>
                  <a:pt x="4328742" y="0"/>
                </a:lnTo>
                <a:lnTo>
                  <a:pt x="4328742" y="1644922"/>
                </a:lnTo>
                <a:lnTo>
                  <a:pt x="0" y="1644922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</p:sp>
      <p:sp>
        <p:nvSpPr>
          <p:cNvPr id="4" name="Freeform 4"/>
          <p:cNvSpPr/>
          <p:nvPr/>
        </p:nvSpPr>
        <p:spPr>
          <a:xfrm rot="1034028">
            <a:off x="6842012" y="9441436"/>
            <a:ext cx="5167333" cy="1691127"/>
          </a:xfrm>
          <a:custGeom>
            <a:avLst/>
            <a:gdLst/>
            <a:ahLst/>
            <a:cxnLst/>
            <a:rect l="l" t="t" r="r" b="b"/>
            <a:pathLst>
              <a:path w="5167333" h="1691127">
                <a:moveTo>
                  <a:pt x="0" y="0"/>
                </a:moveTo>
                <a:lnTo>
                  <a:pt x="5167333" y="0"/>
                </a:lnTo>
                <a:lnTo>
                  <a:pt x="5167333" y="1691128"/>
                </a:lnTo>
                <a:lnTo>
                  <a:pt x="0" y="1691128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</p:sp>
      <p:sp>
        <p:nvSpPr>
          <p:cNvPr id="5" name="Freeform 5"/>
          <p:cNvSpPr/>
          <p:nvPr/>
        </p:nvSpPr>
        <p:spPr>
          <a:xfrm>
            <a:off x="16243206" y="129590"/>
            <a:ext cx="3294690" cy="1078262"/>
          </a:xfrm>
          <a:custGeom>
            <a:avLst/>
            <a:gdLst/>
            <a:ahLst/>
            <a:cxnLst/>
            <a:rect l="l" t="t" r="r" b="b"/>
            <a:pathLst>
              <a:path w="3294690" h="1078262">
                <a:moveTo>
                  <a:pt x="0" y="0"/>
                </a:moveTo>
                <a:lnTo>
                  <a:pt x="3294691" y="0"/>
                </a:lnTo>
                <a:lnTo>
                  <a:pt x="3294691" y="1078262"/>
                </a:lnTo>
                <a:lnTo>
                  <a:pt x="0" y="1078262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a:blipFill>
        </p:spPr>
      </p:sp>
      <p:sp>
        <p:nvSpPr>
          <p:cNvPr id="6" name="Freeform 6"/>
          <p:cNvSpPr/>
          <p:nvPr/>
        </p:nvSpPr>
        <p:spPr>
          <a:xfrm>
            <a:off x="14359316" y="7396440"/>
            <a:ext cx="4958949" cy="3723720"/>
          </a:xfrm>
          <a:custGeom>
            <a:avLst/>
            <a:gdLst/>
            <a:ahLst/>
            <a:cxnLst/>
            <a:rect l="l" t="t" r="r" b="b"/>
            <a:pathLst>
              <a:path w="4958949" h="3723720">
                <a:moveTo>
                  <a:pt x="0" y="0"/>
                </a:moveTo>
                <a:lnTo>
                  <a:pt x="4958949" y="0"/>
                </a:lnTo>
                <a:lnTo>
                  <a:pt x="4958949" y="3723720"/>
                </a:lnTo>
                <a:lnTo>
                  <a:pt x="0" y="3723720"/>
                </a:lnTo>
                <a:lnTo>
                  <a:pt x="0" y="0"/>
                </a:lnTo>
                <a:close/>
              </a:path>
            </a:pathLst>
          </a:custGeom>
          <a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a:blipFill>
        </p:spPr>
      </p:sp>
      <p:sp>
        <p:nvSpPr>
          <p:cNvPr id="7" name="Freeform 7"/>
          <p:cNvSpPr/>
          <p:nvPr/>
        </p:nvSpPr>
        <p:spPr>
          <a:xfrm>
            <a:off x="277634" y="129590"/>
            <a:ext cx="4172658" cy="4391722"/>
          </a:xfrm>
          <a:custGeom>
            <a:avLst/>
            <a:gdLst/>
            <a:ahLst/>
            <a:cxnLst/>
            <a:rect l="l" t="t" r="r" b="b"/>
            <a:pathLst>
              <a:path w="4172658" h="4391722">
                <a:moveTo>
                  <a:pt x="0" y="0"/>
                </a:moveTo>
                <a:lnTo>
                  <a:pt x="4172658" y="0"/>
                </a:lnTo>
                <a:lnTo>
                  <a:pt x="4172658" y="4391722"/>
                </a:lnTo>
                <a:lnTo>
                  <a:pt x="0" y="4391722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>
              <a:fillRect/>
            </a:stretch>
          </a:blipFill>
        </p:spPr>
      </p:sp>
      <p:sp>
        <p:nvSpPr>
          <p:cNvPr id="8" name="TextBox 8"/>
          <p:cNvSpPr txBox="1"/>
          <p:nvPr/>
        </p:nvSpPr>
        <p:spPr>
          <a:xfrm>
            <a:off x="5901785" y="205216"/>
            <a:ext cx="6993664" cy="196029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16025"/>
              </a:lnSpc>
              <a:spcBef>
                <a:spcPct val="0"/>
              </a:spcBef>
            </a:pPr>
            <a:r>
              <a:rPr lang="en-US" sz="11446">
                <a:solidFill>
                  <a:srgbClr val="D66A12"/>
                </a:solidFill>
                <a:latin typeface="One Little Font"/>
              </a:rPr>
              <a:t>ISOBUTENE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4760743" y="2153884"/>
            <a:ext cx="5909105" cy="67713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568"/>
              </a:lnSpc>
            </a:pPr>
            <a:r>
              <a:rPr lang="en-US" sz="3977">
                <a:solidFill>
                  <a:srgbClr val="000000"/>
                </a:solidFill>
                <a:latin typeface="Canva Sans"/>
              </a:rPr>
              <a:t>Chemical formula: C4H8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0" y="4454637"/>
            <a:ext cx="18014852" cy="478091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759"/>
              </a:lnSpc>
            </a:pPr>
            <a:endParaRPr/>
          </a:p>
          <a:p>
            <a:pPr marL="734059" lvl="1" indent="-367030">
              <a:lnSpc>
                <a:spcPts val="4759"/>
              </a:lnSpc>
              <a:buFont typeface="Arial"/>
              <a:buChar char="•"/>
            </a:pPr>
            <a:r>
              <a:rPr lang="en-US" sz="3399">
                <a:solidFill>
                  <a:srgbClr val="000000"/>
                </a:solidFill>
                <a:latin typeface="Canva Sans Semi-Bold"/>
              </a:rPr>
              <a:t>Butyl Rubber Production:</a:t>
            </a:r>
          </a:p>
          <a:p>
            <a:pPr marL="1468119" lvl="2" indent="-489373">
              <a:lnSpc>
                <a:spcPts val="4759"/>
              </a:lnSpc>
              <a:buFont typeface="Arial"/>
              <a:buChar char="⚬"/>
            </a:pPr>
            <a:r>
              <a:rPr lang="en-US" sz="3399">
                <a:solidFill>
                  <a:srgbClr val="000000"/>
                </a:solidFill>
                <a:latin typeface="Canva Sans"/>
              </a:rPr>
              <a:t>Primary component for manufacturing butyl rubber, used in tires and seals.</a:t>
            </a:r>
          </a:p>
          <a:p>
            <a:pPr marL="734059" lvl="1" indent="-367030">
              <a:lnSpc>
                <a:spcPts val="4759"/>
              </a:lnSpc>
              <a:buFont typeface="Arial"/>
              <a:buChar char="•"/>
            </a:pPr>
            <a:r>
              <a:rPr lang="en-US" sz="3399">
                <a:solidFill>
                  <a:srgbClr val="000000"/>
                </a:solidFill>
                <a:latin typeface="Canva Sans Semi-Bold"/>
              </a:rPr>
              <a:t>Fuel Additives:</a:t>
            </a:r>
          </a:p>
          <a:p>
            <a:pPr marL="1468119" lvl="2" indent="-489373">
              <a:lnSpc>
                <a:spcPts val="4759"/>
              </a:lnSpc>
              <a:buFont typeface="Arial"/>
              <a:buChar char="⚬"/>
            </a:pPr>
            <a:r>
              <a:rPr lang="en-US" sz="3399">
                <a:solidFill>
                  <a:srgbClr val="000000"/>
                </a:solidFill>
                <a:latin typeface="Canva Sans"/>
              </a:rPr>
              <a:t>Blended into gasoline to improve octane ratings and combustion efficiency.</a:t>
            </a:r>
          </a:p>
          <a:p>
            <a:pPr marL="734059" lvl="1" indent="-367030">
              <a:lnSpc>
                <a:spcPts val="4759"/>
              </a:lnSpc>
              <a:buFont typeface="Arial"/>
              <a:buChar char="•"/>
            </a:pPr>
            <a:r>
              <a:rPr lang="en-US" sz="3399">
                <a:solidFill>
                  <a:srgbClr val="000000"/>
                </a:solidFill>
                <a:latin typeface="Canva Sans Semi-Bold"/>
              </a:rPr>
              <a:t>Polymer Manufacturing:</a:t>
            </a:r>
          </a:p>
          <a:p>
            <a:pPr marL="1468119" lvl="2" indent="-489373">
              <a:lnSpc>
                <a:spcPts val="4759"/>
              </a:lnSpc>
              <a:buFont typeface="Arial"/>
              <a:buChar char="⚬"/>
            </a:pPr>
            <a:r>
              <a:rPr lang="en-US" sz="3399">
                <a:solidFill>
                  <a:srgbClr val="000000"/>
                </a:solidFill>
                <a:latin typeface="Canva Sans"/>
              </a:rPr>
              <a:t>Essential for creating polymers used in plastics, adhesives, and synthetic fibers.</a:t>
            </a:r>
          </a:p>
          <a:p>
            <a:pPr>
              <a:lnSpc>
                <a:spcPts val="4759"/>
              </a:lnSpc>
            </a:pPr>
            <a:endParaRPr lang="en-US" sz="3399">
              <a:solidFill>
                <a:srgbClr val="000000"/>
              </a:solidFill>
              <a:latin typeface="Canva Sans"/>
            </a:endParaRPr>
          </a:p>
        </p:txBody>
      </p:sp>
      <p:sp>
        <p:nvSpPr>
          <p:cNvPr id="11" name="TextBox 11"/>
          <p:cNvSpPr txBox="1"/>
          <p:nvPr/>
        </p:nvSpPr>
        <p:spPr>
          <a:xfrm>
            <a:off x="6175393" y="3634217"/>
            <a:ext cx="4256782" cy="88709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7279"/>
              </a:lnSpc>
            </a:pPr>
            <a:r>
              <a:rPr lang="en-US" sz="5199">
                <a:solidFill>
                  <a:srgbClr val="000000"/>
                </a:solidFill>
                <a:latin typeface="Canva Sans Bold"/>
              </a:rPr>
              <a:t>Applications: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9D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1857125" y="437740"/>
            <a:ext cx="14229918" cy="170355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887"/>
              </a:lnSpc>
              <a:spcBef>
                <a:spcPct val="0"/>
              </a:spcBef>
            </a:pPr>
            <a:r>
              <a:rPr lang="en-US" sz="4919">
                <a:solidFill>
                  <a:srgbClr val="D66A12"/>
                </a:solidFill>
                <a:latin typeface="One Little Font Semi-Bold"/>
              </a:rPr>
              <a:t>CATALYTIC PROCESSES WITH ZEOLITES FOR ISO-BUTENE PRODUCTION</a:t>
            </a:r>
          </a:p>
        </p:txBody>
      </p:sp>
      <p:sp>
        <p:nvSpPr>
          <p:cNvPr id="3" name="Freeform 3"/>
          <p:cNvSpPr/>
          <p:nvPr/>
        </p:nvSpPr>
        <p:spPr>
          <a:xfrm>
            <a:off x="6842012" y="-353986"/>
            <a:ext cx="5167333" cy="1691127"/>
          </a:xfrm>
          <a:custGeom>
            <a:avLst/>
            <a:gdLst/>
            <a:ahLst/>
            <a:cxnLst/>
            <a:rect l="l" t="t" r="r" b="b"/>
            <a:pathLst>
              <a:path w="5167333" h="1691127">
                <a:moveTo>
                  <a:pt x="0" y="0"/>
                </a:moveTo>
                <a:lnTo>
                  <a:pt x="5167333" y="0"/>
                </a:lnTo>
                <a:lnTo>
                  <a:pt x="5167333" y="1691127"/>
                </a:lnTo>
                <a:lnTo>
                  <a:pt x="0" y="1691127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4" name="Freeform 4"/>
          <p:cNvSpPr/>
          <p:nvPr/>
        </p:nvSpPr>
        <p:spPr>
          <a:xfrm rot="6476524">
            <a:off x="16123629" y="4321039"/>
            <a:ext cx="4328742" cy="1644922"/>
          </a:xfrm>
          <a:custGeom>
            <a:avLst/>
            <a:gdLst/>
            <a:ahLst/>
            <a:cxnLst/>
            <a:rect l="l" t="t" r="r" b="b"/>
            <a:pathLst>
              <a:path w="4328742" h="1644922">
                <a:moveTo>
                  <a:pt x="0" y="0"/>
                </a:moveTo>
                <a:lnTo>
                  <a:pt x="4328742" y="0"/>
                </a:lnTo>
                <a:lnTo>
                  <a:pt x="4328742" y="1644922"/>
                </a:lnTo>
                <a:lnTo>
                  <a:pt x="0" y="1644922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</p:sp>
      <p:sp>
        <p:nvSpPr>
          <p:cNvPr id="5" name="Freeform 5"/>
          <p:cNvSpPr/>
          <p:nvPr/>
        </p:nvSpPr>
        <p:spPr>
          <a:xfrm rot="5400000">
            <a:off x="-776334" y="5457795"/>
            <a:ext cx="1998183" cy="1998183"/>
          </a:xfrm>
          <a:custGeom>
            <a:avLst/>
            <a:gdLst/>
            <a:ahLst/>
            <a:cxnLst/>
            <a:rect l="l" t="t" r="r" b="b"/>
            <a:pathLst>
              <a:path w="1998183" h="1998183">
                <a:moveTo>
                  <a:pt x="0" y="0"/>
                </a:moveTo>
                <a:lnTo>
                  <a:pt x="1998183" y="0"/>
                </a:lnTo>
                <a:lnTo>
                  <a:pt x="1998183" y="1998183"/>
                </a:lnTo>
                <a:lnTo>
                  <a:pt x="0" y="1998183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</p:sp>
      <p:sp>
        <p:nvSpPr>
          <p:cNvPr id="6" name="Freeform 6"/>
          <p:cNvSpPr/>
          <p:nvPr/>
        </p:nvSpPr>
        <p:spPr>
          <a:xfrm>
            <a:off x="-622350" y="-645783"/>
            <a:ext cx="1853635" cy="1853635"/>
          </a:xfrm>
          <a:custGeom>
            <a:avLst/>
            <a:gdLst/>
            <a:ahLst/>
            <a:cxnLst/>
            <a:rect l="l" t="t" r="r" b="b"/>
            <a:pathLst>
              <a:path w="1853635" h="1853635">
                <a:moveTo>
                  <a:pt x="0" y="0"/>
                </a:moveTo>
                <a:lnTo>
                  <a:pt x="1853635" y="0"/>
                </a:lnTo>
                <a:lnTo>
                  <a:pt x="1853635" y="1853635"/>
                </a:lnTo>
                <a:lnTo>
                  <a:pt x="0" y="1853635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a:blipFill>
        </p:spPr>
      </p:sp>
      <p:sp>
        <p:nvSpPr>
          <p:cNvPr id="7" name="Freeform 7"/>
          <p:cNvSpPr/>
          <p:nvPr/>
        </p:nvSpPr>
        <p:spPr>
          <a:xfrm>
            <a:off x="16243206" y="129590"/>
            <a:ext cx="3294690" cy="1078262"/>
          </a:xfrm>
          <a:custGeom>
            <a:avLst/>
            <a:gdLst/>
            <a:ahLst/>
            <a:cxnLst/>
            <a:rect l="l" t="t" r="r" b="b"/>
            <a:pathLst>
              <a:path w="3294690" h="1078262">
                <a:moveTo>
                  <a:pt x="0" y="0"/>
                </a:moveTo>
                <a:lnTo>
                  <a:pt x="3294691" y="0"/>
                </a:lnTo>
                <a:lnTo>
                  <a:pt x="3294691" y="1078262"/>
                </a:lnTo>
                <a:lnTo>
                  <a:pt x="0" y="1078262"/>
                </a:lnTo>
                <a:lnTo>
                  <a:pt x="0" y="0"/>
                </a:lnTo>
                <a:close/>
              </a:path>
            </a:pathLst>
          </a:custGeom>
          <a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a:blipFill>
        </p:spPr>
      </p:sp>
      <p:sp>
        <p:nvSpPr>
          <p:cNvPr id="8" name="Freeform 8"/>
          <p:cNvSpPr/>
          <p:nvPr/>
        </p:nvSpPr>
        <p:spPr>
          <a:xfrm>
            <a:off x="-622350" y="7194793"/>
            <a:ext cx="4958949" cy="3723720"/>
          </a:xfrm>
          <a:custGeom>
            <a:avLst/>
            <a:gdLst/>
            <a:ahLst/>
            <a:cxnLst/>
            <a:rect l="l" t="t" r="r" b="b"/>
            <a:pathLst>
              <a:path w="4958949" h="3723720">
                <a:moveTo>
                  <a:pt x="0" y="0"/>
                </a:moveTo>
                <a:lnTo>
                  <a:pt x="4958949" y="0"/>
                </a:lnTo>
                <a:lnTo>
                  <a:pt x="4958949" y="3723719"/>
                </a:lnTo>
                <a:lnTo>
                  <a:pt x="0" y="3723719"/>
                </a:lnTo>
                <a:lnTo>
                  <a:pt x="0" y="0"/>
                </a:lnTo>
                <a:close/>
              </a:path>
            </a:pathLst>
          </a:custGeom>
          <a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a:blipFill>
        </p:spPr>
      </p:sp>
      <p:sp>
        <p:nvSpPr>
          <p:cNvPr id="9" name="Freeform 9"/>
          <p:cNvSpPr/>
          <p:nvPr/>
        </p:nvSpPr>
        <p:spPr>
          <a:xfrm>
            <a:off x="14359316" y="7396440"/>
            <a:ext cx="4958949" cy="3723720"/>
          </a:xfrm>
          <a:custGeom>
            <a:avLst/>
            <a:gdLst/>
            <a:ahLst/>
            <a:cxnLst/>
            <a:rect l="l" t="t" r="r" b="b"/>
            <a:pathLst>
              <a:path w="4958949" h="3723720">
                <a:moveTo>
                  <a:pt x="0" y="0"/>
                </a:moveTo>
                <a:lnTo>
                  <a:pt x="4958949" y="0"/>
                </a:lnTo>
                <a:lnTo>
                  <a:pt x="4958949" y="3723720"/>
                </a:lnTo>
                <a:lnTo>
                  <a:pt x="0" y="3723720"/>
                </a:lnTo>
                <a:lnTo>
                  <a:pt x="0" y="0"/>
                </a:lnTo>
                <a:close/>
              </a:path>
            </a:pathLst>
          </a:custGeom>
          <a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a:blipFill>
        </p:spPr>
      </p:sp>
      <p:sp>
        <p:nvSpPr>
          <p:cNvPr id="10" name="Freeform 10"/>
          <p:cNvSpPr/>
          <p:nvPr/>
        </p:nvSpPr>
        <p:spPr>
          <a:xfrm>
            <a:off x="15535824" y="8113203"/>
            <a:ext cx="2108113" cy="689928"/>
          </a:xfrm>
          <a:custGeom>
            <a:avLst/>
            <a:gdLst/>
            <a:ahLst/>
            <a:cxnLst/>
            <a:rect l="l" t="t" r="r" b="b"/>
            <a:pathLst>
              <a:path w="2108113" h="689928">
                <a:moveTo>
                  <a:pt x="0" y="0"/>
                </a:moveTo>
                <a:lnTo>
                  <a:pt x="2108114" y="0"/>
                </a:lnTo>
                <a:lnTo>
                  <a:pt x="2108114" y="689928"/>
                </a:lnTo>
                <a:lnTo>
                  <a:pt x="0" y="689928"/>
                </a:lnTo>
                <a:lnTo>
                  <a:pt x="0" y="0"/>
                </a:lnTo>
                <a:close/>
              </a:path>
            </a:pathLst>
          </a:custGeom>
          <a:blipFill>
            <a:blip r:embed="rId14">
              <a:extLst>
                <a:ext uri="{96DAC541-7B7A-43D3-8B79-37D633B846F1}">
                  <asvg:svgBlip xmlns:asvg="http://schemas.microsoft.com/office/drawing/2016/SVG/main" r:embed="rId15"/>
                </a:ext>
              </a:extLst>
            </a:blip>
            <a:stretch>
              <a:fillRect/>
            </a:stretch>
          </a:blipFill>
        </p:spPr>
      </p:sp>
      <p:sp>
        <p:nvSpPr>
          <p:cNvPr id="11" name="Freeform 11"/>
          <p:cNvSpPr/>
          <p:nvPr/>
        </p:nvSpPr>
        <p:spPr>
          <a:xfrm rot="-937148">
            <a:off x="2422451" y="4386370"/>
            <a:ext cx="1472861" cy="482027"/>
          </a:xfrm>
          <a:custGeom>
            <a:avLst/>
            <a:gdLst/>
            <a:ahLst/>
            <a:cxnLst/>
            <a:rect l="l" t="t" r="r" b="b"/>
            <a:pathLst>
              <a:path w="1472861" h="482027">
                <a:moveTo>
                  <a:pt x="0" y="0"/>
                </a:moveTo>
                <a:lnTo>
                  <a:pt x="1472861" y="0"/>
                </a:lnTo>
                <a:lnTo>
                  <a:pt x="1472861" y="482027"/>
                </a:lnTo>
                <a:lnTo>
                  <a:pt x="0" y="482027"/>
                </a:lnTo>
                <a:lnTo>
                  <a:pt x="0" y="0"/>
                </a:lnTo>
                <a:close/>
              </a:path>
            </a:pathLst>
          </a:custGeom>
          <a:blipFill>
            <a:blip r:embed="rId16">
              <a:extLst>
                <a:ext uri="{96DAC541-7B7A-43D3-8B79-37D633B846F1}">
                  <asvg:svgBlip xmlns:asvg="http://schemas.microsoft.com/office/drawing/2016/SVG/main" r:embed="rId17"/>
                </a:ext>
              </a:extLst>
            </a:blip>
            <a:stretch>
              <a:fillRect/>
            </a:stretch>
          </a:blipFill>
        </p:spPr>
      </p:sp>
      <p:sp>
        <p:nvSpPr>
          <p:cNvPr id="12" name="TextBox 12"/>
          <p:cNvSpPr txBox="1"/>
          <p:nvPr/>
        </p:nvSpPr>
        <p:spPr>
          <a:xfrm>
            <a:off x="1028700" y="2750895"/>
            <a:ext cx="8790431" cy="75077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169"/>
              </a:lnSpc>
            </a:pPr>
            <a:r>
              <a:rPr lang="en-US" sz="4406" u="sng">
                <a:solidFill>
                  <a:srgbClr val="D66A12"/>
                </a:solidFill>
                <a:latin typeface="Canva Sans Bold"/>
              </a:rPr>
              <a:t>1.Catalytic Cracking of Butanes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631252" y="3688778"/>
            <a:ext cx="17259300" cy="611006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789785" lvl="1" indent="-394892">
              <a:lnSpc>
                <a:spcPts val="5413"/>
              </a:lnSpc>
              <a:buFont typeface="Arial"/>
              <a:buChar char="•"/>
            </a:pPr>
            <a:r>
              <a:rPr lang="en-US" sz="3658" spc="142">
                <a:solidFill>
                  <a:srgbClr val="000000"/>
                </a:solidFill>
                <a:latin typeface="Childos Arabic"/>
              </a:rPr>
              <a:t> Catalytic cracking of butanes is a primary method for iso-butene production.</a:t>
            </a:r>
          </a:p>
          <a:p>
            <a:pPr marL="789785" lvl="1" indent="-394892">
              <a:lnSpc>
                <a:spcPts val="5413"/>
              </a:lnSpc>
              <a:buFont typeface="Arial"/>
              <a:buChar char="•"/>
            </a:pPr>
            <a:r>
              <a:rPr lang="en-US" sz="3658" spc="142">
                <a:solidFill>
                  <a:srgbClr val="000000"/>
                </a:solidFill>
                <a:latin typeface="Childos Arabic"/>
              </a:rPr>
              <a:t>Zeolites act as catalysts by providing active sites within their porous structure.</a:t>
            </a:r>
          </a:p>
          <a:p>
            <a:pPr marL="789785" lvl="1" indent="-394892">
              <a:lnSpc>
                <a:spcPts val="5413"/>
              </a:lnSpc>
              <a:buFont typeface="Arial"/>
              <a:buChar char="•"/>
            </a:pPr>
            <a:r>
              <a:rPr lang="en-US" sz="3658" spc="142">
                <a:solidFill>
                  <a:srgbClr val="000000"/>
                </a:solidFill>
                <a:latin typeface="Childos Arabic"/>
              </a:rPr>
              <a:t>Long-chain hydrocarbons in butane feedstocks are broken down into smaller molecules, including iso-butene.</a:t>
            </a:r>
          </a:p>
          <a:p>
            <a:pPr marL="789785" lvl="1" indent="-394892">
              <a:lnSpc>
                <a:spcPts val="5413"/>
              </a:lnSpc>
              <a:buFont typeface="Arial"/>
              <a:buChar char="•"/>
            </a:pPr>
            <a:r>
              <a:rPr lang="en-US" sz="3658" spc="142">
                <a:solidFill>
                  <a:srgbClr val="000000"/>
                </a:solidFill>
                <a:latin typeface="Childos Arabic"/>
              </a:rPr>
              <a:t>Shape-selective properties of zeolites ensure specific molecular sizes can access catalytic sites, favoring iso-butene formation.</a:t>
            </a:r>
          </a:p>
          <a:p>
            <a:pPr marL="789785" lvl="1" indent="-394892">
              <a:lnSpc>
                <a:spcPts val="5413"/>
              </a:lnSpc>
              <a:buFont typeface="Arial"/>
              <a:buChar char="•"/>
            </a:pPr>
            <a:r>
              <a:rPr lang="en-US" sz="3658" spc="142">
                <a:solidFill>
                  <a:srgbClr val="000000"/>
                </a:solidFill>
                <a:latin typeface="Childos Arabic"/>
              </a:rPr>
              <a:t>Zeolite catalysts offer high activity and selectivity, minimizing undesired byproducts.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9D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1857125" y="396327"/>
            <a:ext cx="14369800" cy="170383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888"/>
              </a:lnSpc>
              <a:spcBef>
                <a:spcPct val="0"/>
              </a:spcBef>
            </a:pPr>
            <a:r>
              <a:rPr lang="en-US" sz="4920">
                <a:solidFill>
                  <a:srgbClr val="D66A12"/>
                </a:solidFill>
                <a:latin typeface="One Little Font Semi-Bold"/>
              </a:rPr>
              <a:t>CATALYTIC PROCESSES WITH ZEOLITES FOR ISO-BUTENE PRODUCTION</a:t>
            </a:r>
          </a:p>
        </p:txBody>
      </p:sp>
      <p:sp>
        <p:nvSpPr>
          <p:cNvPr id="3" name="Freeform 3"/>
          <p:cNvSpPr/>
          <p:nvPr/>
        </p:nvSpPr>
        <p:spPr>
          <a:xfrm>
            <a:off x="6842012" y="-353986"/>
            <a:ext cx="5167333" cy="1691127"/>
          </a:xfrm>
          <a:custGeom>
            <a:avLst/>
            <a:gdLst/>
            <a:ahLst/>
            <a:cxnLst/>
            <a:rect l="l" t="t" r="r" b="b"/>
            <a:pathLst>
              <a:path w="5167333" h="1691127">
                <a:moveTo>
                  <a:pt x="0" y="0"/>
                </a:moveTo>
                <a:lnTo>
                  <a:pt x="5167333" y="0"/>
                </a:lnTo>
                <a:lnTo>
                  <a:pt x="5167333" y="1691127"/>
                </a:lnTo>
                <a:lnTo>
                  <a:pt x="0" y="1691127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4" name="Freeform 4"/>
          <p:cNvSpPr/>
          <p:nvPr/>
        </p:nvSpPr>
        <p:spPr>
          <a:xfrm rot="6476524">
            <a:off x="16123629" y="4321039"/>
            <a:ext cx="4328742" cy="1644922"/>
          </a:xfrm>
          <a:custGeom>
            <a:avLst/>
            <a:gdLst/>
            <a:ahLst/>
            <a:cxnLst/>
            <a:rect l="l" t="t" r="r" b="b"/>
            <a:pathLst>
              <a:path w="4328742" h="1644922">
                <a:moveTo>
                  <a:pt x="0" y="0"/>
                </a:moveTo>
                <a:lnTo>
                  <a:pt x="4328742" y="0"/>
                </a:lnTo>
                <a:lnTo>
                  <a:pt x="4328742" y="1644922"/>
                </a:lnTo>
                <a:lnTo>
                  <a:pt x="0" y="1644922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</p:sp>
      <p:sp>
        <p:nvSpPr>
          <p:cNvPr id="5" name="Freeform 5"/>
          <p:cNvSpPr/>
          <p:nvPr/>
        </p:nvSpPr>
        <p:spPr>
          <a:xfrm rot="5400000">
            <a:off x="-776334" y="5457795"/>
            <a:ext cx="1998183" cy="1998183"/>
          </a:xfrm>
          <a:custGeom>
            <a:avLst/>
            <a:gdLst/>
            <a:ahLst/>
            <a:cxnLst/>
            <a:rect l="l" t="t" r="r" b="b"/>
            <a:pathLst>
              <a:path w="1998183" h="1998183">
                <a:moveTo>
                  <a:pt x="0" y="0"/>
                </a:moveTo>
                <a:lnTo>
                  <a:pt x="1998183" y="0"/>
                </a:lnTo>
                <a:lnTo>
                  <a:pt x="1998183" y="1998183"/>
                </a:lnTo>
                <a:lnTo>
                  <a:pt x="0" y="1998183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</p:sp>
      <p:sp>
        <p:nvSpPr>
          <p:cNvPr id="6" name="Freeform 6"/>
          <p:cNvSpPr/>
          <p:nvPr/>
        </p:nvSpPr>
        <p:spPr>
          <a:xfrm>
            <a:off x="-622350" y="-645783"/>
            <a:ext cx="1853635" cy="1853635"/>
          </a:xfrm>
          <a:custGeom>
            <a:avLst/>
            <a:gdLst/>
            <a:ahLst/>
            <a:cxnLst/>
            <a:rect l="l" t="t" r="r" b="b"/>
            <a:pathLst>
              <a:path w="1853635" h="1853635">
                <a:moveTo>
                  <a:pt x="0" y="0"/>
                </a:moveTo>
                <a:lnTo>
                  <a:pt x="1853635" y="0"/>
                </a:lnTo>
                <a:lnTo>
                  <a:pt x="1853635" y="1853635"/>
                </a:lnTo>
                <a:lnTo>
                  <a:pt x="0" y="1853635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a:blipFill>
        </p:spPr>
      </p:sp>
      <p:sp>
        <p:nvSpPr>
          <p:cNvPr id="7" name="Freeform 7"/>
          <p:cNvSpPr/>
          <p:nvPr/>
        </p:nvSpPr>
        <p:spPr>
          <a:xfrm>
            <a:off x="16243206" y="129590"/>
            <a:ext cx="3294690" cy="1078262"/>
          </a:xfrm>
          <a:custGeom>
            <a:avLst/>
            <a:gdLst/>
            <a:ahLst/>
            <a:cxnLst/>
            <a:rect l="l" t="t" r="r" b="b"/>
            <a:pathLst>
              <a:path w="3294690" h="1078262">
                <a:moveTo>
                  <a:pt x="0" y="0"/>
                </a:moveTo>
                <a:lnTo>
                  <a:pt x="3294691" y="0"/>
                </a:lnTo>
                <a:lnTo>
                  <a:pt x="3294691" y="1078262"/>
                </a:lnTo>
                <a:lnTo>
                  <a:pt x="0" y="1078262"/>
                </a:lnTo>
                <a:lnTo>
                  <a:pt x="0" y="0"/>
                </a:lnTo>
                <a:close/>
              </a:path>
            </a:pathLst>
          </a:custGeom>
          <a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a:blipFill>
        </p:spPr>
      </p:sp>
      <p:sp>
        <p:nvSpPr>
          <p:cNvPr id="8" name="Freeform 8"/>
          <p:cNvSpPr/>
          <p:nvPr/>
        </p:nvSpPr>
        <p:spPr>
          <a:xfrm>
            <a:off x="-622350" y="7194793"/>
            <a:ext cx="4958949" cy="3723720"/>
          </a:xfrm>
          <a:custGeom>
            <a:avLst/>
            <a:gdLst/>
            <a:ahLst/>
            <a:cxnLst/>
            <a:rect l="l" t="t" r="r" b="b"/>
            <a:pathLst>
              <a:path w="4958949" h="3723720">
                <a:moveTo>
                  <a:pt x="0" y="0"/>
                </a:moveTo>
                <a:lnTo>
                  <a:pt x="4958949" y="0"/>
                </a:lnTo>
                <a:lnTo>
                  <a:pt x="4958949" y="3723719"/>
                </a:lnTo>
                <a:lnTo>
                  <a:pt x="0" y="3723719"/>
                </a:lnTo>
                <a:lnTo>
                  <a:pt x="0" y="0"/>
                </a:lnTo>
                <a:close/>
              </a:path>
            </a:pathLst>
          </a:custGeom>
          <a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a:blipFill>
        </p:spPr>
      </p:sp>
      <p:sp>
        <p:nvSpPr>
          <p:cNvPr id="9" name="Freeform 9"/>
          <p:cNvSpPr/>
          <p:nvPr/>
        </p:nvSpPr>
        <p:spPr>
          <a:xfrm>
            <a:off x="14359316" y="7396440"/>
            <a:ext cx="4958949" cy="3723720"/>
          </a:xfrm>
          <a:custGeom>
            <a:avLst/>
            <a:gdLst/>
            <a:ahLst/>
            <a:cxnLst/>
            <a:rect l="l" t="t" r="r" b="b"/>
            <a:pathLst>
              <a:path w="4958949" h="3723720">
                <a:moveTo>
                  <a:pt x="0" y="0"/>
                </a:moveTo>
                <a:lnTo>
                  <a:pt x="4958949" y="0"/>
                </a:lnTo>
                <a:lnTo>
                  <a:pt x="4958949" y="3723720"/>
                </a:lnTo>
                <a:lnTo>
                  <a:pt x="0" y="3723720"/>
                </a:lnTo>
                <a:lnTo>
                  <a:pt x="0" y="0"/>
                </a:lnTo>
                <a:close/>
              </a:path>
            </a:pathLst>
          </a:custGeom>
          <a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a:blipFill>
        </p:spPr>
      </p:sp>
      <p:sp>
        <p:nvSpPr>
          <p:cNvPr id="10" name="Freeform 10"/>
          <p:cNvSpPr/>
          <p:nvPr/>
        </p:nvSpPr>
        <p:spPr>
          <a:xfrm>
            <a:off x="15535824" y="8113203"/>
            <a:ext cx="2108113" cy="689928"/>
          </a:xfrm>
          <a:custGeom>
            <a:avLst/>
            <a:gdLst/>
            <a:ahLst/>
            <a:cxnLst/>
            <a:rect l="l" t="t" r="r" b="b"/>
            <a:pathLst>
              <a:path w="2108113" h="689928">
                <a:moveTo>
                  <a:pt x="0" y="0"/>
                </a:moveTo>
                <a:lnTo>
                  <a:pt x="2108114" y="0"/>
                </a:lnTo>
                <a:lnTo>
                  <a:pt x="2108114" y="689928"/>
                </a:lnTo>
                <a:lnTo>
                  <a:pt x="0" y="689928"/>
                </a:lnTo>
                <a:lnTo>
                  <a:pt x="0" y="0"/>
                </a:lnTo>
                <a:close/>
              </a:path>
            </a:pathLst>
          </a:custGeom>
          <a:blipFill>
            <a:blip r:embed="rId14">
              <a:extLst>
                <a:ext uri="{96DAC541-7B7A-43D3-8B79-37D633B846F1}">
                  <asvg:svgBlip xmlns:asvg="http://schemas.microsoft.com/office/drawing/2016/SVG/main" r:embed="rId15"/>
                </a:ext>
              </a:extLst>
            </a:blip>
            <a:stretch>
              <a:fillRect/>
            </a:stretch>
          </a:blipFill>
        </p:spPr>
      </p:sp>
      <p:sp>
        <p:nvSpPr>
          <p:cNvPr id="11" name="Freeform 11"/>
          <p:cNvSpPr/>
          <p:nvPr/>
        </p:nvSpPr>
        <p:spPr>
          <a:xfrm rot="-937148">
            <a:off x="2422451" y="4386370"/>
            <a:ext cx="1472861" cy="482027"/>
          </a:xfrm>
          <a:custGeom>
            <a:avLst/>
            <a:gdLst/>
            <a:ahLst/>
            <a:cxnLst/>
            <a:rect l="l" t="t" r="r" b="b"/>
            <a:pathLst>
              <a:path w="1472861" h="482027">
                <a:moveTo>
                  <a:pt x="0" y="0"/>
                </a:moveTo>
                <a:lnTo>
                  <a:pt x="1472861" y="0"/>
                </a:lnTo>
                <a:lnTo>
                  <a:pt x="1472861" y="482027"/>
                </a:lnTo>
                <a:lnTo>
                  <a:pt x="0" y="482027"/>
                </a:lnTo>
                <a:lnTo>
                  <a:pt x="0" y="0"/>
                </a:lnTo>
                <a:close/>
              </a:path>
            </a:pathLst>
          </a:custGeom>
          <a:blipFill>
            <a:blip r:embed="rId16">
              <a:extLst>
                <a:ext uri="{96DAC541-7B7A-43D3-8B79-37D633B846F1}">
                  <asvg:svgBlip xmlns:asvg="http://schemas.microsoft.com/office/drawing/2016/SVG/main" r:embed="rId17"/>
                </a:ext>
              </a:extLst>
            </a:blip>
            <a:stretch>
              <a:fillRect/>
            </a:stretch>
          </a:blipFill>
        </p:spPr>
      </p:sp>
      <p:sp>
        <p:nvSpPr>
          <p:cNvPr id="12" name="TextBox 12"/>
          <p:cNvSpPr txBox="1"/>
          <p:nvPr/>
        </p:nvSpPr>
        <p:spPr>
          <a:xfrm>
            <a:off x="1028700" y="2750895"/>
            <a:ext cx="12492650" cy="75077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169"/>
              </a:lnSpc>
            </a:pPr>
            <a:r>
              <a:rPr lang="en-US" sz="4406" u="sng">
                <a:solidFill>
                  <a:srgbClr val="D66A12"/>
                </a:solidFill>
                <a:latin typeface="Canva Sans Bold"/>
              </a:rPr>
              <a:t>2.Catalytic Dehydrogenation of Iso-Butane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836470" y="3789239"/>
            <a:ext cx="16429324" cy="615792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716073" lvl="1" indent="-358036">
              <a:lnSpc>
                <a:spcPts val="4908"/>
              </a:lnSpc>
              <a:buFont typeface="Arial"/>
              <a:buChar char="•"/>
            </a:pPr>
            <a:r>
              <a:rPr lang="en-US" sz="3316" spc="129">
                <a:solidFill>
                  <a:srgbClr val="000000"/>
                </a:solidFill>
                <a:latin typeface="Childos Arabic"/>
              </a:rPr>
              <a:t>Catalytic dehydrogenation of iso-butane is another common method for iso-butene production.</a:t>
            </a:r>
          </a:p>
          <a:p>
            <a:pPr marL="716073" lvl="1" indent="-358036">
              <a:lnSpc>
                <a:spcPts val="4908"/>
              </a:lnSpc>
              <a:buFont typeface="Arial"/>
              <a:buChar char="•"/>
            </a:pPr>
            <a:r>
              <a:rPr lang="en-US" sz="3316" spc="129">
                <a:solidFill>
                  <a:srgbClr val="000000"/>
                </a:solidFill>
                <a:latin typeface="Childos Arabic"/>
              </a:rPr>
              <a:t>Zeolite catalysts facilitate this reaction by providing active sites for dehydrogenation.</a:t>
            </a:r>
          </a:p>
          <a:p>
            <a:pPr marL="716073" lvl="1" indent="-358036">
              <a:lnSpc>
                <a:spcPts val="4908"/>
              </a:lnSpc>
              <a:buFont typeface="Arial"/>
              <a:buChar char="•"/>
            </a:pPr>
            <a:r>
              <a:rPr lang="en-US" sz="3316" spc="129">
                <a:solidFill>
                  <a:srgbClr val="000000"/>
                </a:solidFill>
                <a:latin typeface="Childos Arabic"/>
              </a:rPr>
              <a:t>Iso-butane molecules adsorb onto the surface of zeolite catalysts, where they undergo dehydrogenation reactions.</a:t>
            </a:r>
          </a:p>
          <a:p>
            <a:pPr marL="716073" lvl="1" indent="-358036">
              <a:lnSpc>
                <a:spcPts val="4908"/>
              </a:lnSpc>
              <a:buFont typeface="Arial"/>
              <a:buChar char="•"/>
            </a:pPr>
            <a:r>
              <a:rPr lang="en-US" sz="3316" spc="129">
                <a:solidFill>
                  <a:srgbClr val="000000"/>
                </a:solidFill>
                <a:latin typeface="Childos Arabic"/>
              </a:rPr>
              <a:t>The acidic nature of zeolites enhances activation of iso-butane molecules, promoting hydrogen removal.</a:t>
            </a:r>
          </a:p>
          <a:p>
            <a:pPr marL="716073" lvl="1" indent="-358036">
              <a:lnSpc>
                <a:spcPts val="4908"/>
              </a:lnSpc>
              <a:buFont typeface="Arial"/>
              <a:buChar char="•"/>
            </a:pPr>
            <a:r>
              <a:rPr lang="en-US" sz="3316" spc="129">
                <a:solidFill>
                  <a:srgbClr val="000000"/>
                </a:solidFill>
                <a:latin typeface="Childos Arabic"/>
              </a:rPr>
              <a:t>Zeolite catalysts offer high stability under reaction conditions, ensuring continuous performance.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9D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1742332" y="573471"/>
            <a:ext cx="13989827" cy="170383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888"/>
              </a:lnSpc>
              <a:spcBef>
                <a:spcPct val="0"/>
              </a:spcBef>
            </a:pPr>
            <a:r>
              <a:rPr lang="en-US" sz="4920">
                <a:solidFill>
                  <a:srgbClr val="D66A12"/>
                </a:solidFill>
                <a:latin typeface="One Little Font Semi-Bold"/>
              </a:rPr>
              <a:t>CATALYTIC PROCESSES WITH ZEOLITES FOR ISO-BUTENE PRODUCTION</a:t>
            </a:r>
          </a:p>
        </p:txBody>
      </p:sp>
      <p:sp>
        <p:nvSpPr>
          <p:cNvPr id="3" name="Freeform 3"/>
          <p:cNvSpPr/>
          <p:nvPr/>
        </p:nvSpPr>
        <p:spPr>
          <a:xfrm>
            <a:off x="6842012" y="-353986"/>
            <a:ext cx="5167333" cy="1691127"/>
          </a:xfrm>
          <a:custGeom>
            <a:avLst/>
            <a:gdLst/>
            <a:ahLst/>
            <a:cxnLst/>
            <a:rect l="l" t="t" r="r" b="b"/>
            <a:pathLst>
              <a:path w="5167333" h="1691127">
                <a:moveTo>
                  <a:pt x="0" y="0"/>
                </a:moveTo>
                <a:lnTo>
                  <a:pt x="5167333" y="0"/>
                </a:lnTo>
                <a:lnTo>
                  <a:pt x="5167333" y="1691127"/>
                </a:lnTo>
                <a:lnTo>
                  <a:pt x="0" y="1691127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4" name="Freeform 4"/>
          <p:cNvSpPr/>
          <p:nvPr/>
        </p:nvSpPr>
        <p:spPr>
          <a:xfrm rot="6476524">
            <a:off x="16123629" y="4321039"/>
            <a:ext cx="4328742" cy="1644922"/>
          </a:xfrm>
          <a:custGeom>
            <a:avLst/>
            <a:gdLst/>
            <a:ahLst/>
            <a:cxnLst/>
            <a:rect l="l" t="t" r="r" b="b"/>
            <a:pathLst>
              <a:path w="4328742" h="1644922">
                <a:moveTo>
                  <a:pt x="0" y="0"/>
                </a:moveTo>
                <a:lnTo>
                  <a:pt x="4328742" y="0"/>
                </a:lnTo>
                <a:lnTo>
                  <a:pt x="4328742" y="1644922"/>
                </a:lnTo>
                <a:lnTo>
                  <a:pt x="0" y="1644922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</p:sp>
      <p:sp>
        <p:nvSpPr>
          <p:cNvPr id="5" name="Freeform 5"/>
          <p:cNvSpPr/>
          <p:nvPr/>
        </p:nvSpPr>
        <p:spPr>
          <a:xfrm rot="5400000">
            <a:off x="-776334" y="5457795"/>
            <a:ext cx="1998183" cy="1998183"/>
          </a:xfrm>
          <a:custGeom>
            <a:avLst/>
            <a:gdLst/>
            <a:ahLst/>
            <a:cxnLst/>
            <a:rect l="l" t="t" r="r" b="b"/>
            <a:pathLst>
              <a:path w="1998183" h="1998183">
                <a:moveTo>
                  <a:pt x="0" y="0"/>
                </a:moveTo>
                <a:lnTo>
                  <a:pt x="1998183" y="0"/>
                </a:lnTo>
                <a:lnTo>
                  <a:pt x="1998183" y="1998183"/>
                </a:lnTo>
                <a:lnTo>
                  <a:pt x="0" y="1998183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</p:sp>
      <p:sp>
        <p:nvSpPr>
          <p:cNvPr id="6" name="Freeform 6"/>
          <p:cNvSpPr/>
          <p:nvPr/>
        </p:nvSpPr>
        <p:spPr>
          <a:xfrm>
            <a:off x="-622350" y="-645783"/>
            <a:ext cx="1853635" cy="1853635"/>
          </a:xfrm>
          <a:custGeom>
            <a:avLst/>
            <a:gdLst/>
            <a:ahLst/>
            <a:cxnLst/>
            <a:rect l="l" t="t" r="r" b="b"/>
            <a:pathLst>
              <a:path w="1853635" h="1853635">
                <a:moveTo>
                  <a:pt x="0" y="0"/>
                </a:moveTo>
                <a:lnTo>
                  <a:pt x="1853635" y="0"/>
                </a:lnTo>
                <a:lnTo>
                  <a:pt x="1853635" y="1853635"/>
                </a:lnTo>
                <a:lnTo>
                  <a:pt x="0" y="1853635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a:blipFill>
        </p:spPr>
      </p:sp>
      <p:sp>
        <p:nvSpPr>
          <p:cNvPr id="7" name="Freeform 7"/>
          <p:cNvSpPr/>
          <p:nvPr/>
        </p:nvSpPr>
        <p:spPr>
          <a:xfrm>
            <a:off x="16243206" y="129590"/>
            <a:ext cx="3294690" cy="1078262"/>
          </a:xfrm>
          <a:custGeom>
            <a:avLst/>
            <a:gdLst/>
            <a:ahLst/>
            <a:cxnLst/>
            <a:rect l="l" t="t" r="r" b="b"/>
            <a:pathLst>
              <a:path w="3294690" h="1078262">
                <a:moveTo>
                  <a:pt x="0" y="0"/>
                </a:moveTo>
                <a:lnTo>
                  <a:pt x="3294691" y="0"/>
                </a:lnTo>
                <a:lnTo>
                  <a:pt x="3294691" y="1078262"/>
                </a:lnTo>
                <a:lnTo>
                  <a:pt x="0" y="1078262"/>
                </a:lnTo>
                <a:lnTo>
                  <a:pt x="0" y="0"/>
                </a:lnTo>
                <a:close/>
              </a:path>
            </a:pathLst>
          </a:custGeom>
          <a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a:blipFill>
        </p:spPr>
      </p:sp>
      <p:sp>
        <p:nvSpPr>
          <p:cNvPr id="8" name="Freeform 8"/>
          <p:cNvSpPr/>
          <p:nvPr/>
        </p:nvSpPr>
        <p:spPr>
          <a:xfrm>
            <a:off x="-622350" y="7194793"/>
            <a:ext cx="4958949" cy="3723720"/>
          </a:xfrm>
          <a:custGeom>
            <a:avLst/>
            <a:gdLst/>
            <a:ahLst/>
            <a:cxnLst/>
            <a:rect l="l" t="t" r="r" b="b"/>
            <a:pathLst>
              <a:path w="4958949" h="3723720">
                <a:moveTo>
                  <a:pt x="0" y="0"/>
                </a:moveTo>
                <a:lnTo>
                  <a:pt x="4958949" y="0"/>
                </a:lnTo>
                <a:lnTo>
                  <a:pt x="4958949" y="3723719"/>
                </a:lnTo>
                <a:lnTo>
                  <a:pt x="0" y="3723719"/>
                </a:lnTo>
                <a:lnTo>
                  <a:pt x="0" y="0"/>
                </a:lnTo>
                <a:close/>
              </a:path>
            </a:pathLst>
          </a:custGeom>
          <a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a:blipFill>
        </p:spPr>
      </p:sp>
      <p:sp>
        <p:nvSpPr>
          <p:cNvPr id="9" name="Freeform 9"/>
          <p:cNvSpPr/>
          <p:nvPr/>
        </p:nvSpPr>
        <p:spPr>
          <a:xfrm>
            <a:off x="14359316" y="7396440"/>
            <a:ext cx="4958949" cy="3723720"/>
          </a:xfrm>
          <a:custGeom>
            <a:avLst/>
            <a:gdLst/>
            <a:ahLst/>
            <a:cxnLst/>
            <a:rect l="l" t="t" r="r" b="b"/>
            <a:pathLst>
              <a:path w="4958949" h="3723720">
                <a:moveTo>
                  <a:pt x="0" y="0"/>
                </a:moveTo>
                <a:lnTo>
                  <a:pt x="4958949" y="0"/>
                </a:lnTo>
                <a:lnTo>
                  <a:pt x="4958949" y="3723720"/>
                </a:lnTo>
                <a:lnTo>
                  <a:pt x="0" y="3723720"/>
                </a:lnTo>
                <a:lnTo>
                  <a:pt x="0" y="0"/>
                </a:lnTo>
                <a:close/>
              </a:path>
            </a:pathLst>
          </a:custGeom>
          <a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a:blipFill>
        </p:spPr>
      </p:sp>
      <p:sp>
        <p:nvSpPr>
          <p:cNvPr id="10" name="Freeform 10"/>
          <p:cNvSpPr/>
          <p:nvPr/>
        </p:nvSpPr>
        <p:spPr>
          <a:xfrm>
            <a:off x="15535824" y="8113203"/>
            <a:ext cx="2108113" cy="689928"/>
          </a:xfrm>
          <a:custGeom>
            <a:avLst/>
            <a:gdLst/>
            <a:ahLst/>
            <a:cxnLst/>
            <a:rect l="l" t="t" r="r" b="b"/>
            <a:pathLst>
              <a:path w="2108113" h="689928">
                <a:moveTo>
                  <a:pt x="0" y="0"/>
                </a:moveTo>
                <a:lnTo>
                  <a:pt x="2108114" y="0"/>
                </a:lnTo>
                <a:lnTo>
                  <a:pt x="2108114" y="689928"/>
                </a:lnTo>
                <a:lnTo>
                  <a:pt x="0" y="689928"/>
                </a:lnTo>
                <a:lnTo>
                  <a:pt x="0" y="0"/>
                </a:lnTo>
                <a:close/>
              </a:path>
            </a:pathLst>
          </a:custGeom>
          <a:blipFill>
            <a:blip r:embed="rId14">
              <a:extLst>
                <a:ext uri="{96DAC541-7B7A-43D3-8B79-37D633B846F1}">
                  <asvg:svgBlip xmlns:asvg="http://schemas.microsoft.com/office/drawing/2016/SVG/main" r:embed="rId15"/>
                </a:ext>
              </a:extLst>
            </a:blip>
            <a:stretch>
              <a:fillRect/>
            </a:stretch>
          </a:blipFill>
        </p:spPr>
      </p:sp>
      <p:sp>
        <p:nvSpPr>
          <p:cNvPr id="11" name="Freeform 11"/>
          <p:cNvSpPr/>
          <p:nvPr/>
        </p:nvSpPr>
        <p:spPr>
          <a:xfrm rot="-937148">
            <a:off x="2422451" y="4386370"/>
            <a:ext cx="1472861" cy="482027"/>
          </a:xfrm>
          <a:custGeom>
            <a:avLst/>
            <a:gdLst/>
            <a:ahLst/>
            <a:cxnLst/>
            <a:rect l="l" t="t" r="r" b="b"/>
            <a:pathLst>
              <a:path w="1472861" h="482027">
                <a:moveTo>
                  <a:pt x="0" y="0"/>
                </a:moveTo>
                <a:lnTo>
                  <a:pt x="1472861" y="0"/>
                </a:lnTo>
                <a:lnTo>
                  <a:pt x="1472861" y="482027"/>
                </a:lnTo>
                <a:lnTo>
                  <a:pt x="0" y="482027"/>
                </a:lnTo>
                <a:lnTo>
                  <a:pt x="0" y="0"/>
                </a:lnTo>
                <a:close/>
              </a:path>
            </a:pathLst>
          </a:custGeom>
          <a:blipFill>
            <a:blip r:embed="rId16">
              <a:extLst>
                <a:ext uri="{96DAC541-7B7A-43D3-8B79-37D633B846F1}">
                  <asvg:svgBlip xmlns:asvg="http://schemas.microsoft.com/office/drawing/2016/SVG/main" r:embed="rId17"/>
                </a:ext>
              </a:extLst>
            </a:blip>
            <a:stretch>
              <a:fillRect/>
            </a:stretch>
          </a:blipFill>
        </p:spPr>
      </p:sp>
      <p:sp>
        <p:nvSpPr>
          <p:cNvPr id="12" name="TextBox 12"/>
          <p:cNvSpPr txBox="1"/>
          <p:nvPr/>
        </p:nvSpPr>
        <p:spPr>
          <a:xfrm>
            <a:off x="1221849" y="3046170"/>
            <a:ext cx="12492650" cy="75077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169"/>
              </a:lnSpc>
            </a:pPr>
            <a:r>
              <a:rPr lang="en-US" sz="4406" u="sng">
                <a:solidFill>
                  <a:srgbClr val="D66A12"/>
                </a:solidFill>
                <a:latin typeface="Canva Sans Bold"/>
              </a:rPr>
              <a:t>3.Catalytic Dehydration of Tertiary Butanol: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597305" y="4125263"/>
            <a:ext cx="16241486" cy="513303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745290" lvl="1" indent="-372645">
              <a:lnSpc>
                <a:spcPts val="5108"/>
              </a:lnSpc>
              <a:buFont typeface="Arial"/>
              <a:buChar char="•"/>
            </a:pPr>
            <a:r>
              <a:rPr lang="en-US" sz="3452" spc="134">
                <a:solidFill>
                  <a:srgbClr val="000000"/>
                </a:solidFill>
                <a:latin typeface="Childos Arabic"/>
              </a:rPr>
              <a:t>Zeolite catalysts facilitate the removal of water molecules from tertiary butanol.</a:t>
            </a:r>
          </a:p>
          <a:p>
            <a:pPr marL="745290" lvl="1" indent="-372645">
              <a:lnSpc>
                <a:spcPts val="5108"/>
              </a:lnSpc>
              <a:buFont typeface="Arial"/>
              <a:buChar char="•"/>
            </a:pPr>
            <a:r>
              <a:rPr lang="en-US" sz="3452" spc="134">
                <a:solidFill>
                  <a:srgbClr val="000000"/>
                </a:solidFill>
                <a:latin typeface="Childos Arabic"/>
              </a:rPr>
              <a:t>Tertiary butanol molecules adsorb onto the surface of zeolite catalysts, where dehydration reactions occur.</a:t>
            </a:r>
          </a:p>
          <a:p>
            <a:pPr marL="745290" lvl="1" indent="-372645">
              <a:lnSpc>
                <a:spcPts val="5108"/>
              </a:lnSpc>
              <a:buFont typeface="Arial"/>
              <a:buChar char="•"/>
            </a:pPr>
            <a:r>
              <a:rPr lang="en-US" sz="3452" spc="134">
                <a:solidFill>
                  <a:srgbClr val="000000"/>
                </a:solidFill>
                <a:latin typeface="Childos Arabic"/>
              </a:rPr>
              <a:t>The porous structure of zeolites provides an ideal environment for efficient conversion of tertiary butanol into iso-butene.</a:t>
            </a:r>
          </a:p>
          <a:p>
            <a:pPr marL="745290" lvl="1" indent="-372645">
              <a:lnSpc>
                <a:spcPts val="5108"/>
              </a:lnSpc>
              <a:buFont typeface="Arial"/>
              <a:buChar char="•"/>
            </a:pPr>
            <a:r>
              <a:rPr lang="en-US" sz="3452" spc="134">
                <a:solidFill>
                  <a:srgbClr val="000000"/>
                </a:solidFill>
                <a:latin typeface="Childos Arabic"/>
              </a:rPr>
              <a:t>Zeolite catalysts offer advantages such as high activity and selectivity, making them preferred for this process.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9D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 descr="Fun Playful Simple Shape"/>
          <p:cNvSpPr/>
          <p:nvPr/>
        </p:nvSpPr>
        <p:spPr>
          <a:xfrm>
            <a:off x="6842012" y="-353986"/>
            <a:ext cx="5167333" cy="1691127"/>
          </a:xfrm>
          <a:custGeom>
            <a:avLst/>
            <a:gdLst/>
            <a:ahLst/>
            <a:cxnLst/>
            <a:rect l="l" t="t" r="r" b="b"/>
            <a:pathLst>
              <a:path w="5167333" h="1691127">
                <a:moveTo>
                  <a:pt x="0" y="0"/>
                </a:moveTo>
                <a:lnTo>
                  <a:pt x="5167333" y="0"/>
                </a:lnTo>
                <a:lnTo>
                  <a:pt x="5167333" y="1691127"/>
                </a:lnTo>
                <a:lnTo>
                  <a:pt x="0" y="1691127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3" name="Freeform 3" descr="Fun Playful Simple Shape"/>
          <p:cNvSpPr/>
          <p:nvPr/>
        </p:nvSpPr>
        <p:spPr>
          <a:xfrm rot="5400000">
            <a:off x="-776334" y="5457795"/>
            <a:ext cx="1998183" cy="1998183"/>
          </a:xfrm>
          <a:custGeom>
            <a:avLst/>
            <a:gdLst/>
            <a:ahLst/>
            <a:cxnLst/>
            <a:rect l="l" t="t" r="r" b="b"/>
            <a:pathLst>
              <a:path w="1998183" h="1998183">
                <a:moveTo>
                  <a:pt x="0" y="0"/>
                </a:moveTo>
                <a:lnTo>
                  <a:pt x="1998183" y="0"/>
                </a:lnTo>
                <a:lnTo>
                  <a:pt x="1998183" y="1998183"/>
                </a:lnTo>
                <a:lnTo>
                  <a:pt x="0" y="1998183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</p:sp>
      <p:sp>
        <p:nvSpPr>
          <p:cNvPr id="4" name="Freeform 4" descr="Fun Playful Simple Scrapbook Shape"/>
          <p:cNvSpPr/>
          <p:nvPr/>
        </p:nvSpPr>
        <p:spPr>
          <a:xfrm>
            <a:off x="-176802" y="-353986"/>
            <a:ext cx="1853635" cy="1853635"/>
          </a:xfrm>
          <a:custGeom>
            <a:avLst/>
            <a:gdLst/>
            <a:ahLst/>
            <a:cxnLst/>
            <a:rect l="l" t="t" r="r" b="b"/>
            <a:pathLst>
              <a:path w="1853635" h="1853635">
                <a:moveTo>
                  <a:pt x="0" y="0"/>
                </a:moveTo>
                <a:lnTo>
                  <a:pt x="1853634" y="0"/>
                </a:lnTo>
                <a:lnTo>
                  <a:pt x="1853634" y="1853634"/>
                </a:lnTo>
                <a:lnTo>
                  <a:pt x="0" y="1853634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</p:sp>
      <p:sp>
        <p:nvSpPr>
          <p:cNvPr id="5" name="Freeform 5" descr="Fun Playful Simple Scrapbook Squiggle"/>
          <p:cNvSpPr/>
          <p:nvPr/>
        </p:nvSpPr>
        <p:spPr>
          <a:xfrm>
            <a:off x="16243206" y="129590"/>
            <a:ext cx="3294690" cy="1078262"/>
          </a:xfrm>
          <a:custGeom>
            <a:avLst/>
            <a:gdLst/>
            <a:ahLst/>
            <a:cxnLst/>
            <a:rect l="l" t="t" r="r" b="b"/>
            <a:pathLst>
              <a:path w="3294690" h="1078262">
                <a:moveTo>
                  <a:pt x="0" y="0"/>
                </a:moveTo>
                <a:lnTo>
                  <a:pt x="3294691" y="0"/>
                </a:lnTo>
                <a:lnTo>
                  <a:pt x="3294691" y="1078262"/>
                </a:lnTo>
                <a:lnTo>
                  <a:pt x="0" y="1078262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a:blipFill>
        </p:spPr>
      </p:sp>
      <p:sp>
        <p:nvSpPr>
          <p:cNvPr id="6" name="Freeform 6" descr="Organic Abstract Shape Illustration"/>
          <p:cNvSpPr/>
          <p:nvPr/>
        </p:nvSpPr>
        <p:spPr>
          <a:xfrm>
            <a:off x="-622350" y="7194793"/>
            <a:ext cx="4958949" cy="3723720"/>
          </a:xfrm>
          <a:custGeom>
            <a:avLst/>
            <a:gdLst/>
            <a:ahLst/>
            <a:cxnLst/>
            <a:rect l="l" t="t" r="r" b="b"/>
            <a:pathLst>
              <a:path w="4958949" h="3723720">
                <a:moveTo>
                  <a:pt x="0" y="0"/>
                </a:moveTo>
                <a:lnTo>
                  <a:pt x="4958949" y="0"/>
                </a:lnTo>
                <a:lnTo>
                  <a:pt x="4958949" y="3723719"/>
                </a:lnTo>
                <a:lnTo>
                  <a:pt x="0" y="3723719"/>
                </a:lnTo>
                <a:lnTo>
                  <a:pt x="0" y="0"/>
                </a:lnTo>
                <a:close/>
              </a:path>
            </a:pathLst>
          </a:custGeom>
          <a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a:blipFill>
        </p:spPr>
      </p:sp>
      <p:sp>
        <p:nvSpPr>
          <p:cNvPr id="7" name="Freeform 7" descr="Organic Abstract Shape Illustration"/>
          <p:cNvSpPr/>
          <p:nvPr/>
        </p:nvSpPr>
        <p:spPr>
          <a:xfrm>
            <a:off x="14359316" y="7396440"/>
            <a:ext cx="4958949" cy="3723720"/>
          </a:xfrm>
          <a:custGeom>
            <a:avLst/>
            <a:gdLst/>
            <a:ahLst/>
            <a:cxnLst/>
            <a:rect l="l" t="t" r="r" b="b"/>
            <a:pathLst>
              <a:path w="4958949" h="3723720">
                <a:moveTo>
                  <a:pt x="0" y="0"/>
                </a:moveTo>
                <a:lnTo>
                  <a:pt x="4958949" y="0"/>
                </a:lnTo>
                <a:lnTo>
                  <a:pt x="4958949" y="3723720"/>
                </a:lnTo>
                <a:lnTo>
                  <a:pt x="0" y="3723720"/>
                </a:lnTo>
                <a:lnTo>
                  <a:pt x="0" y="0"/>
                </a:lnTo>
                <a:close/>
              </a:path>
            </a:pathLst>
          </a:custGeom>
          <a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a:blipFill>
        </p:spPr>
      </p:sp>
      <p:sp>
        <p:nvSpPr>
          <p:cNvPr id="8" name="AutoShape 8"/>
          <p:cNvSpPr/>
          <p:nvPr/>
        </p:nvSpPr>
        <p:spPr>
          <a:xfrm>
            <a:off x="9425679" y="0"/>
            <a:ext cx="8862321" cy="10287000"/>
          </a:xfrm>
          <a:prstGeom prst="rect">
            <a:avLst/>
          </a:prstGeom>
          <a:solidFill>
            <a:srgbClr val="A7D9BA"/>
          </a:solidFill>
        </p:spPr>
      </p:sp>
      <p:grpSp>
        <p:nvGrpSpPr>
          <p:cNvPr id="9" name="Group 9"/>
          <p:cNvGrpSpPr/>
          <p:nvPr/>
        </p:nvGrpSpPr>
        <p:grpSpPr>
          <a:xfrm>
            <a:off x="9927476" y="668721"/>
            <a:ext cx="7963075" cy="8526739"/>
            <a:chOff x="0" y="0"/>
            <a:chExt cx="10617434" cy="11368985"/>
          </a:xfrm>
        </p:grpSpPr>
        <p:sp>
          <p:nvSpPr>
            <p:cNvPr id="10" name="AutoShape 10"/>
            <p:cNvSpPr/>
            <p:nvPr/>
          </p:nvSpPr>
          <p:spPr>
            <a:xfrm>
              <a:off x="0" y="0"/>
              <a:ext cx="1923143" cy="268191"/>
            </a:xfrm>
            <a:prstGeom prst="rect">
              <a:avLst/>
            </a:prstGeom>
            <a:solidFill>
              <a:srgbClr val="FFF9D8"/>
            </a:solidFill>
          </p:spPr>
        </p:sp>
        <p:sp>
          <p:nvSpPr>
            <p:cNvPr id="11" name="TextBox 11"/>
            <p:cNvSpPr txBox="1"/>
            <p:nvPr/>
          </p:nvSpPr>
          <p:spPr>
            <a:xfrm>
              <a:off x="0" y="954238"/>
              <a:ext cx="10617434" cy="10414747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>
                <a:lnSpc>
                  <a:spcPts val="3458"/>
                </a:lnSpc>
              </a:pPr>
              <a:r>
                <a:rPr lang="en-US" sz="2305" u="none">
                  <a:solidFill>
                    <a:srgbClr val="000000"/>
                  </a:solidFill>
                  <a:latin typeface="Canva Sans Bold"/>
                </a:rPr>
                <a:t>High Activity:</a:t>
              </a:r>
            </a:p>
            <a:p>
              <a:pPr marL="497812" lvl="1" indent="-248906">
                <a:lnSpc>
                  <a:spcPts val="3458"/>
                </a:lnSpc>
                <a:buAutoNum type="arabicPeriod"/>
              </a:pPr>
              <a:r>
                <a:rPr lang="en-US" sz="2305" u="none">
                  <a:solidFill>
                    <a:srgbClr val="000000"/>
                  </a:solidFill>
                  <a:latin typeface="Canva Sans"/>
                </a:rPr>
                <a:t>Zeolite catalysts exhibit high catalytic activity, accelerating conversion at low temperatures and pressures.</a:t>
              </a:r>
            </a:p>
            <a:p>
              <a:pPr marL="497812" lvl="1" indent="-248906">
                <a:lnSpc>
                  <a:spcPts val="3458"/>
                </a:lnSpc>
                <a:buAutoNum type="arabicPeriod"/>
              </a:pPr>
              <a:r>
                <a:rPr lang="en-US" sz="2305" u="none">
                  <a:solidFill>
                    <a:srgbClr val="000000"/>
                  </a:solidFill>
                  <a:latin typeface="Canva Sans"/>
                </a:rPr>
                <a:t>Porous structure provides ample active sites for efficient mass transfer and reaction kinetics.</a:t>
              </a:r>
            </a:p>
            <a:p>
              <a:pPr marL="0" lvl="0" indent="0">
                <a:lnSpc>
                  <a:spcPts val="3458"/>
                </a:lnSpc>
              </a:pPr>
              <a:r>
                <a:rPr lang="en-US" sz="2305" u="none">
                  <a:solidFill>
                    <a:srgbClr val="000000"/>
                  </a:solidFill>
                  <a:latin typeface="Canva Sans Bold"/>
                </a:rPr>
                <a:t>Selectivity:</a:t>
              </a:r>
            </a:p>
            <a:p>
              <a:pPr marL="497812" lvl="1" indent="-248906">
                <a:lnSpc>
                  <a:spcPts val="3458"/>
                </a:lnSpc>
                <a:buAutoNum type="arabicPeriod"/>
              </a:pPr>
              <a:r>
                <a:rPr lang="en-US" sz="2305" u="none">
                  <a:solidFill>
                    <a:srgbClr val="000000"/>
                  </a:solidFill>
                  <a:latin typeface="Canva Sans Bold"/>
                </a:rPr>
                <a:t> </a:t>
              </a:r>
              <a:r>
                <a:rPr lang="en-US" sz="2305" u="none">
                  <a:solidFill>
                    <a:srgbClr val="000000"/>
                  </a:solidFill>
                  <a:latin typeface="Canva Sans"/>
                </a:rPr>
                <a:t>Zeolites offer excellent selectivity towards iso-butene, minimizing undesired byproducts.</a:t>
              </a:r>
            </a:p>
            <a:p>
              <a:pPr marL="497812" lvl="1" indent="-248906">
                <a:lnSpc>
                  <a:spcPts val="3458"/>
                </a:lnSpc>
                <a:buAutoNum type="arabicPeriod"/>
              </a:pPr>
              <a:r>
                <a:rPr lang="en-US" sz="2305" u="none">
                  <a:solidFill>
                    <a:srgbClr val="000000"/>
                  </a:solidFill>
                  <a:latin typeface="Canva Sans"/>
                </a:rPr>
                <a:t>Shape-selective properties ensure only appropriate molecules access catalytic sites, favoring desired pathways.</a:t>
              </a:r>
            </a:p>
            <a:p>
              <a:pPr marL="0" lvl="0" indent="0">
                <a:lnSpc>
                  <a:spcPts val="3458"/>
                </a:lnSpc>
              </a:pPr>
              <a:r>
                <a:rPr lang="en-US" sz="2305" u="none">
                  <a:solidFill>
                    <a:srgbClr val="000000"/>
                  </a:solidFill>
                  <a:latin typeface="Canva Sans Bold"/>
                </a:rPr>
                <a:t>Stability:</a:t>
              </a:r>
            </a:p>
            <a:p>
              <a:pPr marL="497812" lvl="1" indent="-248906">
                <a:lnSpc>
                  <a:spcPts val="3458"/>
                </a:lnSpc>
                <a:buAutoNum type="arabicPeriod"/>
              </a:pPr>
              <a:r>
                <a:rPr lang="en-US" sz="2305" u="none">
                  <a:solidFill>
                    <a:srgbClr val="000000"/>
                  </a:solidFill>
                  <a:latin typeface="Canva Sans"/>
                </a:rPr>
                <a:t>Zeolite catalysts are thermally and chemically stable, maintaining performance under harsh conditions.</a:t>
              </a:r>
            </a:p>
            <a:p>
              <a:pPr marL="497812" lvl="1" indent="-248906">
                <a:lnSpc>
                  <a:spcPts val="3458"/>
                </a:lnSpc>
                <a:buAutoNum type="arabicPeriod"/>
              </a:pPr>
              <a:r>
                <a:rPr lang="en-US" sz="2305" u="none">
                  <a:solidFill>
                    <a:srgbClr val="000000"/>
                  </a:solidFill>
                  <a:latin typeface="Canva Sans"/>
                </a:rPr>
                <a:t>Stability ensures continuous performance and longevity in iso-butene production processes.</a:t>
              </a:r>
            </a:p>
          </p:txBody>
        </p:sp>
      </p:grpSp>
      <p:grpSp>
        <p:nvGrpSpPr>
          <p:cNvPr id="12" name="Group 12"/>
          <p:cNvGrpSpPr/>
          <p:nvPr/>
        </p:nvGrpSpPr>
        <p:grpSpPr>
          <a:xfrm>
            <a:off x="1028700" y="8289929"/>
            <a:ext cx="3378602" cy="968371"/>
            <a:chOff x="0" y="0"/>
            <a:chExt cx="4504802" cy="1291162"/>
          </a:xfrm>
        </p:grpSpPr>
        <p:sp>
          <p:nvSpPr>
            <p:cNvPr id="13" name="AutoShape 13"/>
            <p:cNvSpPr/>
            <p:nvPr/>
          </p:nvSpPr>
          <p:spPr>
            <a:xfrm rot="5400000">
              <a:off x="1610906" y="5447"/>
              <a:ext cx="1288438" cy="1282991"/>
            </a:xfrm>
            <a:prstGeom prst="rect">
              <a:avLst/>
            </a:prstGeom>
            <a:solidFill>
              <a:srgbClr val="D2A23D"/>
            </a:solidFill>
          </p:spPr>
        </p:sp>
        <p:grpSp>
          <p:nvGrpSpPr>
            <p:cNvPr id="14" name="Group 14"/>
            <p:cNvGrpSpPr>
              <a:grpSpLocks noChangeAspect="1"/>
            </p:cNvGrpSpPr>
            <p:nvPr/>
          </p:nvGrpSpPr>
          <p:grpSpPr>
            <a:xfrm rot="5400000">
              <a:off x="0" y="0"/>
              <a:ext cx="1288438" cy="1288438"/>
              <a:chOff x="0" y="0"/>
              <a:chExt cx="1708150" cy="1708150"/>
            </a:xfrm>
          </p:grpSpPr>
          <p:sp>
            <p:nvSpPr>
              <p:cNvPr id="15" name="Freeform 15"/>
              <p:cNvSpPr/>
              <p:nvPr/>
            </p:nvSpPr>
            <p:spPr>
              <a:xfrm>
                <a:off x="0" y="0"/>
                <a:ext cx="1708150" cy="1708150"/>
              </a:xfrm>
              <a:custGeom>
                <a:avLst/>
                <a:gdLst/>
                <a:ahLst/>
                <a:cxnLst/>
                <a:rect l="l" t="t" r="r" b="b"/>
                <a:pathLst>
                  <a:path w="1708150" h="1708150">
                    <a:moveTo>
                      <a:pt x="853440" y="1708150"/>
                    </a:moveTo>
                    <a:cubicBezTo>
                      <a:pt x="383540" y="1708150"/>
                      <a:pt x="0" y="1324610"/>
                      <a:pt x="0" y="853440"/>
                    </a:cubicBezTo>
                    <a:cubicBezTo>
                      <a:pt x="0" y="383540"/>
                      <a:pt x="383540" y="0"/>
                      <a:pt x="853440" y="0"/>
                    </a:cubicBezTo>
                    <a:cubicBezTo>
                      <a:pt x="1324610" y="0"/>
                      <a:pt x="1706880" y="383540"/>
                      <a:pt x="1706880" y="853440"/>
                    </a:cubicBezTo>
                    <a:cubicBezTo>
                      <a:pt x="1708150" y="1324610"/>
                      <a:pt x="1324610" y="1708150"/>
                      <a:pt x="853440" y="1708150"/>
                    </a:cubicBezTo>
                    <a:close/>
                    <a:moveTo>
                      <a:pt x="853440" y="469900"/>
                    </a:moveTo>
                    <a:cubicBezTo>
                      <a:pt x="642620" y="469900"/>
                      <a:pt x="469900" y="642620"/>
                      <a:pt x="469900" y="853440"/>
                    </a:cubicBezTo>
                    <a:cubicBezTo>
                      <a:pt x="469900" y="1064260"/>
                      <a:pt x="642620" y="1236980"/>
                      <a:pt x="853440" y="1236980"/>
                    </a:cubicBezTo>
                    <a:cubicBezTo>
                      <a:pt x="1064260" y="1236980"/>
                      <a:pt x="1236980" y="1064260"/>
                      <a:pt x="1236980" y="853440"/>
                    </a:cubicBezTo>
                    <a:cubicBezTo>
                      <a:pt x="1236980" y="642620"/>
                      <a:pt x="1065530" y="469900"/>
                      <a:pt x="853440" y="469900"/>
                    </a:cubicBezTo>
                    <a:close/>
                  </a:path>
                </a:pathLst>
              </a:custGeom>
              <a:solidFill>
                <a:srgbClr val="FFCB65"/>
              </a:solidFill>
            </p:spPr>
          </p:sp>
        </p:grpSp>
        <p:sp>
          <p:nvSpPr>
            <p:cNvPr id="16" name="Freeform 16"/>
            <p:cNvSpPr/>
            <p:nvPr/>
          </p:nvSpPr>
          <p:spPr>
            <a:xfrm>
              <a:off x="3221811" y="5447"/>
              <a:ext cx="1282991" cy="1282991"/>
            </a:xfrm>
            <a:custGeom>
              <a:avLst/>
              <a:gdLst/>
              <a:ahLst/>
              <a:cxnLst/>
              <a:rect l="l" t="t" r="r" b="b"/>
              <a:pathLst>
                <a:path w="1282991" h="1282991">
                  <a:moveTo>
                    <a:pt x="0" y="0"/>
                  </a:moveTo>
                  <a:lnTo>
                    <a:pt x="1282991" y="0"/>
                  </a:lnTo>
                  <a:lnTo>
                    <a:pt x="1282991" y="1282991"/>
                  </a:lnTo>
                  <a:lnTo>
                    <a:pt x="0" y="128299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2">
                <a:extLst>
                  <a:ext uri="{96DAC541-7B7A-43D3-8B79-37D633B846F1}">
                    <asvg:svgBlip xmlns:asvg="http://schemas.microsoft.com/office/drawing/2016/SVG/main" r:embed="rId13"/>
                  </a:ext>
                </a:extLst>
              </a:blip>
              <a:stretch>
                <a:fillRect/>
              </a:stretch>
            </a:blipFill>
          </p:spPr>
        </p:sp>
      </p:grpSp>
      <p:sp>
        <p:nvSpPr>
          <p:cNvPr id="17" name="Freeform 17"/>
          <p:cNvSpPr/>
          <p:nvPr/>
        </p:nvSpPr>
        <p:spPr>
          <a:xfrm>
            <a:off x="5572542" y="5602033"/>
            <a:ext cx="2687896" cy="2687896"/>
          </a:xfrm>
          <a:custGeom>
            <a:avLst/>
            <a:gdLst/>
            <a:ahLst/>
            <a:cxnLst/>
            <a:rect l="l" t="t" r="r" b="b"/>
            <a:pathLst>
              <a:path w="2687896" h="2687896">
                <a:moveTo>
                  <a:pt x="0" y="0"/>
                </a:moveTo>
                <a:lnTo>
                  <a:pt x="2687896" y="0"/>
                </a:lnTo>
                <a:lnTo>
                  <a:pt x="2687896" y="2687896"/>
                </a:lnTo>
                <a:lnTo>
                  <a:pt x="0" y="2687896"/>
                </a:lnTo>
                <a:lnTo>
                  <a:pt x="0" y="0"/>
                </a:lnTo>
                <a:close/>
              </a:path>
            </a:pathLst>
          </a:custGeom>
          <a:blipFill>
            <a:blip r:embed="rId14">
              <a:extLst>
                <a:ext uri="{96DAC541-7B7A-43D3-8B79-37D633B846F1}">
                  <asvg:svgBlip xmlns:asvg="http://schemas.microsoft.com/office/drawing/2016/SVG/main" r:embed="rId15"/>
                </a:ext>
              </a:extLst>
            </a:blip>
            <a:stretch>
              <a:fillRect/>
            </a:stretch>
          </a:blipFill>
        </p:spPr>
      </p:sp>
      <p:sp>
        <p:nvSpPr>
          <p:cNvPr id="18" name="TextBox 18"/>
          <p:cNvSpPr txBox="1"/>
          <p:nvPr/>
        </p:nvSpPr>
        <p:spPr>
          <a:xfrm>
            <a:off x="914610" y="885825"/>
            <a:ext cx="8641321" cy="477583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>
              <a:lnSpc>
                <a:spcPts val="9360"/>
              </a:lnSpc>
            </a:pPr>
            <a:r>
              <a:rPr lang="en-US" sz="7200">
                <a:solidFill>
                  <a:srgbClr val="875F38"/>
                </a:solidFill>
                <a:latin typeface="Childos Arabic"/>
              </a:rPr>
              <a:t>ADVANTAGES OF ZEOLITE CATALYSTS IN ISO-BUTENE PRODUCTION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9D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6842012" y="-353986"/>
            <a:ext cx="5167333" cy="1691127"/>
          </a:xfrm>
          <a:custGeom>
            <a:avLst/>
            <a:gdLst/>
            <a:ahLst/>
            <a:cxnLst/>
            <a:rect l="l" t="t" r="r" b="b"/>
            <a:pathLst>
              <a:path w="5167333" h="1691127">
                <a:moveTo>
                  <a:pt x="0" y="0"/>
                </a:moveTo>
                <a:lnTo>
                  <a:pt x="5167333" y="0"/>
                </a:lnTo>
                <a:lnTo>
                  <a:pt x="5167333" y="1691127"/>
                </a:lnTo>
                <a:lnTo>
                  <a:pt x="0" y="1691127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3" name="Freeform 3"/>
          <p:cNvSpPr/>
          <p:nvPr/>
        </p:nvSpPr>
        <p:spPr>
          <a:xfrm rot="-5656652">
            <a:off x="14952962" y="6886852"/>
            <a:ext cx="2204077" cy="6482578"/>
          </a:xfrm>
          <a:custGeom>
            <a:avLst/>
            <a:gdLst/>
            <a:ahLst/>
            <a:cxnLst/>
            <a:rect l="l" t="t" r="r" b="b"/>
            <a:pathLst>
              <a:path w="2204077" h="6482578">
                <a:moveTo>
                  <a:pt x="0" y="0"/>
                </a:moveTo>
                <a:lnTo>
                  <a:pt x="2204077" y="0"/>
                </a:lnTo>
                <a:lnTo>
                  <a:pt x="2204077" y="6482579"/>
                </a:lnTo>
                <a:lnTo>
                  <a:pt x="0" y="6482579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</p:sp>
      <p:sp>
        <p:nvSpPr>
          <p:cNvPr id="4" name="Freeform 4"/>
          <p:cNvSpPr/>
          <p:nvPr/>
        </p:nvSpPr>
        <p:spPr>
          <a:xfrm>
            <a:off x="-176802" y="-353986"/>
            <a:ext cx="1853635" cy="1853635"/>
          </a:xfrm>
          <a:custGeom>
            <a:avLst/>
            <a:gdLst/>
            <a:ahLst/>
            <a:cxnLst/>
            <a:rect l="l" t="t" r="r" b="b"/>
            <a:pathLst>
              <a:path w="1853635" h="1853635">
                <a:moveTo>
                  <a:pt x="0" y="0"/>
                </a:moveTo>
                <a:lnTo>
                  <a:pt x="1853634" y="0"/>
                </a:lnTo>
                <a:lnTo>
                  <a:pt x="1853634" y="1853634"/>
                </a:lnTo>
                <a:lnTo>
                  <a:pt x="0" y="1853634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</p:sp>
      <p:sp>
        <p:nvSpPr>
          <p:cNvPr id="5" name="Freeform 5"/>
          <p:cNvSpPr/>
          <p:nvPr/>
        </p:nvSpPr>
        <p:spPr>
          <a:xfrm rot="6476524">
            <a:off x="16531359" y="4210092"/>
            <a:ext cx="3840318" cy="1459321"/>
          </a:xfrm>
          <a:custGeom>
            <a:avLst/>
            <a:gdLst/>
            <a:ahLst/>
            <a:cxnLst/>
            <a:rect l="l" t="t" r="r" b="b"/>
            <a:pathLst>
              <a:path w="3840318" h="1459321">
                <a:moveTo>
                  <a:pt x="0" y="0"/>
                </a:moveTo>
                <a:lnTo>
                  <a:pt x="3840318" y="0"/>
                </a:lnTo>
                <a:lnTo>
                  <a:pt x="3840318" y="1459321"/>
                </a:lnTo>
                <a:lnTo>
                  <a:pt x="0" y="1459321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a:blipFill>
        </p:spPr>
      </p:sp>
      <p:sp>
        <p:nvSpPr>
          <p:cNvPr id="6" name="Freeform 6"/>
          <p:cNvSpPr/>
          <p:nvPr/>
        </p:nvSpPr>
        <p:spPr>
          <a:xfrm rot="5400000">
            <a:off x="-622350" y="6101442"/>
            <a:ext cx="1998183" cy="1998183"/>
          </a:xfrm>
          <a:custGeom>
            <a:avLst/>
            <a:gdLst/>
            <a:ahLst/>
            <a:cxnLst/>
            <a:rect l="l" t="t" r="r" b="b"/>
            <a:pathLst>
              <a:path w="1998183" h="1998183">
                <a:moveTo>
                  <a:pt x="0" y="0"/>
                </a:moveTo>
                <a:lnTo>
                  <a:pt x="1998183" y="0"/>
                </a:lnTo>
                <a:lnTo>
                  <a:pt x="1998183" y="1998183"/>
                </a:lnTo>
                <a:lnTo>
                  <a:pt x="0" y="1998183"/>
                </a:lnTo>
                <a:lnTo>
                  <a:pt x="0" y="0"/>
                </a:lnTo>
                <a:close/>
              </a:path>
            </a:pathLst>
          </a:custGeom>
          <a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a:blipFill>
        </p:spPr>
      </p:sp>
      <p:sp>
        <p:nvSpPr>
          <p:cNvPr id="7" name="Freeform 7"/>
          <p:cNvSpPr/>
          <p:nvPr/>
        </p:nvSpPr>
        <p:spPr>
          <a:xfrm rot="-5656652">
            <a:off x="1254194" y="6934742"/>
            <a:ext cx="2204077" cy="6482578"/>
          </a:xfrm>
          <a:custGeom>
            <a:avLst/>
            <a:gdLst/>
            <a:ahLst/>
            <a:cxnLst/>
            <a:rect l="l" t="t" r="r" b="b"/>
            <a:pathLst>
              <a:path w="2204077" h="6482578">
                <a:moveTo>
                  <a:pt x="0" y="0"/>
                </a:moveTo>
                <a:lnTo>
                  <a:pt x="2204077" y="0"/>
                </a:lnTo>
                <a:lnTo>
                  <a:pt x="2204077" y="6482578"/>
                </a:lnTo>
                <a:lnTo>
                  <a:pt x="0" y="6482578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</p:sp>
      <p:sp>
        <p:nvSpPr>
          <p:cNvPr id="8" name="Freeform 8"/>
          <p:cNvSpPr/>
          <p:nvPr/>
        </p:nvSpPr>
        <p:spPr>
          <a:xfrm rot="1034028">
            <a:off x="6842012" y="9441436"/>
            <a:ext cx="5167333" cy="1691127"/>
          </a:xfrm>
          <a:custGeom>
            <a:avLst/>
            <a:gdLst/>
            <a:ahLst/>
            <a:cxnLst/>
            <a:rect l="l" t="t" r="r" b="b"/>
            <a:pathLst>
              <a:path w="5167333" h="1691127">
                <a:moveTo>
                  <a:pt x="0" y="0"/>
                </a:moveTo>
                <a:lnTo>
                  <a:pt x="5167333" y="0"/>
                </a:lnTo>
                <a:lnTo>
                  <a:pt x="5167333" y="1691128"/>
                </a:lnTo>
                <a:lnTo>
                  <a:pt x="0" y="1691128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9" name="Freeform 9"/>
          <p:cNvSpPr/>
          <p:nvPr/>
        </p:nvSpPr>
        <p:spPr>
          <a:xfrm>
            <a:off x="14290481" y="0"/>
            <a:ext cx="7315200" cy="2394065"/>
          </a:xfrm>
          <a:custGeom>
            <a:avLst/>
            <a:gdLst/>
            <a:ahLst/>
            <a:cxnLst/>
            <a:rect l="l" t="t" r="r" b="b"/>
            <a:pathLst>
              <a:path w="7315200" h="2394065">
                <a:moveTo>
                  <a:pt x="0" y="0"/>
                </a:moveTo>
                <a:lnTo>
                  <a:pt x="7315200" y="0"/>
                </a:lnTo>
                <a:lnTo>
                  <a:pt x="7315200" y="2394065"/>
                </a:lnTo>
                <a:lnTo>
                  <a:pt x="0" y="2394065"/>
                </a:lnTo>
                <a:lnTo>
                  <a:pt x="0" y="0"/>
                </a:lnTo>
                <a:close/>
              </a:path>
            </a:pathLst>
          </a:custGeom>
          <a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a:blipFill>
        </p:spPr>
      </p:sp>
      <p:sp>
        <p:nvSpPr>
          <p:cNvPr id="10" name="Freeform 10"/>
          <p:cNvSpPr/>
          <p:nvPr/>
        </p:nvSpPr>
        <p:spPr>
          <a:xfrm>
            <a:off x="10877148" y="610010"/>
            <a:ext cx="1790567" cy="1784056"/>
          </a:xfrm>
          <a:custGeom>
            <a:avLst/>
            <a:gdLst/>
            <a:ahLst/>
            <a:cxnLst/>
            <a:rect l="l" t="t" r="r" b="b"/>
            <a:pathLst>
              <a:path w="1790567" h="1784056">
                <a:moveTo>
                  <a:pt x="0" y="0"/>
                </a:moveTo>
                <a:lnTo>
                  <a:pt x="1790567" y="0"/>
                </a:lnTo>
                <a:lnTo>
                  <a:pt x="1790567" y="1784055"/>
                </a:lnTo>
                <a:lnTo>
                  <a:pt x="0" y="1784055"/>
                </a:lnTo>
                <a:lnTo>
                  <a:pt x="0" y="0"/>
                </a:lnTo>
                <a:close/>
              </a:path>
            </a:pathLst>
          </a:custGeom>
          <a:blipFill>
            <a:blip r:embed="rId14">
              <a:extLst>
                <a:ext uri="{96DAC541-7B7A-43D3-8B79-37D633B846F1}">
                  <asvg:svgBlip xmlns:asvg="http://schemas.microsoft.com/office/drawing/2016/SVG/main" r:embed="rId15"/>
                </a:ext>
              </a:extLst>
            </a:blip>
            <a:stretch>
              <a:fillRect/>
            </a:stretch>
          </a:blipFill>
        </p:spPr>
      </p:sp>
      <p:sp>
        <p:nvSpPr>
          <p:cNvPr id="11" name="TextBox 11"/>
          <p:cNvSpPr txBox="1"/>
          <p:nvPr/>
        </p:nvSpPr>
        <p:spPr>
          <a:xfrm>
            <a:off x="376741" y="2492102"/>
            <a:ext cx="17235520" cy="756399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441"/>
              </a:lnSpc>
            </a:pPr>
            <a:r>
              <a:rPr lang="en-US" sz="3886">
                <a:solidFill>
                  <a:srgbClr val="000000"/>
                </a:solidFill>
                <a:latin typeface="Childos Arabic"/>
              </a:rPr>
              <a:t>In conclusion, zeolites serve as invaluable catalysts in the production of iso-butene, offering significant advantages over traditional methods. By providing:</a:t>
            </a:r>
          </a:p>
          <a:p>
            <a:pPr marL="839112" lvl="1" indent="-419556">
              <a:lnSpc>
                <a:spcPts val="5441"/>
              </a:lnSpc>
              <a:buFont typeface="Arial"/>
              <a:buChar char="•"/>
            </a:pPr>
            <a:r>
              <a:rPr lang="en-US" sz="3886">
                <a:solidFill>
                  <a:srgbClr val="000000"/>
                </a:solidFill>
                <a:latin typeface="Childos Arabic Bold"/>
              </a:rPr>
              <a:t>Improved Selectivity</a:t>
            </a:r>
          </a:p>
          <a:p>
            <a:pPr marL="839112" lvl="1" indent="-419556">
              <a:lnSpc>
                <a:spcPts val="5441"/>
              </a:lnSpc>
              <a:buFont typeface="Arial"/>
              <a:buChar char="•"/>
            </a:pPr>
            <a:r>
              <a:rPr lang="en-US" sz="3886">
                <a:solidFill>
                  <a:srgbClr val="000000"/>
                </a:solidFill>
                <a:latin typeface="Childos Arabic Bold"/>
              </a:rPr>
              <a:t>Higher Activity</a:t>
            </a:r>
          </a:p>
          <a:p>
            <a:pPr marL="839112" lvl="1" indent="-419556">
              <a:lnSpc>
                <a:spcPts val="5441"/>
              </a:lnSpc>
              <a:buFont typeface="Arial"/>
              <a:buChar char="•"/>
            </a:pPr>
            <a:r>
              <a:rPr lang="en-US" sz="3886">
                <a:solidFill>
                  <a:srgbClr val="000000"/>
                </a:solidFill>
                <a:latin typeface="Childos Arabic Bold"/>
              </a:rPr>
              <a:t>Higher Yields</a:t>
            </a:r>
          </a:p>
          <a:p>
            <a:pPr marL="839112" lvl="1" indent="-419556">
              <a:lnSpc>
                <a:spcPts val="5441"/>
              </a:lnSpc>
              <a:buFont typeface="Arial"/>
              <a:buChar char="•"/>
            </a:pPr>
            <a:r>
              <a:rPr lang="en-US" sz="3886">
                <a:solidFill>
                  <a:srgbClr val="000000"/>
                </a:solidFill>
                <a:latin typeface="Childos Arabic Bold"/>
              </a:rPr>
              <a:t>More Stablity</a:t>
            </a:r>
          </a:p>
          <a:p>
            <a:pPr algn="ctr">
              <a:lnSpc>
                <a:spcPts val="5441"/>
              </a:lnSpc>
            </a:pPr>
            <a:r>
              <a:rPr lang="en-US" sz="3886">
                <a:solidFill>
                  <a:srgbClr val="000000"/>
                </a:solidFill>
                <a:latin typeface="Childos Arabic"/>
              </a:rPr>
              <a:t>The utilization of zeolites in the production of iso-butene not only enhances process efficiency but also contributes to greener and more sustainable industrial practices. This innovation exemplifies the potential of zeolites in revolutionizing petrochemical processes for a more efficient and environmentally conscious future.</a:t>
            </a:r>
          </a:p>
          <a:p>
            <a:pPr algn="ctr">
              <a:lnSpc>
                <a:spcPts val="5441"/>
              </a:lnSpc>
            </a:pPr>
            <a:endParaRPr lang="en-US" sz="3886">
              <a:solidFill>
                <a:srgbClr val="000000"/>
              </a:solidFill>
              <a:latin typeface="Childos Arabic"/>
            </a:endParaRPr>
          </a:p>
        </p:txBody>
      </p:sp>
      <p:sp>
        <p:nvSpPr>
          <p:cNvPr id="12" name="Freeform 12"/>
          <p:cNvSpPr/>
          <p:nvPr/>
        </p:nvSpPr>
        <p:spPr>
          <a:xfrm>
            <a:off x="6143911" y="4008288"/>
            <a:ext cx="3281768" cy="2662334"/>
          </a:xfrm>
          <a:custGeom>
            <a:avLst/>
            <a:gdLst/>
            <a:ahLst/>
            <a:cxnLst/>
            <a:rect l="l" t="t" r="r" b="b"/>
            <a:pathLst>
              <a:path w="3281768" h="2662334">
                <a:moveTo>
                  <a:pt x="0" y="0"/>
                </a:moveTo>
                <a:lnTo>
                  <a:pt x="3281768" y="0"/>
                </a:lnTo>
                <a:lnTo>
                  <a:pt x="3281768" y="2662334"/>
                </a:lnTo>
                <a:lnTo>
                  <a:pt x="0" y="2662334"/>
                </a:lnTo>
                <a:lnTo>
                  <a:pt x="0" y="0"/>
                </a:lnTo>
                <a:close/>
              </a:path>
            </a:pathLst>
          </a:custGeom>
          <a:blipFill>
            <a:blip r:embed="rId16"/>
            <a:stretch>
              <a:fillRect l="-4029" r="-4029" b="-8058"/>
            </a:stretch>
          </a:blipFill>
        </p:spPr>
      </p:sp>
      <p:sp>
        <p:nvSpPr>
          <p:cNvPr id="13" name="TextBox 13"/>
          <p:cNvSpPr txBox="1"/>
          <p:nvPr/>
        </p:nvSpPr>
        <p:spPr>
          <a:xfrm>
            <a:off x="2356233" y="1156576"/>
            <a:ext cx="10129878" cy="123749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9021"/>
              </a:lnSpc>
            </a:pPr>
            <a:r>
              <a:rPr lang="en-US" sz="9700">
                <a:solidFill>
                  <a:srgbClr val="D66A12"/>
                </a:solidFill>
                <a:latin typeface="One Little Font"/>
              </a:rPr>
              <a:t> CONCLUSION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9D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1919329" y="796083"/>
            <a:ext cx="12699858" cy="20717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7061"/>
              </a:lnSpc>
              <a:spcBef>
                <a:spcPct val="0"/>
              </a:spcBef>
            </a:pPr>
            <a:r>
              <a:rPr lang="en-US" sz="12186">
                <a:solidFill>
                  <a:srgbClr val="D66A12"/>
                </a:solidFill>
                <a:latin typeface="One Little Font"/>
              </a:rPr>
              <a:t>REFERENCES</a:t>
            </a:r>
          </a:p>
        </p:txBody>
      </p:sp>
      <p:sp>
        <p:nvSpPr>
          <p:cNvPr id="3" name="Freeform 3"/>
          <p:cNvSpPr/>
          <p:nvPr/>
        </p:nvSpPr>
        <p:spPr>
          <a:xfrm>
            <a:off x="3887491" y="2867796"/>
            <a:ext cx="11322961" cy="2983753"/>
          </a:xfrm>
          <a:custGeom>
            <a:avLst/>
            <a:gdLst/>
            <a:ahLst/>
            <a:cxnLst/>
            <a:rect l="l" t="t" r="r" b="b"/>
            <a:pathLst>
              <a:path w="11322961" h="2983753">
                <a:moveTo>
                  <a:pt x="0" y="0"/>
                </a:moveTo>
                <a:lnTo>
                  <a:pt x="11322961" y="0"/>
                </a:lnTo>
                <a:lnTo>
                  <a:pt x="11322961" y="2983753"/>
                </a:lnTo>
                <a:lnTo>
                  <a:pt x="0" y="2983753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4" name="Freeform 4"/>
          <p:cNvSpPr/>
          <p:nvPr/>
        </p:nvSpPr>
        <p:spPr>
          <a:xfrm>
            <a:off x="3860336" y="4466388"/>
            <a:ext cx="10513018" cy="2770322"/>
          </a:xfrm>
          <a:custGeom>
            <a:avLst/>
            <a:gdLst/>
            <a:ahLst/>
            <a:cxnLst/>
            <a:rect l="l" t="t" r="r" b="b"/>
            <a:pathLst>
              <a:path w="10513018" h="2770322">
                <a:moveTo>
                  <a:pt x="0" y="0"/>
                </a:moveTo>
                <a:lnTo>
                  <a:pt x="10513017" y="0"/>
                </a:lnTo>
                <a:lnTo>
                  <a:pt x="10513017" y="2770322"/>
                </a:lnTo>
                <a:lnTo>
                  <a:pt x="0" y="2770322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5" name="Freeform 5"/>
          <p:cNvSpPr/>
          <p:nvPr/>
        </p:nvSpPr>
        <p:spPr>
          <a:xfrm>
            <a:off x="4280631" y="6036656"/>
            <a:ext cx="9457458" cy="2492168"/>
          </a:xfrm>
          <a:custGeom>
            <a:avLst/>
            <a:gdLst/>
            <a:ahLst/>
            <a:cxnLst/>
            <a:rect l="l" t="t" r="r" b="b"/>
            <a:pathLst>
              <a:path w="9457458" h="2492168">
                <a:moveTo>
                  <a:pt x="0" y="0"/>
                </a:moveTo>
                <a:lnTo>
                  <a:pt x="9457458" y="0"/>
                </a:lnTo>
                <a:lnTo>
                  <a:pt x="9457458" y="2492168"/>
                </a:lnTo>
                <a:lnTo>
                  <a:pt x="0" y="2492168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6" name="Freeform 6"/>
          <p:cNvSpPr/>
          <p:nvPr/>
        </p:nvSpPr>
        <p:spPr>
          <a:xfrm>
            <a:off x="6842012" y="-353986"/>
            <a:ext cx="5167333" cy="1691127"/>
          </a:xfrm>
          <a:custGeom>
            <a:avLst/>
            <a:gdLst/>
            <a:ahLst/>
            <a:cxnLst/>
            <a:rect l="l" t="t" r="r" b="b"/>
            <a:pathLst>
              <a:path w="5167333" h="1691127">
                <a:moveTo>
                  <a:pt x="0" y="0"/>
                </a:moveTo>
                <a:lnTo>
                  <a:pt x="5167333" y="0"/>
                </a:lnTo>
                <a:lnTo>
                  <a:pt x="5167333" y="1691127"/>
                </a:lnTo>
                <a:lnTo>
                  <a:pt x="0" y="1691127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</p:sp>
      <p:sp>
        <p:nvSpPr>
          <p:cNvPr id="7" name="Freeform 7"/>
          <p:cNvSpPr/>
          <p:nvPr/>
        </p:nvSpPr>
        <p:spPr>
          <a:xfrm rot="-5656652">
            <a:off x="14952962" y="6886852"/>
            <a:ext cx="2204077" cy="6482578"/>
          </a:xfrm>
          <a:custGeom>
            <a:avLst/>
            <a:gdLst/>
            <a:ahLst/>
            <a:cxnLst/>
            <a:rect l="l" t="t" r="r" b="b"/>
            <a:pathLst>
              <a:path w="2204077" h="6482578">
                <a:moveTo>
                  <a:pt x="0" y="0"/>
                </a:moveTo>
                <a:lnTo>
                  <a:pt x="2204077" y="0"/>
                </a:lnTo>
                <a:lnTo>
                  <a:pt x="2204077" y="6482579"/>
                </a:lnTo>
                <a:lnTo>
                  <a:pt x="0" y="6482579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</p:sp>
      <p:sp>
        <p:nvSpPr>
          <p:cNvPr id="8" name="Freeform 8"/>
          <p:cNvSpPr/>
          <p:nvPr/>
        </p:nvSpPr>
        <p:spPr>
          <a:xfrm>
            <a:off x="-176802" y="-353986"/>
            <a:ext cx="1853635" cy="1853635"/>
          </a:xfrm>
          <a:custGeom>
            <a:avLst/>
            <a:gdLst/>
            <a:ahLst/>
            <a:cxnLst/>
            <a:rect l="l" t="t" r="r" b="b"/>
            <a:pathLst>
              <a:path w="1853635" h="1853635">
                <a:moveTo>
                  <a:pt x="0" y="0"/>
                </a:moveTo>
                <a:lnTo>
                  <a:pt x="1853634" y="0"/>
                </a:lnTo>
                <a:lnTo>
                  <a:pt x="1853634" y="1853634"/>
                </a:lnTo>
                <a:lnTo>
                  <a:pt x="0" y="1853634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a:blipFill>
        </p:spPr>
      </p:sp>
      <p:sp>
        <p:nvSpPr>
          <p:cNvPr id="9" name="Freeform 9"/>
          <p:cNvSpPr/>
          <p:nvPr/>
        </p:nvSpPr>
        <p:spPr>
          <a:xfrm rot="6476524">
            <a:off x="16531359" y="4210092"/>
            <a:ext cx="3840318" cy="1459321"/>
          </a:xfrm>
          <a:custGeom>
            <a:avLst/>
            <a:gdLst/>
            <a:ahLst/>
            <a:cxnLst/>
            <a:rect l="l" t="t" r="r" b="b"/>
            <a:pathLst>
              <a:path w="3840318" h="1459321">
                <a:moveTo>
                  <a:pt x="0" y="0"/>
                </a:moveTo>
                <a:lnTo>
                  <a:pt x="3840318" y="0"/>
                </a:lnTo>
                <a:lnTo>
                  <a:pt x="3840318" y="1459321"/>
                </a:lnTo>
                <a:lnTo>
                  <a:pt x="0" y="1459321"/>
                </a:lnTo>
                <a:lnTo>
                  <a:pt x="0" y="0"/>
                </a:lnTo>
                <a:close/>
              </a:path>
            </a:pathLst>
          </a:custGeom>
          <a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a:blipFill>
        </p:spPr>
      </p:sp>
      <p:sp>
        <p:nvSpPr>
          <p:cNvPr id="10" name="Freeform 10"/>
          <p:cNvSpPr/>
          <p:nvPr/>
        </p:nvSpPr>
        <p:spPr>
          <a:xfrm rot="5400000">
            <a:off x="-999091" y="3145317"/>
            <a:ext cx="1998183" cy="1998183"/>
          </a:xfrm>
          <a:custGeom>
            <a:avLst/>
            <a:gdLst/>
            <a:ahLst/>
            <a:cxnLst/>
            <a:rect l="l" t="t" r="r" b="b"/>
            <a:pathLst>
              <a:path w="1998183" h="1998183">
                <a:moveTo>
                  <a:pt x="0" y="0"/>
                </a:moveTo>
                <a:lnTo>
                  <a:pt x="1998182" y="0"/>
                </a:lnTo>
                <a:lnTo>
                  <a:pt x="1998182" y="1998183"/>
                </a:lnTo>
                <a:lnTo>
                  <a:pt x="0" y="1998183"/>
                </a:lnTo>
                <a:lnTo>
                  <a:pt x="0" y="0"/>
                </a:lnTo>
                <a:close/>
              </a:path>
            </a:pathLst>
          </a:custGeom>
          <a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a:blipFill>
        </p:spPr>
      </p:sp>
      <p:sp>
        <p:nvSpPr>
          <p:cNvPr id="11" name="Freeform 11"/>
          <p:cNvSpPr/>
          <p:nvPr/>
        </p:nvSpPr>
        <p:spPr>
          <a:xfrm rot="-5656652">
            <a:off x="1254194" y="6934742"/>
            <a:ext cx="2204077" cy="6482578"/>
          </a:xfrm>
          <a:custGeom>
            <a:avLst/>
            <a:gdLst/>
            <a:ahLst/>
            <a:cxnLst/>
            <a:rect l="l" t="t" r="r" b="b"/>
            <a:pathLst>
              <a:path w="2204077" h="6482578">
                <a:moveTo>
                  <a:pt x="0" y="0"/>
                </a:moveTo>
                <a:lnTo>
                  <a:pt x="2204077" y="0"/>
                </a:lnTo>
                <a:lnTo>
                  <a:pt x="2204077" y="6482578"/>
                </a:lnTo>
                <a:lnTo>
                  <a:pt x="0" y="6482578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</p:sp>
      <p:sp>
        <p:nvSpPr>
          <p:cNvPr id="12" name="Freeform 12"/>
          <p:cNvSpPr/>
          <p:nvPr/>
        </p:nvSpPr>
        <p:spPr>
          <a:xfrm rot="1034028">
            <a:off x="6842012" y="9441436"/>
            <a:ext cx="5167333" cy="1691127"/>
          </a:xfrm>
          <a:custGeom>
            <a:avLst/>
            <a:gdLst/>
            <a:ahLst/>
            <a:cxnLst/>
            <a:rect l="l" t="t" r="r" b="b"/>
            <a:pathLst>
              <a:path w="5167333" h="1691127">
                <a:moveTo>
                  <a:pt x="0" y="0"/>
                </a:moveTo>
                <a:lnTo>
                  <a:pt x="5167333" y="0"/>
                </a:lnTo>
                <a:lnTo>
                  <a:pt x="5167333" y="1691128"/>
                </a:lnTo>
                <a:lnTo>
                  <a:pt x="0" y="1691128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</p:sp>
      <p:sp>
        <p:nvSpPr>
          <p:cNvPr id="13" name="Freeform 13"/>
          <p:cNvSpPr/>
          <p:nvPr/>
        </p:nvSpPr>
        <p:spPr>
          <a:xfrm rot="5400000">
            <a:off x="16556857" y="-426260"/>
            <a:ext cx="1998183" cy="1998183"/>
          </a:xfrm>
          <a:custGeom>
            <a:avLst/>
            <a:gdLst/>
            <a:ahLst/>
            <a:cxnLst/>
            <a:rect l="l" t="t" r="r" b="b"/>
            <a:pathLst>
              <a:path w="1998183" h="1998183">
                <a:moveTo>
                  <a:pt x="0" y="0"/>
                </a:moveTo>
                <a:lnTo>
                  <a:pt x="1998182" y="0"/>
                </a:lnTo>
                <a:lnTo>
                  <a:pt x="1998182" y="1998182"/>
                </a:lnTo>
                <a:lnTo>
                  <a:pt x="0" y="1998182"/>
                </a:lnTo>
                <a:lnTo>
                  <a:pt x="0" y="0"/>
                </a:lnTo>
                <a:close/>
              </a:path>
            </a:pathLst>
          </a:custGeom>
          <a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a:blipFill>
        </p:spPr>
      </p:sp>
      <p:sp>
        <p:nvSpPr>
          <p:cNvPr id="14" name="Freeform 14"/>
          <p:cNvSpPr/>
          <p:nvPr/>
        </p:nvSpPr>
        <p:spPr>
          <a:xfrm>
            <a:off x="12009345" y="278407"/>
            <a:ext cx="3086361" cy="2609791"/>
          </a:xfrm>
          <a:custGeom>
            <a:avLst/>
            <a:gdLst/>
            <a:ahLst/>
            <a:cxnLst/>
            <a:rect l="l" t="t" r="r" b="b"/>
            <a:pathLst>
              <a:path w="3086361" h="2609791">
                <a:moveTo>
                  <a:pt x="0" y="0"/>
                </a:moveTo>
                <a:lnTo>
                  <a:pt x="3086362" y="0"/>
                </a:lnTo>
                <a:lnTo>
                  <a:pt x="3086362" y="2609791"/>
                </a:lnTo>
                <a:lnTo>
                  <a:pt x="0" y="2609791"/>
                </a:lnTo>
                <a:lnTo>
                  <a:pt x="0" y="0"/>
                </a:lnTo>
                <a:close/>
              </a:path>
            </a:pathLst>
          </a:custGeom>
          <a:blipFill>
            <a:blip r:embed="rId14">
              <a:extLst>
                <a:ext uri="{96DAC541-7B7A-43D3-8B79-37D633B846F1}">
                  <asvg:svgBlip xmlns:asvg="http://schemas.microsoft.com/office/drawing/2016/SVG/main" r:embed="rId15"/>
                </a:ext>
              </a:extLst>
            </a:blip>
            <a:stretch>
              <a:fillRect/>
            </a:stretch>
          </a:blipFill>
        </p:spPr>
      </p:sp>
      <p:sp>
        <p:nvSpPr>
          <p:cNvPr id="15" name="Freeform 15"/>
          <p:cNvSpPr/>
          <p:nvPr/>
        </p:nvSpPr>
        <p:spPr>
          <a:xfrm>
            <a:off x="6842012" y="7403665"/>
            <a:ext cx="4854300" cy="2724476"/>
          </a:xfrm>
          <a:custGeom>
            <a:avLst/>
            <a:gdLst/>
            <a:ahLst/>
            <a:cxnLst/>
            <a:rect l="l" t="t" r="r" b="b"/>
            <a:pathLst>
              <a:path w="4854300" h="2724476">
                <a:moveTo>
                  <a:pt x="0" y="0"/>
                </a:moveTo>
                <a:lnTo>
                  <a:pt x="4854300" y="0"/>
                </a:lnTo>
                <a:lnTo>
                  <a:pt x="4854300" y="2724476"/>
                </a:lnTo>
                <a:lnTo>
                  <a:pt x="0" y="2724476"/>
                </a:lnTo>
                <a:lnTo>
                  <a:pt x="0" y="0"/>
                </a:lnTo>
                <a:close/>
              </a:path>
            </a:pathLst>
          </a:custGeom>
          <a:blipFill>
            <a:blip r:embed="rId16"/>
            <a:stretch>
              <a:fillRect/>
            </a:stretch>
          </a:blipFill>
          <a:ln w="38100" cap="sq">
            <a:solidFill>
              <a:srgbClr val="000000"/>
            </a:solidFill>
            <a:prstDash val="solid"/>
            <a:miter/>
          </a:ln>
        </p:spPr>
      </p:sp>
      <p:sp>
        <p:nvSpPr>
          <p:cNvPr id="16" name="TextBox 16"/>
          <p:cNvSpPr txBox="1"/>
          <p:nvPr/>
        </p:nvSpPr>
        <p:spPr>
          <a:xfrm>
            <a:off x="4426829" y="3522972"/>
            <a:ext cx="9311261" cy="371373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656303" lvl="1" indent="-328152" algn="ctr">
              <a:lnSpc>
                <a:spcPts val="4255"/>
              </a:lnSpc>
              <a:buAutoNum type="arabicPeriod"/>
            </a:pPr>
            <a:r>
              <a:rPr lang="en-US" sz="3039">
                <a:solidFill>
                  <a:srgbClr val="FFF9D8"/>
                </a:solidFill>
                <a:latin typeface="Canva Sans"/>
              </a:rPr>
              <a:t>https://www.researchgate.net/figure/General-classification-of-zeolites_fig1_363591305</a:t>
            </a:r>
          </a:p>
          <a:p>
            <a:pPr marL="656303" lvl="1" indent="-328152" algn="ctr">
              <a:lnSpc>
                <a:spcPts val="4255"/>
              </a:lnSpc>
              <a:buAutoNum type="arabicPeriod"/>
            </a:pPr>
            <a:r>
              <a:rPr lang="en-US" sz="3039">
                <a:solidFill>
                  <a:srgbClr val="FFF9D8"/>
                </a:solidFill>
                <a:latin typeface="Canva Sans"/>
              </a:rPr>
              <a:t> https://comptes-rendus.academie-sciences.fr/chimie/articles/10.5802/crchim.149/#article-div</a:t>
            </a:r>
          </a:p>
          <a:p>
            <a:pPr marL="656303" lvl="1" indent="-328152" algn="ctr">
              <a:lnSpc>
                <a:spcPts val="4255"/>
              </a:lnSpc>
              <a:buAutoNum type="arabicPeriod"/>
            </a:pPr>
            <a:r>
              <a:rPr lang="en-US" sz="3039">
                <a:solidFill>
                  <a:srgbClr val="FFF9D8"/>
                </a:solidFill>
                <a:latin typeface="Canva Sans"/>
              </a:rPr>
              <a:t>https://www.slideshare.net/hzharraz/zeolite-and-its-uses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9D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6842012" y="-353986"/>
            <a:ext cx="5167333" cy="1691127"/>
          </a:xfrm>
          <a:custGeom>
            <a:avLst/>
            <a:gdLst/>
            <a:ahLst/>
            <a:cxnLst/>
            <a:rect l="l" t="t" r="r" b="b"/>
            <a:pathLst>
              <a:path w="5167333" h="1691127">
                <a:moveTo>
                  <a:pt x="0" y="0"/>
                </a:moveTo>
                <a:lnTo>
                  <a:pt x="5167333" y="0"/>
                </a:lnTo>
                <a:lnTo>
                  <a:pt x="5167333" y="1691127"/>
                </a:lnTo>
                <a:lnTo>
                  <a:pt x="0" y="1691127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3" name="Freeform 3"/>
          <p:cNvSpPr/>
          <p:nvPr/>
        </p:nvSpPr>
        <p:spPr>
          <a:xfrm>
            <a:off x="-176802" y="-353986"/>
            <a:ext cx="1853635" cy="1853635"/>
          </a:xfrm>
          <a:custGeom>
            <a:avLst/>
            <a:gdLst/>
            <a:ahLst/>
            <a:cxnLst/>
            <a:rect l="l" t="t" r="r" b="b"/>
            <a:pathLst>
              <a:path w="1853635" h="1853635">
                <a:moveTo>
                  <a:pt x="0" y="0"/>
                </a:moveTo>
                <a:lnTo>
                  <a:pt x="1853634" y="0"/>
                </a:lnTo>
                <a:lnTo>
                  <a:pt x="1853634" y="1853634"/>
                </a:lnTo>
                <a:lnTo>
                  <a:pt x="0" y="1853634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</p:sp>
      <p:sp>
        <p:nvSpPr>
          <p:cNvPr id="4" name="Freeform 4"/>
          <p:cNvSpPr/>
          <p:nvPr/>
        </p:nvSpPr>
        <p:spPr>
          <a:xfrm rot="6476524">
            <a:off x="16531359" y="4210092"/>
            <a:ext cx="3840318" cy="1459321"/>
          </a:xfrm>
          <a:custGeom>
            <a:avLst/>
            <a:gdLst/>
            <a:ahLst/>
            <a:cxnLst/>
            <a:rect l="l" t="t" r="r" b="b"/>
            <a:pathLst>
              <a:path w="3840318" h="1459321">
                <a:moveTo>
                  <a:pt x="0" y="0"/>
                </a:moveTo>
                <a:lnTo>
                  <a:pt x="3840318" y="0"/>
                </a:lnTo>
                <a:lnTo>
                  <a:pt x="3840318" y="1459321"/>
                </a:lnTo>
                <a:lnTo>
                  <a:pt x="0" y="1459321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</p:sp>
      <p:sp>
        <p:nvSpPr>
          <p:cNvPr id="5" name="Freeform 5"/>
          <p:cNvSpPr/>
          <p:nvPr/>
        </p:nvSpPr>
        <p:spPr>
          <a:xfrm rot="5400000">
            <a:off x="-622350" y="6101442"/>
            <a:ext cx="1998183" cy="1998183"/>
          </a:xfrm>
          <a:custGeom>
            <a:avLst/>
            <a:gdLst/>
            <a:ahLst/>
            <a:cxnLst/>
            <a:rect l="l" t="t" r="r" b="b"/>
            <a:pathLst>
              <a:path w="1998183" h="1998183">
                <a:moveTo>
                  <a:pt x="0" y="0"/>
                </a:moveTo>
                <a:lnTo>
                  <a:pt x="1998183" y="0"/>
                </a:lnTo>
                <a:lnTo>
                  <a:pt x="1998183" y="1998183"/>
                </a:lnTo>
                <a:lnTo>
                  <a:pt x="0" y="1998183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a:blipFill>
        </p:spPr>
      </p:sp>
      <p:sp>
        <p:nvSpPr>
          <p:cNvPr id="6" name="Freeform 6"/>
          <p:cNvSpPr/>
          <p:nvPr/>
        </p:nvSpPr>
        <p:spPr>
          <a:xfrm rot="1034028">
            <a:off x="6842012" y="9441436"/>
            <a:ext cx="5167333" cy="1691127"/>
          </a:xfrm>
          <a:custGeom>
            <a:avLst/>
            <a:gdLst/>
            <a:ahLst/>
            <a:cxnLst/>
            <a:rect l="l" t="t" r="r" b="b"/>
            <a:pathLst>
              <a:path w="5167333" h="1691127">
                <a:moveTo>
                  <a:pt x="0" y="0"/>
                </a:moveTo>
                <a:lnTo>
                  <a:pt x="5167333" y="0"/>
                </a:lnTo>
                <a:lnTo>
                  <a:pt x="5167333" y="1691128"/>
                </a:lnTo>
                <a:lnTo>
                  <a:pt x="0" y="1691128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7" name="Freeform 7"/>
          <p:cNvSpPr/>
          <p:nvPr/>
        </p:nvSpPr>
        <p:spPr>
          <a:xfrm rot="5400000">
            <a:off x="16289817" y="-200553"/>
            <a:ext cx="1998183" cy="1998183"/>
          </a:xfrm>
          <a:custGeom>
            <a:avLst/>
            <a:gdLst/>
            <a:ahLst/>
            <a:cxnLst/>
            <a:rect l="l" t="t" r="r" b="b"/>
            <a:pathLst>
              <a:path w="1998183" h="1998183">
                <a:moveTo>
                  <a:pt x="0" y="0"/>
                </a:moveTo>
                <a:lnTo>
                  <a:pt x="1998183" y="0"/>
                </a:lnTo>
                <a:lnTo>
                  <a:pt x="1998183" y="1998183"/>
                </a:lnTo>
                <a:lnTo>
                  <a:pt x="0" y="1998183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a:blipFill>
        </p:spPr>
      </p:sp>
      <p:sp>
        <p:nvSpPr>
          <p:cNvPr id="8" name="Freeform 8"/>
          <p:cNvSpPr/>
          <p:nvPr/>
        </p:nvSpPr>
        <p:spPr>
          <a:xfrm rot="1388351">
            <a:off x="13072252" y="7094215"/>
            <a:ext cx="1969106" cy="644435"/>
          </a:xfrm>
          <a:custGeom>
            <a:avLst/>
            <a:gdLst/>
            <a:ahLst/>
            <a:cxnLst/>
            <a:rect l="l" t="t" r="r" b="b"/>
            <a:pathLst>
              <a:path w="1969106" h="644435">
                <a:moveTo>
                  <a:pt x="0" y="0"/>
                </a:moveTo>
                <a:lnTo>
                  <a:pt x="1969106" y="0"/>
                </a:lnTo>
                <a:lnTo>
                  <a:pt x="1969106" y="644435"/>
                </a:lnTo>
                <a:lnTo>
                  <a:pt x="0" y="644435"/>
                </a:lnTo>
                <a:lnTo>
                  <a:pt x="0" y="0"/>
                </a:lnTo>
                <a:close/>
              </a:path>
            </a:pathLst>
          </a:custGeom>
          <a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a:blipFill>
        </p:spPr>
      </p:sp>
      <p:sp>
        <p:nvSpPr>
          <p:cNvPr id="9" name="Freeform 9"/>
          <p:cNvSpPr/>
          <p:nvPr/>
        </p:nvSpPr>
        <p:spPr>
          <a:xfrm rot="-1689632">
            <a:off x="2458919" y="2347467"/>
            <a:ext cx="2279241" cy="745933"/>
          </a:xfrm>
          <a:custGeom>
            <a:avLst/>
            <a:gdLst/>
            <a:ahLst/>
            <a:cxnLst/>
            <a:rect l="l" t="t" r="r" b="b"/>
            <a:pathLst>
              <a:path w="2279241" h="745933">
                <a:moveTo>
                  <a:pt x="0" y="0"/>
                </a:moveTo>
                <a:lnTo>
                  <a:pt x="2279241" y="0"/>
                </a:lnTo>
                <a:lnTo>
                  <a:pt x="2279241" y="745933"/>
                </a:lnTo>
                <a:lnTo>
                  <a:pt x="0" y="745933"/>
                </a:lnTo>
                <a:lnTo>
                  <a:pt x="0" y="0"/>
                </a:lnTo>
                <a:close/>
              </a:path>
            </a:pathLst>
          </a:custGeom>
          <a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a:blipFill>
        </p:spPr>
      </p:sp>
      <p:sp>
        <p:nvSpPr>
          <p:cNvPr id="10" name="Freeform 10"/>
          <p:cNvSpPr/>
          <p:nvPr/>
        </p:nvSpPr>
        <p:spPr>
          <a:xfrm>
            <a:off x="14359316" y="7396440"/>
            <a:ext cx="4958949" cy="3723720"/>
          </a:xfrm>
          <a:custGeom>
            <a:avLst/>
            <a:gdLst/>
            <a:ahLst/>
            <a:cxnLst/>
            <a:rect l="l" t="t" r="r" b="b"/>
            <a:pathLst>
              <a:path w="4958949" h="3723720">
                <a:moveTo>
                  <a:pt x="0" y="0"/>
                </a:moveTo>
                <a:lnTo>
                  <a:pt x="4958949" y="0"/>
                </a:lnTo>
                <a:lnTo>
                  <a:pt x="4958949" y="3723720"/>
                </a:lnTo>
                <a:lnTo>
                  <a:pt x="0" y="3723720"/>
                </a:lnTo>
                <a:lnTo>
                  <a:pt x="0" y="0"/>
                </a:lnTo>
                <a:close/>
              </a:path>
            </a:pathLst>
          </a:custGeom>
          <a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a:blipFill>
        </p:spPr>
      </p:sp>
      <p:sp>
        <p:nvSpPr>
          <p:cNvPr id="11" name="Freeform 11"/>
          <p:cNvSpPr/>
          <p:nvPr/>
        </p:nvSpPr>
        <p:spPr>
          <a:xfrm>
            <a:off x="3320997" y="3423090"/>
            <a:ext cx="12209363" cy="3440821"/>
          </a:xfrm>
          <a:custGeom>
            <a:avLst/>
            <a:gdLst/>
            <a:ahLst/>
            <a:cxnLst/>
            <a:rect l="l" t="t" r="r" b="b"/>
            <a:pathLst>
              <a:path w="12209363" h="3440821">
                <a:moveTo>
                  <a:pt x="0" y="0"/>
                </a:moveTo>
                <a:lnTo>
                  <a:pt x="12209363" y="0"/>
                </a:lnTo>
                <a:lnTo>
                  <a:pt x="12209363" y="3440820"/>
                </a:lnTo>
                <a:lnTo>
                  <a:pt x="0" y="3440820"/>
                </a:lnTo>
                <a:lnTo>
                  <a:pt x="0" y="0"/>
                </a:lnTo>
                <a:close/>
              </a:path>
            </a:pathLst>
          </a:custGeom>
          <a:blipFill>
            <a:blip r:embed="rId14">
              <a:extLst>
                <a:ext uri="{96DAC541-7B7A-43D3-8B79-37D633B846F1}">
                  <asvg:svgBlip xmlns:asvg="http://schemas.microsoft.com/office/drawing/2016/SVG/main" r:embed="rId15"/>
                </a:ext>
              </a:extLst>
            </a:blip>
            <a:stretch>
              <a:fillRect/>
            </a:stretch>
          </a:blipFill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1022</Words>
  <Application>Microsoft Macintosh PowerPoint</Application>
  <PresentationFormat>Custom</PresentationFormat>
  <Paragraphs>117</Paragraphs>
  <Slides>17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10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8" baseType="lpstr">
      <vt:lpstr>Calibri</vt:lpstr>
      <vt:lpstr>Canva Sans Semi-Bold</vt:lpstr>
      <vt:lpstr>One Little Font Semi-Bold</vt:lpstr>
      <vt:lpstr>Arial</vt:lpstr>
      <vt:lpstr>Childos Arabic Semi-Bold</vt:lpstr>
      <vt:lpstr>Childos Arabic</vt:lpstr>
      <vt:lpstr>Childos Arabic Bold</vt:lpstr>
      <vt:lpstr>Canva Sans Bold</vt:lpstr>
      <vt:lpstr>Canva Sans</vt:lpstr>
      <vt:lpstr>One Little Font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Non Text Magic Studio Magic Design for Presentations L&amp;P</dc:title>
  <cp:lastModifiedBy>HARISHANKAR YADAV</cp:lastModifiedBy>
  <cp:revision>2</cp:revision>
  <dcterms:created xsi:type="dcterms:W3CDTF">2006-08-16T00:00:00Z</dcterms:created>
  <dcterms:modified xsi:type="dcterms:W3CDTF">2025-10-01T17:35:24Z</dcterms:modified>
  <dc:identifier>DAGBDWdTvAE</dc:identifier>
</cp:coreProperties>
</file>