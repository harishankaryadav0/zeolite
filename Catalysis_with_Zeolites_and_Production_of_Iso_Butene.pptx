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Canva Sans" panose="020B0503030501040103" pitchFamily="34" charset="0"/>
      <p:regular r:id="rId23"/>
    </p:embeddedFont>
    <p:embeddedFont>
      <p:font typeface="Canva Sans Bold" panose="020B0803030501040103" pitchFamily="34" charset="0"/>
      <p:regular r:id="rId24"/>
      <p:bold r:id="rId25"/>
    </p:embeddedFont>
    <p:embeddedFont>
      <p:font typeface="Childos Arabic" pitchFamily="2" charset="-78"/>
      <p:regular r:id="rId26"/>
    </p:embeddedFont>
    <p:embeddedFont>
      <p:font typeface="Childos Arabic Bold" pitchFamily="2" charset="-78"/>
      <p:regular r:id="rId27"/>
      <p:bold r:id="rId28"/>
    </p:embeddedFont>
    <p:embeddedFont>
      <p:font typeface="Childos Arabic Semi-Bold" pitchFamily="2" charset="-78"/>
      <p:regular r:id="rId29"/>
      <p:bold r:id="rId30"/>
    </p:embeddedFont>
    <p:embeddedFont>
      <p:font typeface="One Little Font" pitchFamily="2" charset="77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 autoAdjust="0"/>
    <p:restoredTop sz="94628" autoAdjust="0"/>
  </p:normalViewPr>
  <p:slideViewPr>
    <p:cSldViewPr>
      <p:cViewPr varScale="1">
        <p:scale>
          <a:sx n="68" d="100"/>
          <a:sy n="68" d="100"/>
        </p:scale>
        <p:origin x="264" y="5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4.svg"/><Relationship Id="rId7" Type="http://schemas.openxmlformats.org/officeDocument/2006/relationships/image" Target="../media/image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6.jpeg"/><Relationship Id="rId5" Type="http://schemas.openxmlformats.org/officeDocument/2006/relationships/image" Target="../media/image5.sv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5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4.png"/><Relationship Id="rId17" Type="http://schemas.openxmlformats.org/officeDocument/2006/relationships/image" Target="../media/image24.jpeg"/><Relationship Id="rId2" Type="http://schemas.openxmlformats.org/officeDocument/2006/relationships/image" Target="../media/image2.pn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0.svg"/><Relationship Id="rId5" Type="http://schemas.openxmlformats.org/officeDocument/2006/relationships/image" Target="../media/image7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6.png"/><Relationship Id="rId9" Type="http://schemas.openxmlformats.org/officeDocument/2006/relationships/image" Target="../media/image18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svg"/><Relationship Id="rId7" Type="http://schemas.openxmlformats.org/officeDocument/2006/relationships/image" Target="../media/image7.svg"/><Relationship Id="rId12" Type="http://schemas.openxmlformats.org/officeDocument/2006/relationships/image" Target="../media/image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6.svg"/><Relationship Id="rId5" Type="http://schemas.openxmlformats.org/officeDocument/2006/relationships/image" Target="../media/image5.svg"/><Relationship Id="rId10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3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34.svg"/><Relationship Id="rId2" Type="http://schemas.openxmlformats.org/officeDocument/2006/relationships/image" Target="../media/image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32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6.png"/><Relationship Id="rId18" Type="http://schemas.openxmlformats.org/officeDocument/2006/relationships/image" Target="../media/image41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35.jpeg"/><Relationship Id="rId17" Type="http://schemas.openxmlformats.org/officeDocument/2006/relationships/image" Target="../media/image40.png"/><Relationship Id="rId2" Type="http://schemas.openxmlformats.org/officeDocument/2006/relationships/image" Target="../media/image2.png"/><Relationship Id="rId16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5" Type="http://schemas.openxmlformats.org/officeDocument/2006/relationships/image" Target="../media/image38.pn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Relationship Id="rId14" Type="http://schemas.openxmlformats.org/officeDocument/2006/relationships/image" Target="../media/image3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3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5.svg"/><Relationship Id="rId7" Type="http://schemas.openxmlformats.org/officeDocument/2006/relationships/image" Target="../media/image3.svg"/><Relationship Id="rId12" Type="http://schemas.openxmlformats.org/officeDocument/2006/relationships/image" Target="../media/image46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image" Target="../media/image29.svg"/><Relationship Id="rId5" Type="http://schemas.openxmlformats.org/officeDocument/2006/relationships/image" Target="../media/image7.svg"/><Relationship Id="rId10" Type="http://schemas.openxmlformats.org/officeDocument/2006/relationships/image" Target="../media/image28.png"/><Relationship Id="rId4" Type="http://schemas.openxmlformats.org/officeDocument/2006/relationships/image" Target="../media/image6.png"/><Relationship Id="rId9" Type="http://schemas.openxmlformats.org/officeDocument/2006/relationships/image" Target="../media/image26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52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5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5" Type="http://schemas.openxmlformats.org/officeDocument/2006/relationships/image" Target="../media/image54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Relationship Id="rId14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26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14.svg"/><Relationship Id="rId15" Type="http://schemas.openxmlformats.org/officeDocument/2006/relationships/image" Target="../media/image56.svg"/><Relationship Id="rId10" Type="http://schemas.openxmlformats.org/officeDocument/2006/relationships/image" Target="../media/image8.png"/><Relationship Id="rId4" Type="http://schemas.openxmlformats.org/officeDocument/2006/relationships/image" Target="../media/image13.png"/><Relationship Id="rId9" Type="http://schemas.openxmlformats.org/officeDocument/2006/relationships/image" Target="../media/image7.svg"/><Relationship Id="rId14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59.svg"/><Relationship Id="rId7" Type="http://schemas.openxmlformats.org/officeDocument/2006/relationships/image" Target="../media/image14.svg"/><Relationship Id="rId12" Type="http://schemas.openxmlformats.org/officeDocument/2006/relationships/image" Target="../media/image8.png"/><Relationship Id="rId2" Type="http://schemas.openxmlformats.org/officeDocument/2006/relationships/image" Target="../media/image58.png"/><Relationship Id="rId16" Type="http://schemas.openxmlformats.org/officeDocument/2006/relationships/image" Target="../media/image6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7.svg"/><Relationship Id="rId5" Type="http://schemas.openxmlformats.org/officeDocument/2006/relationships/image" Target="../media/image3.svg"/><Relationship Id="rId15" Type="http://schemas.openxmlformats.org/officeDocument/2006/relationships/image" Target="../media/image61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svg"/><Relationship Id="rId1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0.svg"/><Relationship Id="rId5" Type="http://schemas.openxmlformats.org/officeDocument/2006/relationships/image" Target="../media/image5.svg"/><Relationship Id="rId15" Type="http://schemas.openxmlformats.org/officeDocument/2006/relationships/image" Target="../media/image64.svg"/><Relationship Id="rId10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84956" y="1028700"/>
            <a:ext cx="16230600" cy="8229600"/>
          </a:xfrm>
          <a:custGeom>
            <a:avLst/>
            <a:gdLst/>
            <a:ahLst/>
            <a:cxnLst/>
            <a:rect l="l" t="t" r="r" b="b"/>
            <a:pathLst>
              <a:path w="16230600" h="8229600">
                <a:moveTo>
                  <a:pt x="0" y="0"/>
                </a:moveTo>
                <a:lnTo>
                  <a:pt x="16230600" y="0"/>
                </a:lnTo>
                <a:lnTo>
                  <a:pt x="16230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-2971" t="-80933" r="-2971" b="-28007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6766209">
            <a:off x="29609" y="3197017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599622" y="8713932"/>
            <a:ext cx="7851896" cy="1413341"/>
          </a:xfrm>
          <a:custGeom>
            <a:avLst/>
            <a:gdLst/>
            <a:ahLst/>
            <a:cxnLst/>
            <a:rect l="l" t="t" r="r" b="b"/>
            <a:pathLst>
              <a:path w="7851896" h="1413341">
                <a:moveTo>
                  <a:pt x="0" y="0"/>
                </a:moveTo>
                <a:lnTo>
                  <a:pt x="7851896" y="0"/>
                </a:lnTo>
                <a:lnTo>
                  <a:pt x="7851896" y="1413341"/>
                </a:lnTo>
                <a:lnTo>
                  <a:pt x="0" y="141334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738717" y="7628266"/>
            <a:ext cx="8037750" cy="1446795"/>
          </a:xfrm>
          <a:custGeom>
            <a:avLst/>
            <a:gdLst/>
            <a:ahLst/>
            <a:cxnLst/>
            <a:rect l="l" t="t" r="r" b="b"/>
            <a:pathLst>
              <a:path w="8037750" h="1446795">
                <a:moveTo>
                  <a:pt x="0" y="0"/>
                </a:moveTo>
                <a:lnTo>
                  <a:pt x="8037751" y="0"/>
                </a:lnTo>
                <a:lnTo>
                  <a:pt x="8037751" y="1446795"/>
                </a:lnTo>
                <a:lnTo>
                  <a:pt x="0" y="144679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5400000">
            <a:off x="16289817" y="-200553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67715" y="5628219"/>
            <a:ext cx="5182157" cy="4499055"/>
          </a:xfrm>
          <a:custGeom>
            <a:avLst/>
            <a:gdLst/>
            <a:ahLst/>
            <a:cxnLst/>
            <a:rect l="l" t="t" r="r" b="b"/>
            <a:pathLst>
              <a:path w="5182157" h="4499055">
                <a:moveTo>
                  <a:pt x="0" y="0"/>
                </a:moveTo>
                <a:lnTo>
                  <a:pt x="5182157" y="0"/>
                </a:lnTo>
                <a:lnTo>
                  <a:pt x="5182157" y="4499054"/>
                </a:lnTo>
                <a:lnTo>
                  <a:pt x="0" y="44990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905296" y="1511267"/>
            <a:ext cx="15260531" cy="342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1"/>
              </a:lnSpc>
            </a:pPr>
            <a:r>
              <a:rPr lang="en-US" sz="9360" spc="-9">
                <a:solidFill>
                  <a:srgbClr val="D66A12"/>
                </a:solidFill>
                <a:latin typeface="Childos Arabic Semi-Bold"/>
              </a:rPr>
              <a:t>Catalysis with Zeolites and Production of Iso-Butene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85725" y="7533016"/>
            <a:ext cx="7202275" cy="2988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Presented by: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Harishankar Yadav- 220107043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Aditya Kanglekar-220107016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 err="1">
                <a:solidFill>
                  <a:srgbClr val="000000"/>
                </a:solidFill>
                <a:latin typeface="Childos Arabic Bold"/>
              </a:rPr>
              <a:t>Sachin</a:t>
            </a:r>
            <a:r>
              <a:rPr lang="en-US" sz="3367" spc="417">
                <a:solidFill>
                  <a:srgbClr val="000000"/>
                </a:solidFill>
                <a:latin typeface="Childos Arabic Bold"/>
              </a:rPr>
              <a:t> Tiwari-220107073</a:t>
            </a:r>
            <a:endParaRPr lang="en-US" sz="3367" spc="417" dirty="0">
              <a:solidFill>
                <a:srgbClr val="000000"/>
              </a:solidFill>
              <a:latin typeface="Childos Arabic Bold"/>
            </a:endParaRPr>
          </a:p>
          <a:p>
            <a:pPr algn="ctr">
              <a:lnSpc>
                <a:spcPts val="4714"/>
              </a:lnSpc>
            </a:pPr>
            <a:endParaRPr lang="en-US" sz="3367" spc="417" dirty="0">
              <a:solidFill>
                <a:srgbClr val="000000"/>
              </a:solidFill>
              <a:latin typeface="Childos Arabic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634232" y="5380194"/>
            <a:ext cx="4965236" cy="793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dirty="0">
                <a:solidFill>
                  <a:srgbClr val="000000"/>
                </a:solidFill>
                <a:latin typeface="Childos Arabic Bold"/>
              </a:rPr>
              <a:t>Date: 01/04/2025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1524" y="6682770"/>
            <a:ext cx="9908003" cy="900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80"/>
              </a:lnSpc>
            </a:pPr>
            <a:r>
              <a:rPr lang="en-US" sz="5057">
                <a:solidFill>
                  <a:srgbClr val="000000"/>
                </a:solidFill>
                <a:latin typeface="Childos Arabic"/>
              </a:rPr>
              <a:t>CL-304 : Chemical Process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597884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958226" y="6275414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2"/>
                </a:lnTo>
                <a:lnTo>
                  <a:pt x="0" y="19981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867120">
            <a:off x="-1247509" y="246138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9" y="0"/>
                </a:lnTo>
                <a:lnTo>
                  <a:pt x="3840319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324755" y="3573955"/>
            <a:ext cx="7540943" cy="4211827"/>
          </a:xfrm>
          <a:custGeom>
            <a:avLst/>
            <a:gdLst/>
            <a:ahLst/>
            <a:cxnLst/>
            <a:rect l="l" t="t" r="r" b="b"/>
            <a:pathLst>
              <a:path w="7540943" h="4211827">
                <a:moveTo>
                  <a:pt x="0" y="0"/>
                </a:moveTo>
                <a:lnTo>
                  <a:pt x="7540943" y="0"/>
                </a:lnTo>
                <a:lnTo>
                  <a:pt x="7540943" y="4211827"/>
                </a:lnTo>
                <a:lnTo>
                  <a:pt x="0" y="42118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443" t="-555" b="-555"/>
            </a:stretch>
          </a:blipFill>
          <a:ln w="38100" cap="sq">
            <a:solidFill>
              <a:srgbClr val="FFCB65"/>
            </a:solidFill>
            <a:prstDash val="solid"/>
            <a:miter/>
          </a:ln>
        </p:spPr>
      </p:sp>
      <p:sp>
        <p:nvSpPr>
          <p:cNvPr id="8" name="Freeform 8"/>
          <p:cNvSpPr/>
          <p:nvPr/>
        </p:nvSpPr>
        <p:spPr>
          <a:xfrm>
            <a:off x="5422195" y="8632376"/>
            <a:ext cx="6439991" cy="748812"/>
          </a:xfrm>
          <a:custGeom>
            <a:avLst/>
            <a:gdLst/>
            <a:ahLst/>
            <a:cxnLst/>
            <a:rect l="l" t="t" r="r" b="b"/>
            <a:pathLst>
              <a:path w="6439991" h="748812">
                <a:moveTo>
                  <a:pt x="0" y="0"/>
                </a:moveTo>
                <a:lnTo>
                  <a:pt x="6439991" y="0"/>
                </a:lnTo>
                <a:lnTo>
                  <a:pt x="6439991" y="748812"/>
                </a:lnTo>
                <a:lnTo>
                  <a:pt x="0" y="7488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51477" t="-367893" r="-45330" b="-801557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3482538" y="766249"/>
            <a:ext cx="10949174" cy="1866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233"/>
              </a:lnSpc>
              <a:spcBef>
                <a:spcPct val="0"/>
              </a:spcBef>
            </a:pPr>
            <a:r>
              <a:rPr lang="en-US" sz="10881">
                <a:solidFill>
                  <a:srgbClr val="D66A12"/>
                </a:solidFill>
                <a:latin typeface="One Little Font"/>
              </a:rPr>
              <a:t>INTRODUCTION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865" y="2660686"/>
            <a:ext cx="10283890" cy="5971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Zeolites are </a:t>
            </a:r>
            <a:r>
              <a:rPr lang="en-US" sz="3769">
                <a:solidFill>
                  <a:srgbClr val="D66A12"/>
                </a:solidFill>
                <a:latin typeface="Canva Sans Bold"/>
              </a:rPr>
              <a:t>crystalline,  aluminosilicates </a:t>
            </a:r>
            <a:r>
              <a:rPr lang="en-US" sz="3769">
                <a:solidFill>
                  <a:srgbClr val="D66A12"/>
                </a:solidFill>
                <a:latin typeface="Canva Sans"/>
              </a:rPr>
              <a:t>characterized by their porous structure and high surface area.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They consist of a framework of silicon, aluminum, and oxygen atoms.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They have a </a:t>
            </a:r>
            <a:r>
              <a:rPr lang="en-US" sz="3769">
                <a:solidFill>
                  <a:srgbClr val="D66A12"/>
                </a:solidFill>
                <a:latin typeface="Canva Sans Bold"/>
              </a:rPr>
              <a:t>porous structure</a:t>
            </a:r>
            <a:r>
              <a:rPr lang="en-US" sz="3769">
                <a:solidFill>
                  <a:srgbClr val="D66A12"/>
                </a:solidFill>
                <a:latin typeface="Canva Sans"/>
              </a:rPr>
              <a:t> (Allows molecules to enter and react within their cavity).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Chemical Structure -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42012" y="9490474"/>
            <a:ext cx="8020943" cy="63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8"/>
              </a:lnSpc>
            </a:pPr>
            <a:r>
              <a:rPr lang="en-US" sz="3770">
                <a:solidFill>
                  <a:srgbClr val="D66A12"/>
                </a:solidFill>
                <a:latin typeface="Canva Sans"/>
              </a:rPr>
              <a:t>[here, M is either a metal ion or H+]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943791" y="8827129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4" y="0"/>
                </a:lnTo>
                <a:lnTo>
                  <a:pt x="5167334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457032" y="-1019199"/>
            <a:ext cx="13417029" cy="5861854"/>
          </a:xfrm>
          <a:custGeom>
            <a:avLst/>
            <a:gdLst/>
            <a:ahLst/>
            <a:cxnLst/>
            <a:rect l="l" t="t" r="r" b="b"/>
            <a:pathLst>
              <a:path w="13417029" h="5861854">
                <a:moveTo>
                  <a:pt x="0" y="0"/>
                </a:moveTo>
                <a:lnTo>
                  <a:pt x="13417029" y="0"/>
                </a:lnTo>
                <a:lnTo>
                  <a:pt x="13417029" y="5861853"/>
                </a:lnTo>
                <a:lnTo>
                  <a:pt x="0" y="586185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874061" y="8719169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0" y="0"/>
                </a:lnTo>
                <a:lnTo>
                  <a:pt x="3294690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597884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1883" y="8713932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2810949">
            <a:off x="-1787630" y="514680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922244" y="3748946"/>
            <a:ext cx="7868297" cy="6378048"/>
          </a:xfrm>
          <a:custGeom>
            <a:avLst/>
            <a:gdLst/>
            <a:ahLst/>
            <a:cxnLst/>
            <a:rect l="l" t="t" r="r" b="b"/>
            <a:pathLst>
              <a:path w="7868297" h="6378048">
                <a:moveTo>
                  <a:pt x="0" y="0"/>
                </a:moveTo>
                <a:lnTo>
                  <a:pt x="7868297" y="0"/>
                </a:lnTo>
                <a:lnTo>
                  <a:pt x="7868297" y="6378048"/>
                </a:lnTo>
                <a:lnTo>
                  <a:pt x="0" y="63780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17905" t="-77927" r="-76597" b="-2034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14778" y="5580398"/>
            <a:ext cx="6048686" cy="4546595"/>
          </a:xfrm>
          <a:custGeom>
            <a:avLst/>
            <a:gdLst/>
            <a:ahLst/>
            <a:cxnLst/>
            <a:rect l="l" t="t" r="r" b="b"/>
            <a:pathLst>
              <a:path w="6048686" h="4546595">
                <a:moveTo>
                  <a:pt x="0" y="0"/>
                </a:moveTo>
                <a:lnTo>
                  <a:pt x="6048686" y="0"/>
                </a:lnTo>
                <a:lnTo>
                  <a:pt x="6048686" y="4546596"/>
                </a:lnTo>
                <a:lnTo>
                  <a:pt x="0" y="454659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314778" y="729702"/>
            <a:ext cx="13858702" cy="1370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176"/>
              </a:lnSpc>
            </a:pPr>
            <a:r>
              <a:rPr lang="en-US" sz="10600" spc="-116">
                <a:solidFill>
                  <a:srgbClr val="FFF9D8"/>
                </a:solidFill>
                <a:latin typeface="One Little Font"/>
              </a:rPr>
              <a:t>COMMON ZEOLITES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0" y="2294796"/>
            <a:ext cx="18451518" cy="1206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Canva Sans Bold"/>
              </a:rPr>
              <a:t>Zeolites are either formed naturally or can be synthesised or produced industrially.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Canva Sans Bold"/>
              </a:rPr>
              <a:t>There are nearly 50 different types of zeolites which are available.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048296" y="4240324"/>
            <a:ext cx="6479161" cy="1137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63"/>
              </a:lnSpc>
            </a:pPr>
            <a:r>
              <a:rPr lang="en-US" sz="3259">
                <a:solidFill>
                  <a:srgbClr val="000000"/>
                </a:solidFill>
                <a:latin typeface="Canva Sans Bold"/>
              </a:rPr>
              <a:t>some of the most common mineral zeolites are-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56030" y="31676"/>
            <a:ext cx="11975940" cy="1882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0"/>
              </a:lnSpc>
              <a:spcBef>
                <a:spcPct val="0"/>
              </a:spcBef>
            </a:pPr>
            <a:r>
              <a:rPr lang="en-US" sz="11000">
                <a:solidFill>
                  <a:srgbClr val="D66A12"/>
                </a:solidFill>
                <a:latin typeface="One Little Font"/>
              </a:rPr>
              <a:t>TYPES OF ZEOLITES</a:t>
            </a:r>
          </a:p>
        </p:txBody>
      </p:sp>
      <p:sp>
        <p:nvSpPr>
          <p:cNvPr id="3" name="Freeform 3"/>
          <p:cNvSpPr/>
          <p:nvPr/>
        </p:nvSpPr>
        <p:spPr>
          <a:xfrm rot="-5757242">
            <a:off x="17660149" y="6517914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6" y="0"/>
                </a:lnTo>
                <a:lnTo>
                  <a:pt x="2204076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656652">
            <a:off x="-1278841" y="7045711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400681">
            <a:off x="13471334" y="-49905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020856" y="9516891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141820" y="3904032"/>
            <a:ext cx="8622328" cy="6151989"/>
          </a:xfrm>
          <a:custGeom>
            <a:avLst/>
            <a:gdLst/>
            <a:ahLst/>
            <a:cxnLst/>
            <a:rect l="l" t="t" r="r" b="b"/>
            <a:pathLst>
              <a:path w="8622328" h="6151989">
                <a:moveTo>
                  <a:pt x="0" y="0"/>
                </a:moveTo>
                <a:lnTo>
                  <a:pt x="8622328" y="0"/>
                </a:lnTo>
                <a:lnTo>
                  <a:pt x="8622328" y="6151990"/>
                </a:lnTo>
                <a:lnTo>
                  <a:pt x="0" y="615199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29594" t="-78632" r="-36034" b="-149754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198009" y="3166767"/>
            <a:ext cx="5330329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Zeolites are of two types 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972867" y="1644231"/>
            <a:ext cx="10342265" cy="1243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9"/>
              </a:lnSpc>
            </a:pPr>
            <a:r>
              <a:rPr lang="en-US" sz="6899">
                <a:solidFill>
                  <a:srgbClr val="D66A12"/>
                </a:solidFill>
                <a:latin typeface="Childos Arabic Bold"/>
              </a:rPr>
              <a:t>{ NATURAL V/S SYNTHETIC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750015" y="6262248"/>
            <a:ext cx="5317794" cy="3370834"/>
            <a:chOff x="0" y="0"/>
            <a:chExt cx="7090392" cy="4494445"/>
          </a:xfrm>
        </p:grpSpPr>
        <p:sp>
          <p:nvSpPr>
            <p:cNvPr id="10" name="TextBox 10"/>
            <p:cNvSpPr txBox="1"/>
            <p:nvPr/>
          </p:nvSpPr>
          <p:spPr>
            <a:xfrm>
              <a:off x="0" y="1052750"/>
              <a:ext cx="7090392" cy="34416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36"/>
                </a:lnSpc>
              </a:pPr>
              <a:r>
                <a:rPr lang="en-US" sz="2954">
                  <a:solidFill>
                    <a:srgbClr val="000000"/>
                  </a:solidFill>
                  <a:latin typeface="Canva Sans"/>
                </a:rPr>
                <a:t>Zeolites with pore sizes less than 2 nanometers, ideal for molecular sieving applications due to their small pore size.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7090392" cy="7430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27"/>
                </a:lnSpc>
              </a:pPr>
              <a:r>
                <a:rPr lang="en-US" sz="3376">
                  <a:solidFill>
                    <a:srgbClr val="000000"/>
                  </a:solidFill>
                  <a:latin typeface="Canva Sans Bold"/>
                </a:rPr>
                <a:t>Microporous Zeolites</a:t>
              </a:r>
              <a:r>
                <a:rPr lang="en-US" sz="3376">
                  <a:solidFill>
                    <a:srgbClr val="000000"/>
                  </a:solidFill>
                  <a:latin typeface="Canva Sans"/>
                </a:rPr>
                <a:t>: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090546" y="1257300"/>
            <a:ext cx="14106909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119"/>
              </a:lnSpc>
            </a:pPr>
            <a:r>
              <a:rPr lang="en-US" sz="7599">
                <a:solidFill>
                  <a:srgbClr val="D49314"/>
                </a:solidFill>
                <a:latin typeface="Childos Arabic"/>
              </a:rPr>
              <a:t>CLASSIFICATION OF ZEOLITES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57396" y="3056215"/>
            <a:ext cx="1117320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39"/>
              </a:lnSpc>
            </a:pPr>
            <a:r>
              <a:rPr lang="en-US" sz="3699">
                <a:solidFill>
                  <a:srgbClr val="000000"/>
                </a:solidFill>
                <a:latin typeface="Canva Sans Bold"/>
              </a:rPr>
              <a:t>Based on Pore Size and Shape: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028700" y="5429250"/>
            <a:ext cx="16230600" cy="38100"/>
          </a:xfrm>
          <a:prstGeom prst="rect">
            <a:avLst/>
          </a:prstGeom>
          <a:solidFill>
            <a:srgbClr val="D49314"/>
          </a:solidFill>
        </p:spPr>
      </p:sp>
      <p:sp>
        <p:nvSpPr>
          <p:cNvPr id="15" name="AutoShape 15"/>
          <p:cNvSpPr/>
          <p:nvPr/>
        </p:nvSpPr>
        <p:spPr>
          <a:xfrm>
            <a:off x="2386204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  <p:grpSp>
        <p:nvGrpSpPr>
          <p:cNvPr id="16" name="Group 16"/>
          <p:cNvGrpSpPr/>
          <p:nvPr/>
        </p:nvGrpSpPr>
        <p:grpSpPr>
          <a:xfrm>
            <a:off x="6337424" y="6262248"/>
            <a:ext cx="5326130" cy="3278060"/>
            <a:chOff x="0" y="0"/>
            <a:chExt cx="7101507" cy="4370747"/>
          </a:xfrm>
        </p:grpSpPr>
        <p:sp>
          <p:nvSpPr>
            <p:cNvPr id="17" name="TextBox 17"/>
            <p:cNvSpPr txBox="1"/>
            <p:nvPr/>
          </p:nvSpPr>
          <p:spPr>
            <a:xfrm>
              <a:off x="0" y="1064015"/>
              <a:ext cx="7101507" cy="33067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998"/>
                </a:lnSpc>
              </a:pPr>
              <a:r>
                <a:rPr lang="en-US" sz="2856">
                  <a:solidFill>
                    <a:srgbClr val="000000"/>
                  </a:solidFill>
                  <a:latin typeface="Canva Sans"/>
                </a:rPr>
                <a:t>Zeolites featuring pore sizes ranging from 2 to 50 nanometers, suitable for adsorption and catalysis of medium-sized molecules.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66675"/>
              <a:ext cx="7101507" cy="7441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35"/>
                </a:lnSpc>
              </a:pPr>
              <a:r>
                <a:rPr lang="en-US" sz="3382">
                  <a:solidFill>
                    <a:srgbClr val="000000"/>
                  </a:solidFill>
                  <a:latin typeface="Canva Sans Bold"/>
                </a:rPr>
                <a:t>Mesoporous Zeolites: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>
            <a:off x="7981950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  <p:grpSp>
        <p:nvGrpSpPr>
          <p:cNvPr id="20" name="Group 20"/>
          <p:cNvGrpSpPr/>
          <p:nvPr/>
        </p:nvGrpSpPr>
        <p:grpSpPr>
          <a:xfrm>
            <a:off x="11933176" y="6262248"/>
            <a:ext cx="5326124" cy="3278124"/>
            <a:chOff x="0" y="0"/>
            <a:chExt cx="7101499" cy="4370831"/>
          </a:xfrm>
        </p:grpSpPr>
        <p:sp>
          <p:nvSpPr>
            <p:cNvPr id="21" name="TextBox 21"/>
            <p:cNvSpPr txBox="1"/>
            <p:nvPr/>
          </p:nvSpPr>
          <p:spPr>
            <a:xfrm>
              <a:off x="0" y="1064014"/>
              <a:ext cx="7101499" cy="33068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995"/>
                </a:lnSpc>
              </a:pPr>
              <a:r>
                <a:rPr lang="en-US" sz="2853">
                  <a:solidFill>
                    <a:srgbClr val="000000"/>
                  </a:solidFill>
                  <a:latin typeface="Canva Sans"/>
                </a:rPr>
                <a:t>Zeolites characterized by pore sizes greater than 50 nanometers, utilized in larger-scale separations and industrial processes.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66675"/>
              <a:ext cx="7101499" cy="744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35"/>
                </a:lnSpc>
              </a:pPr>
              <a:r>
                <a:rPr lang="en-US" sz="3382">
                  <a:solidFill>
                    <a:srgbClr val="000000"/>
                  </a:solidFill>
                  <a:latin typeface="Canva Sans Bold"/>
                </a:rPr>
                <a:t>Macroporous Zeolites: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3577696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8092377" y="0"/>
            <a:ext cx="10195623" cy="10594713"/>
            <a:chOff x="0" y="0"/>
            <a:chExt cx="1901533" cy="19759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01533" cy="1975965"/>
            </a:xfrm>
            <a:custGeom>
              <a:avLst/>
              <a:gdLst/>
              <a:ahLst/>
              <a:cxnLst/>
              <a:rect l="l" t="t" r="r" b="b"/>
              <a:pathLst>
                <a:path w="1901533" h="1975965">
                  <a:moveTo>
                    <a:pt x="0" y="0"/>
                  </a:moveTo>
                  <a:lnTo>
                    <a:pt x="1901533" y="0"/>
                  </a:lnTo>
                  <a:lnTo>
                    <a:pt x="1901533" y="1975965"/>
                  </a:lnTo>
                  <a:lnTo>
                    <a:pt x="0" y="197596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2850256" y="5695950"/>
            <a:ext cx="5507551" cy="4138531"/>
          </a:xfrm>
          <a:custGeom>
            <a:avLst/>
            <a:gdLst/>
            <a:ahLst/>
            <a:cxnLst/>
            <a:rect l="l" t="t" r="r" b="b"/>
            <a:pathLst>
              <a:path w="5507551" h="4138531">
                <a:moveTo>
                  <a:pt x="0" y="0"/>
                </a:moveTo>
                <a:lnTo>
                  <a:pt x="5507551" y="0"/>
                </a:lnTo>
                <a:lnTo>
                  <a:pt x="5507551" y="4138531"/>
                </a:lnTo>
                <a:lnTo>
                  <a:pt x="0" y="41385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9754790" y="1885911"/>
            <a:ext cx="7504510" cy="2105993"/>
            <a:chOff x="0" y="0"/>
            <a:chExt cx="10006013" cy="2807991"/>
          </a:xfrm>
        </p:grpSpPr>
        <p:sp>
          <p:nvSpPr>
            <p:cNvPr id="13" name="TextBox 13"/>
            <p:cNvSpPr txBox="1"/>
            <p:nvPr/>
          </p:nvSpPr>
          <p:spPr>
            <a:xfrm>
              <a:off x="0" y="958024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Si/Al ratio of less than 2.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They are typically less acidic compared to their high Si/Al ratio counterparts.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Examples include Zeolite X and Zeolite L (Linnaeite).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10006013" cy="7622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Low Si/Al Ratio Zeolites: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754790" y="4079159"/>
            <a:ext cx="7504510" cy="2111234"/>
            <a:chOff x="0" y="0"/>
            <a:chExt cx="10006013" cy="2814979"/>
          </a:xfrm>
        </p:grpSpPr>
        <p:sp>
          <p:nvSpPr>
            <p:cNvPr id="16" name="TextBox 16"/>
            <p:cNvSpPr txBox="1"/>
            <p:nvPr/>
          </p:nvSpPr>
          <p:spPr>
            <a:xfrm>
              <a:off x="0" y="965012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They have Si/Al ratios ranging between 2 and 10, offering moderate acidity and framework rigidity.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Zeolite A (Linde Type A) and ZSM-11 are common examples.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0006013" cy="7622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Intermediate Si/Al Ratio Zeolites: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754790" y="6784636"/>
            <a:ext cx="7504510" cy="2111234"/>
            <a:chOff x="0" y="0"/>
            <a:chExt cx="10006013" cy="2814979"/>
          </a:xfrm>
        </p:grpSpPr>
        <p:sp>
          <p:nvSpPr>
            <p:cNvPr id="19" name="TextBox 19"/>
            <p:cNvSpPr txBox="1"/>
            <p:nvPr/>
          </p:nvSpPr>
          <p:spPr>
            <a:xfrm>
              <a:off x="0" y="965012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Characterized by a Si/Al ratio greater than 10, typically acidic in nature.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Zeolite Y, ZSM-5, and Beta Zeolite are prominent examples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10006013" cy="7622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High Si/Al Ratio Zeolites: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28700" y="1885911"/>
            <a:ext cx="7329107" cy="23300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822"/>
              </a:lnSpc>
              <a:spcBef>
                <a:spcPct val="0"/>
              </a:spcBef>
            </a:pPr>
            <a:r>
              <a:rPr lang="en-US" sz="8020" u="none">
                <a:solidFill>
                  <a:srgbClr val="D49314"/>
                </a:solidFill>
                <a:latin typeface="Childos Arabic"/>
              </a:rPr>
              <a:t>CLASSIFICATION OF ZEOLITES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260955" y="4530090"/>
            <a:ext cx="5831422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040"/>
              </a:lnSpc>
              <a:spcBef>
                <a:spcPct val="0"/>
              </a:spcBef>
            </a:pPr>
            <a:r>
              <a:rPr lang="en-US" sz="3600" u="none">
                <a:solidFill>
                  <a:srgbClr val="000000"/>
                </a:solidFill>
                <a:latin typeface="Canva Sans Bold"/>
              </a:rPr>
              <a:t>Based on Si/Al Ratio: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126121" y="674798"/>
            <a:ext cx="12750118" cy="1151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15"/>
              </a:lnSpc>
              <a:spcBef>
                <a:spcPct val="0"/>
              </a:spcBef>
            </a:pPr>
            <a:r>
              <a:rPr lang="en-US" sz="6796">
                <a:solidFill>
                  <a:srgbClr val="D66A12"/>
                </a:solidFill>
                <a:latin typeface="One Little Font Semi-Bold"/>
              </a:rPr>
              <a:t>PROPERTIES OF ZEOLITES</a:t>
            </a:r>
          </a:p>
        </p:txBody>
      </p:sp>
      <p:sp>
        <p:nvSpPr>
          <p:cNvPr id="11" name="Freeform 11"/>
          <p:cNvSpPr/>
          <p:nvPr/>
        </p:nvSpPr>
        <p:spPr>
          <a:xfrm>
            <a:off x="750015" y="2496683"/>
            <a:ext cx="4828826" cy="3868814"/>
          </a:xfrm>
          <a:custGeom>
            <a:avLst/>
            <a:gdLst/>
            <a:ahLst/>
            <a:cxnLst/>
            <a:rect l="l" t="t" r="r" b="b"/>
            <a:pathLst>
              <a:path w="4828826" h="3868814">
                <a:moveTo>
                  <a:pt x="0" y="0"/>
                </a:moveTo>
                <a:lnTo>
                  <a:pt x="4828826" y="0"/>
                </a:lnTo>
                <a:lnTo>
                  <a:pt x="4828826" y="3868814"/>
                </a:lnTo>
                <a:lnTo>
                  <a:pt x="0" y="386881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7997023" y="2669558"/>
            <a:ext cx="4749522" cy="3805276"/>
          </a:xfrm>
          <a:custGeom>
            <a:avLst/>
            <a:gdLst/>
            <a:ahLst/>
            <a:cxnLst/>
            <a:rect l="l" t="t" r="r" b="b"/>
            <a:pathLst>
              <a:path w="4749522" h="3805276">
                <a:moveTo>
                  <a:pt x="0" y="0"/>
                </a:moveTo>
                <a:lnTo>
                  <a:pt x="4749522" y="0"/>
                </a:lnTo>
                <a:lnTo>
                  <a:pt x="4749522" y="3805276"/>
                </a:lnTo>
                <a:lnTo>
                  <a:pt x="0" y="38052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165884" y="6176536"/>
            <a:ext cx="5061336" cy="4055099"/>
          </a:xfrm>
          <a:custGeom>
            <a:avLst/>
            <a:gdLst/>
            <a:ahLst/>
            <a:cxnLst/>
            <a:rect l="l" t="t" r="r" b="b"/>
            <a:pathLst>
              <a:path w="5061336" h="4055099">
                <a:moveTo>
                  <a:pt x="0" y="0"/>
                </a:moveTo>
                <a:lnTo>
                  <a:pt x="5061336" y="0"/>
                </a:lnTo>
                <a:lnTo>
                  <a:pt x="5061336" y="4055099"/>
                </a:lnTo>
                <a:lnTo>
                  <a:pt x="0" y="405509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415807" y="5556362"/>
            <a:ext cx="5474745" cy="4386318"/>
          </a:xfrm>
          <a:custGeom>
            <a:avLst/>
            <a:gdLst/>
            <a:ahLst/>
            <a:cxnLst/>
            <a:rect l="l" t="t" r="r" b="b"/>
            <a:pathLst>
              <a:path w="5474745" h="4386318">
                <a:moveTo>
                  <a:pt x="0" y="0"/>
                </a:moveTo>
                <a:lnTo>
                  <a:pt x="5474745" y="0"/>
                </a:lnTo>
                <a:lnTo>
                  <a:pt x="5474745" y="4386318"/>
                </a:lnTo>
                <a:lnTo>
                  <a:pt x="0" y="438631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028700" y="3180482"/>
            <a:ext cx="4194842" cy="2467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4"/>
              </a:lnSpc>
            </a:pPr>
            <a:r>
              <a:rPr lang="en-US" sz="3553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553" u="sng">
                <a:solidFill>
                  <a:srgbClr val="FFF9D8"/>
                </a:solidFill>
                <a:latin typeface="Canva Sans Bold"/>
              </a:rPr>
              <a:t>porous structure</a:t>
            </a:r>
          </a:p>
          <a:p>
            <a:pPr algn="ctr">
              <a:lnSpc>
                <a:spcPts val="4974"/>
              </a:lnSpc>
            </a:pPr>
            <a:r>
              <a:rPr lang="en-US" sz="3553">
                <a:solidFill>
                  <a:srgbClr val="FFF9D8"/>
                </a:solidFill>
                <a:latin typeface="Canva Sans"/>
              </a:rPr>
              <a:t>Allows molecules to enter and react within their cavity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06493" y="3294950"/>
            <a:ext cx="4418784" cy="2540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06"/>
              </a:lnSpc>
            </a:pPr>
            <a:r>
              <a:rPr lang="en-US" sz="3647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647" u="sng">
                <a:solidFill>
                  <a:srgbClr val="FFF9D8"/>
                </a:solidFill>
                <a:latin typeface="Canva Sans Bold"/>
              </a:rPr>
              <a:t>high surface area</a:t>
            </a:r>
            <a:r>
              <a:rPr lang="en-US" sz="3647" u="sng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647">
                <a:solidFill>
                  <a:srgbClr val="FFF9D8"/>
                </a:solidFill>
                <a:latin typeface="Canva Sans"/>
              </a:rPr>
              <a:t> provide ample active sites for catalytic reactions.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46545" y="6308347"/>
            <a:ext cx="4813268" cy="3634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96"/>
              </a:lnSpc>
            </a:pPr>
            <a:r>
              <a:rPr lang="en-US" sz="3568" u="sng">
                <a:solidFill>
                  <a:srgbClr val="FFF9D8"/>
                </a:solidFill>
                <a:latin typeface="Canva Sans Bold"/>
              </a:rPr>
              <a:t>Selective Adsorption</a:t>
            </a:r>
          </a:p>
          <a:p>
            <a:pPr algn="ctr">
              <a:lnSpc>
                <a:spcPts val="4996"/>
              </a:lnSpc>
            </a:pPr>
            <a:r>
              <a:rPr lang="en-US" sz="3568">
                <a:solidFill>
                  <a:srgbClr val="FFF9D8"/>
                </a:solidFill>
                <a:latin typeface="Canva Sans Semi-Bold"/>
              </a:rPr>
              <a:t>P</a:t>
            </a:r>
            <a:r>
              <a:rPr lang="en-US" sz="3568">
                <a:solidFill>
                  <a:srgbClr val="FFF9D8"/>
                </a:solidFill>
                <a:latin typeface="Canva Sans"/>
              </a:rPr>
              <a:t>recise pore sizes allows for selective adsorption based on size and shape.</a:t>
            </a:r>
          </a:p>
          <a:p>
            <a:pPr algn="ctr">
              <a:lnSpc>
                <a:spcPts val="4282"/>
              </a:lnSpc>
            </a:pPr>
            <a:endParaRPr lang="en-US" sz="3568">
              <a:solidFill>
                <a:srgbClr val="FFF9D8"/>
              </a:solidFill>
              <a:latin typeface="Canva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591212" y="6575394"/>
            <a:ext cx="4210680" cy="3190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0"/>
              </a:lnSpc>
            </a:pPr>
            <a:r>
              <a:rPr lang="en-US" sz="3671">
                <a:solidFill>
                  <a:srgbClr val="FFF9D8"/>
                </a:solidFill>
                <a:latin typeface="Canva Sans"/>
              </a:rPr>
              <a:t>I</a:t>
            </a:r>
            <a:r>
              <a:rPr lang="en-US" sz="3671" u="sng">
                <a:solidFill>
                  <a:srgbClr val="FFF9D8"/>
                </a:solidFill>
                <a:latin typeface="Canva Sans Bold"/>
              </a:rPr>
              <a:t>on-Exchange capability</a:t>
            </a:r>
          </a:p>
          <a:p>
            <a:pPr algn="ctr">
              <a:lnSpc>
                <a:spcPts val="5140"/>
              </a:lnSpc>
            </a:pPr>
            <a:r>
              <a:rPr lang="en-US" sz="3671">
                <a:solidFill>
                  <a:srgbClr val="FFF9D8"/>
                </a:solidFill>
                <a:latin typeface="Canva Sans"/>
              </a:rPr>
              <a:t>Enables modification of catalytic property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256762" y="1028700"/>
            <a:ext cx="7484826" cy="8325569"/>
            <a:chOff x="687070" y="247650"/>
            <a:chExt cx="11148060" cy="124002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148060" cy="12400280"/>
            </a:xfrm>
            <a:custGeom>
              <a:avLst/>
              <a:gdLst/>
              <a:ahLst/>
              <a:cxnLst/>
              <a:rect l="l" t="t" r="r" b="b"/>
              <a:pathLst>
                <a:path w="11148060" h="12400280">
                  <a:moveTo>
                    <a:pt x="9215120" y="1497330"/>
                  </a:moveTo>
                  <a:cubicBezTo>
                    <a:pt x="8773160" y="972820"/>
                    <a:pt x="8234680" y="508000"/>
                    <a:pt x="7590790" y="252730"/>
                  </a:cubicBezTo>
                  <a:cubicBezTo>
                    <a:pt x="7132320" y="71120"/>
                    <a:pt x="6633210" y="0"/>
                    <a:pt x="6139180" y="6350"/>
                  </a:cubicBezTo>
                  <a:cubicBezTo>
                    <a:pt x="4053840" y="36830"/>
                    <a:pt x="2157730" y="1490980"/>
                    <a:pt x="1289050" y="3346450"/>
                  </a:cubicBezTo>
                  <a:cubicBezTo>
                    <a:pt x="527050" y="4977130"/>
                    <a:pt x="0" y="7792720"/>
                    <a:pt x="680720" y="9457690"/>
                  </a:cubicBezTo>
                  <a:cubicBezTo>
                    <a:pt x="1360170" y="11122660"/>
                    <a:pt x="2499360" y="12005310"/>
                    <a:pt x="4248150" y="12081510"/>
                  </a:cubicBezTo>
                  <a:cubicBezTo>
                    <a:pt x="7001510" y="12400280"/>
                    <a:pt x="9088120" y="10502900"/>
                    <a:pt x="10118090" y="8309610"/>
                  </a:cubicBezTo>
                  <a:cubicBezTo>
                    <a:pt x="11148061" y="6116320"/>
                    <a:pt x="10782300" y="3361690"/>
                    <a:pt x="9215120" y="1497330"/>
                  </a:cubicBezTo>
                  <a:close/>
                </a:path>
              </a:pathLst>
            </a:custGeom>
            <a:blipFill>
              <a:blip r:embed="rId12"/>
              <a:stretch>
                <a:fillRect l="-28143" r="-28143"/>
              </a:stretch>
            </a:blipFill>
          </p:spPr>
        </p:sp>
      </p:grpSp>
      <p:sp>
        <p:nvSpPr>
          <p:cNvPr id="11" name="Freeform 11"/>
          <p:cNvSpPr/>
          <p:nvPr/>
        </p:nvSpPr>
        <p:spPr>
          <a:xfrm rot="1038991">
            <a:off x="14706933" y="6381541"/>
            <a:ext cx="5621674" cy="6564587"/>
          </a:xfrm>
          <a:custGeom>
            <a:avLst/>
            <a:gdLst/>
            <a:ahLst/>
            <a:cxnLst/>
            <a:rect l="l" t="t" r="r" b="b"/>
            <a:pathLst>
              <a:path w="5621674" h="6564587">
                <a:moveTo>
                  <a:pt x="0" y="0"/>
                </a:moveTo>
                <a:lnTo>
                  <a:pt x="5621674" y="0"/>
                </a:lnTo>
                <a:lnTo>
                  <a:pt x="5621674" y="6564587"/>
                </a:lnTo>
                <a:lnTo>
                  <a:pt x="0" y="656458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2899698">
            <a:off x="16322381" y="4775412"/>
            <a:ext cx="3008329" cy="4035563"/>
          </a:xfrm>
          <a:custGeom>
            <a:avLst/>
            <a:gdLst/>
            <a:ahLst/>
            <a:cxnLst/>
            <a:rect l="l" t="t" r="r" b="b"/>
            <a:pathLst>
              <a:path w="3008329" h="4035563">
                <a:moveTo>
                  <a:pt x="0" y="0"/>
                </a:moveTo>
                <a:lnTo>
                  <a:pt x="3008329" y="0"/>
                </a:lnTo>
                <a:lnTo>
                  <a:pt x="3008329" y="4035564"/>
                </a:lnTo>
                <a:lnTo>
                  <a:pt x="0" y="403556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28700" y="1437647"/>
            <a:ext cx="2130602" cy="2293212"/>
          </a:xfrm>
          <a:custGeom>
            <a:avLst/>
            <a:gdLst/>
            <a:ahLst/>
            <a:cxnLst/>
            <a:rect l="l" t="t" r="r" b="b"/>
            <a:pathLst>
              <a:path w="2130602" h="2293212">
                <a:moveTo>
                  <a:pt x="0" y="0"/>
                </a:moveTo>
                <a:lnTo>
                  <a:pt x="2130602" y="0"/>
                </a:lnTo>
                <a:lnTo>
                  <a:pt x="2130602" y="2293212"/>
                </a:lnTo>
                <a:lnTo>
                  <a:pt x="0" y="229321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9144000" y="3184203"/>
            <a:ext cx="6175269" cy="5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4493"/>
              </a:lnSpc>
            </a:pPr>
            <a:r>
              <a:rPr lang="en-US" sz="3456">
                <a:solidFill>
                  <a:srgbClr val="000000"/>
                </a:solidFill>
                <a:latin typeface="Canva Sans Bold"/>
              </a:rPr>
              <a:t>OVERVIEW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0" y="973137"/>
            <a:ext cx="6489911" cy="2239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8439"/>
              </a:lnSpc>
            </a:pPr>
            <a:r>
              <a:rPr lang="en-US" sz="7671">
                <a:solidFill>
                  <a:srgbClr val="D49314"/>
                </a:solidFill>
                <a:latin typeface="Childos Arabic Bold"/>
              </a:rPr>
              <a:t>CATALYSIS WITH ZEOLITES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44000" y="3953697"/>
            <a:ext cx="6175269" cy="5429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369"/>
              </a:lnSpc>
            </a:pPr>
            <a:r>
              <a:rPr lang="en-US" sz="2246">
                <a:solidFill>
                  <a:srgbClr val="000000"/>
                </a:solidFill>
                <a:latin typeface="Canva Sans Bold"/>
              </a:rPr>
              <a:t>Shape Selectivity: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 Bold"/>
            </a:endParaRP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Zeolites have channels of specific sizes, allowing only certain molecules to react.</a:t>
            </a: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Enables precise control over product distribution in catalytic reactions.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"/>
            </a:endParaRPr>
          </a:p>
          <a:p>
            <a:pPr marL="0" lvl="0" indent="0">
              <a:lnSpc>
                <a:spcPts val="3369"/>
              </a:lnSpc>
            </a:pPr>
            <a:r>
              <a:rPr lang="en-US" sz="2246">
                <a:solidFill>
                  <a:srgbClr val="000000"/>
                </a:solidFill>
                <a:latin typeface="Canva Sans Bold"/>
              </a:rPr>
              <a:t>Acidic Sites for Reactions: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 Bold"/>
            </a:endParaRP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Zeolites contain acid sites crucial for various chemical transformations.</a:t>
            </a: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These sites catalyze reactions like cracking, isomerization, and alkylation.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969483" y="2390794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58294" y="979252"/>
            <a:ext cx="17371413" cy="141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23"/>
              </a:lnSpc>
            </a:pPr>
            <a:r>
              <a:rPr lang="en-US" sz="7802">
                <a:solidFill>
                  <a:srgbClr val="D66A12"/>
                </a:solidFill>
                <a:latin typeface="Childos Arabic Bold"/>
              </a:rPr>
              <a:t>ADVANTAGES OF ZEOLITES IN CATALYSIS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58294" y="3507128"/>
            <a:ext cx="17829706" cy="5549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High Surface Area: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Porous structure provides a large active surface area and thereby accelerate the reactions.</a:t>
            </a:r>
          </a:p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Specific Pore Sizes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Different zeolite structures offer pores of specific sizes and shapes , selectively admitting molecules based on size.</a:t>
            </a:r>
          </a:p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Thermal and Chemical Stability: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Zeolites are stable under high temperatures and harsh chemical conditions.</a:t>
            </a:r>
          </a:p>
          <a:p>
            <a:pPr algn="ctr">
              <a:lnSpc>
                <a:spcPts val="4920"/>
              </a:lnSpc>
            </a:pPr>
            <a:endParaRPr lang="en-US" sz="3514">
              <a:solidFill>
                <a:srgbClr val="000000"/>
              </a:solidFill>
              <a:latin typeface="Canva Sans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-147745" y="2863319"/>
            <a:ext cx="19041784" cy="6193333"/>
          </a:xfrm>
          <a:custGeom>
            <a:avLst/>
            <a:gdLst/>
            <a:ahLst/>
            <a:cxnLst/>
            <a:rect l="l" t="t" r="r" b="b"/>
            <a:pathLst>
              <a:path w="19041784" h="6193333">
                <a:moveTo>
                  <a:pt x="0" y="0"/>
                </a:moveTo>
                <a:lnTo>
                  <a:pt x="19041784" y="0"/>
                </a:lnTo>
                <a:lnTo>
                  <a:pt x="19041784" y="6193334"/>
                </a:lnTo>
                <a:lnTo>
                  <a:pt x="0" y="619333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4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73218" y="2831022"/>
            <a:ext cx="15965572" cy="6975303"/>
          </a:xfrm>
          <a:custGeom>
            <a:avLst/>
            <a:gdLst/>
            <a:ahLst/>
            <a:cxnLst/>
            <a:rect l="l" t="t" r="r" b="b"/>
            <a:pathLst>
              <a:path w="15965572" h="6975303">
                <a:moveTo>
                  <a:pt x="0" y="0"/>
                </a:moveTo>
                <a:lnTo>
                  <a:pt x="15965572" y="0"/>
                </a:lnTo>
                <a:lnTo>
                  <a:pt x="15965572" y="6975304"/>
                </a:lnTo>
                <a:lnTo>
                  <a:pt x="0" y="69753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77634" y="129590"/>
            <a:ext cx="4172658" cy="4391722"/>
          </a:xfrm>
          <a:custGeom>
            <a:avLst/>
            <a:gdLst/>
            <a:ahLst/>
            <a:cxnLst/>
            <a:rect l="l" t="t" r="r" b="b"/>
            <a:pathLst>
              <a:path w="4172658" h="4391722">
                <a:moveTo>
                  <a:pt x="0" y="0"/>
                </a:moveTo>
                <a:lnTo>
                  <a:pt x="4172658" y="0"/>
                </a:lnTo>
                <a:lnTo>
                  <a:pt x="4172658" y="4391722"/>
                </a:lnTo>
                <a:lnTo>
                  <a:pt x="0" y="439172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901785" y="205216"/>
            <a:ext cx="6993664" cy="1960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25"/>
              </a:lnSpc>
              <a:spcBef>
                <a:spcPct val="0"/>
              </a:spcBef>
            </a:pPr>
            <a:r>
              <a:rPr lang="en-US" sz="11446">
                <a:solidFill>
                  <a:srgbClr val="D66A12"/>
                </a:solidFill>
                <a:latin typeface="One Little Font"/>
              </a:rPr>
              <a:t>ISOBUTENE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760743" y="2153884"/>
            <a:ext cx="5909105" cy="677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68"/>
              </a:lnSpc>
            </a:pPr>
            <a:r>
              <a:rPr lang="en-US" sz="3977">
                <a:solidFill>
                  <a:srgbClr val="000000"/>
                </a:solidFill>
                <a:latin typeface="Canva Sans"/>
              </a:rPr>
              <a:t>Chemical formula: C4H8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0" y="4454637"/>
            <a:ext cx="18014852" cy="4780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endParaRPr/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Butyl Rubber Production: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Primary component for manufacturing butyl rubber, used in tires and seals.</a:t>
            </a:r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Fuel Additives: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Blended into gasoline to improve octane ratings and combustion efficiency.</a:t>
            </a:r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Polymer Manufacturing: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Essential for creating polymers used in plastics, adhesives, and synthetic fibers.</a:t>
            </a:r>
          </a:p>
          <a:p>
            <a:pPr>
              <a:lnSpc>
                <a:spcPts val="4759"/>
              </a:lnSpc>
            </a:pPr>
            <a:endParaRPr lang="en-US" sz="3399">
              <a:solidFill>
                <a:srgbClr val="000000"/>
              </a:solidFill>
              <a:latin typeface="Canva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75393" y="3634217"/>
            <a:ext cx="425678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Canva Sans Bold"/>
              </a:rPr>
              <a:t>Applications: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7125" y="437740"/>
            <a:ext cx="14229918" cy="1703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7"/>
              </a:lnSpc>
              <a:spcBef>
                <a:spcPct val="0"/>
              </a:spcBef>
            </a:pPr>
            <a:r>
              <a:rPr lang="en-US" sz="4919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2750895"/>
            <a:ext cx="8790431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1.Catalytic Cracking of Butanes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31252" y="3688778"/>
            <a:ext cx="17259300" cy="611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 Catalytic cracking of butanes is a primary method for iso-butene production.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Zeolites act as catalysts by providing active sites within their porous structure.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Long-chain hydrocarbons in butane feedstocks are broken down into smaller molecules, including iso-butene.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Shape-selective properties of zeolites ensure specific molecular sizes can access catalytic sites, favoring iso-butene formation.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Zeolite catalysts offer high activity and selectivity, minimizing undesired byproducts.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7125" y="396327"/>
            <a:ext cx="14369800" cy="170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8"/>
              </a:lnSpc>
              <a:spcBef>
                <a:spcPct val="0"/>
              </a:spcBef>
            </a:pPr>
            <a:r>
              <a:rPr lang="en-US" sz="4920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2750895"/>
            <a:ext cx="12492650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2.Catalytic Dehydrogenation of Iso-Butane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36470" y="3789239"/>
            <a:ext cx="16429324" cy="6157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Catalytic dehydrogenation of iso-butane is another common method for iso-butene production.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Zeolite catalysts facilitate this reaction by providing active sites for dehydrogenation.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Iso-butane molecules adsorb onto the surface of zeolite catalysts, where they undergo dehydrogenation reactions.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The acidic nature of zeolites enhances activation of iso-butane molecules, promoting hydrogen removal.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Zeolite catalysts offer high stability under reaction conditions, ensuring continuous performance.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42332" y="573471"/>
            <a:ext cx="13989827" cy="170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8"/>
              </a:lnSpc>
              <a:spcBef>
                <a:spcPct val="0"/>
              </a:spcBef>
            </a:pPr>
            <a:r>
              <a:rPr lang="en-US" sz="4920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221849" y="3046170"/>
            <a:ext cx="12492650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3.Catalytic Dehydration of Tertiary Butanol: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97305" y="4125263"/>
            <a:ext cx="16241486" cy="51330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Zeolite catalysts facilitate the removal of water molecules from tertiary butanol.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Tertiary butanol molecules adsorb onto the surface of zeolite catalysts, where dehydration reactions occur.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The porous structure of zeolites provides an ideal environment for efficient conversion of tertiary butanol into iso-butene.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Zeolite catalysts offer advantages such as high activity and selectivity, making them preferred for this process.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AutoShape 8"/>
          <p:cNvSpPr/>
          <p:nvPr/>
        </p:nvSpPr>
        <p:spPr>
          <a:xfrm>
            <a:off x="9425679" y="0"/>
            <a:ext cx="8862321" cy="10287000"/>
          </a:xfrm>
          <a:prstGeom prst="rect">
            <a:avLst/>
          </a:prstGeom>
          <a:solidFill>
            <a:srgbClr val="A7D9BA"/>
          </a:solidFill>
        </p:spPr>
      </p:sp>
      <p:grpSp>
        <p:nvGrpSpPr>
          <p:cNvPr id="9" name="Group 9"/>
          <p:cNvGrpSpPr/>
          <p:nvPr/>
        </p:nvGrpSpPr>
        <p:grpSpPr>
          <a:xfrm>
            <a:off x="9927476" y="668721"/>
            <a:ext cx="7963075" cy="8526739"/>
            <a:chOff x="0" y="0"/>
            <a:chExt cx="10617434" cy="11368985"/>
          </a:xfrm>
        </p:grpSpPr>
        <p:sp>
          <p:nvSpPr>
            <p:cNvPr id="10" name="AutoShape 10"/>
            <p:cNvSpPr/>
            <p:nvPr/>
          </p:nvSpPr>
          <p:spPr>
            <a:xfrm>
              <a:off x="0" y="0"/>
              <a:ext cx="1923143" cy="268191"/>
            </a:xfrm>
            <a:prstGeom prst="rect">
              <a:avLst/>
            </a:prstGeom>
            <a:solidFill>
              <a:srgbClr val="FFF9D8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954238"/>
              <a:ext cx="10617434" cy="104147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High Activity: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 catalysts exhibit high catalytic activity, accelerating conversion at low temperatures and pressures.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Porous structure provides ample active sites for efficient mass transfer and reaction kinetics.</a:t>
              </a:r>
            </a:p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Selectivity: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 </a:t>
              </a: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Zeolites offer excellent selectivity towards iso-butene, minimizing undesired byproducts.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Shape-selective properties ensure only appropriate molecules access catalytic sites, favoring desired pathways.</a:t>
              </a:r>
            </a:p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Stability: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 catalysts are thermally and chemically stable, maintaining performance under harsh conditions.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Stability ensures continuous performance and longevity in iso-butene production processes.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8289929"/>
            <a:ext cx="3378602" cy="968371"/>
            <a:chOff x="0" y="0"/>
            <a:chExt cx="4504802" cy="1291162"/>
          </a:xfrm>
        </p:grpSpPr>
        <p:sp>
          <p:nvSpPr>
            <p:cNvPr id="13" name="AutoShape 13"/>
            <p:cNvSpPr/>
            <p:nvPr/>
          </p:nvSpPr>
          <p:spPr>
            <a:xfrm rot="5400000">
              <a:off x="1610906" y="5447"/>
              <a:ext cx="1288438" cy="1282991"/>
            </a:xfrm>
            <a:prstGeom prst="rect">
              <a:avLst/>
            </a:prstGeom>
            <a:solidFill>
              <a:srgbClr val="D2A23D"/>
            </a:solidFill>
          </p:spPr>
        </p: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 rot="5400000">
              <a:off x="0" y="0"/>
              <a:ext cx="1288438" cy="1288438"/>
              <a:chOff x="0" y="0"/>
              <a:chExt cx="1708150" cy="17081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708150" cy="1708150"/>
              </a:xfrm>
              <a:custGeom>
                <a:avLst/>
                <a:gdLst/>
                <a:ahLst/>
                <a:cxnLst/>
                <a:rect l="l" t="t" r="r" b="b"/>
                <a:pathLst>
                  <a:path w="1708150" h="1708150">
                    <a:moveTo>
                      <a:pt x="853440" y="1708150"/>
                    </a:moveTo>
                    <a:cubicBezTo>
                      <a:pt x="383540" y="1708150"/>
                      <a:pt x="0" y="1324610"/>
                      <a:pt x="0" y="853440"/>
                    </a:cubicBezTo>
                    <a:cubicBezTo>
                      <a:pt x="0" y="383540"/>
                      <a:pt x="383540" y="0"/>
                      <a:pt x="853440" y="0"/>
                    </a:cubicBezTo>
                    <a:cubicBezTo>
                      <a:pt x="1324610" y="0"/>
                      <a:pt x="1706880" y="383540"/>
                      <a:pt x="1706880" y="853440"/>
                    </a:cubicBezTo>
                    <a:cubicBezTo>
                      <a:pt x="1708150" y="1324610"/>
                      <a:pt x="1324610" y="1708150"/>
                      <a:pt x="853440" y="1708150"/>
                    </a:cubicBezTo>
                    <a:close/>
                    <a:moveTo>
                      <a:pt x="853440" y="469900"/>
                    </a:moveTo>
                    <a:cubicBezTo>
                      <a:pt x="642620" y="469900"/>
                      <a:pt x="469900" y="642620"/>
                      <a:pt x="469900" y="853440"/>
                    </a:cubicBezTo>
                    <a:cubicBezTo>
                      <a:pt x="469900" y="1064260"/>
                      <a:pt x="642620" y="1236980"/>
                      <a:pt x="853440" y="1236980"/>
                    </a:cubicBezTo>
                    <a:cubicBezTo>
                      <a:pt x="1064260" y="1236980"/>
                      <a:pt x="1236980" y="1064260"/>
                      <a:pt x="1236980" y="853440"/>
                    </a:cubicBezTo>
                    <a:cubicBezTo>
                      <a:pt x="1236980" y="642620"/>
                      <a:pt x="1065530" y="469900"/>
                      <a:pt x="853440" y="469900"/>
                    </a:cubicBezTo>
                    <a:close/>
                  </a:path>
                </a:pathLst>
              </a:custGeom>
              <a:solidFill>
                <a:srgbClr val="FFCB65"/>
              </a:solidFill>
            </p:spPr>
          </p:sp>
        </p:grpSp>
        <p:sp>
          <p:nvSpPr>
            <p:cNvPr id="16" name="Freeform 16"/>
            <p:cNvSpPr/>
            <p:nvPr/>
          </p:nvSpPr>
          <p:spPr>
            <a:xfrm>
              <a:off x="3221811" y="5447"/>
              <a:ext cx="1282991" cy="1282991"/>
            </a:xfrm>
            <a:custGeom>
              <a:avLst/>
              <a:gdLst/>
              <a:ahLst/>
              <a:cxnLst/>
              <a:rect l="l" t="t" r="r" b="b"/>
              <a:pathLst>
                <a:path w="1282991" h="1282991">
                  <a:moveTo>
                    <a:pt x="0" y="0"/>
                  </a:moveTo>
                  <a:lnTo>
                    <a:pt x="1282991" y="0"/>
                  </a:lnTo>
                  <a:lnTo>
                    <a:pt x="1282991" y="1282991"/>
                  </a:lnTo>
                  <a:lnTo>
                    <a:pt x="0" y="1282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7" name="Freeform 17"/>
          <p:cNvSpPr/>
          <p:nvPr/>
        </p:nvSpPr>
        <p:spPr>
          <a:xfrm>
            <a:off x="5572542" y="5602033"/>
            <a:ext cx="2687896" cy="2687896"/>
          </a:xfrm>
          <a:custGeom>
            <a:avLst/>
            <a:gdLst/>
            <a:ahLst/>
            <a:cxnLst/>
            <a:rect l="l" t="t" r="r" b="b"/>
            <a:pathLst>
              <a:path w="2687896" h="2687896">
                <a:moveTo>
                  <a:pt x="0" y="0"/>
                </a:moveTo>
                <a:lnTo>
                  <a:pt x="2687896" y="0"/>
                </a:lnTo>
                <a:lnTo>
                  <a:pt x="2687896" y="2687896"/>
                </a:lnTo>
                <a:lnTo>
                  <a:pt x="0" y="268789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14610" y="885825"/>
            <a:ext cx="8641321" cy="4775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9360"/>
              </a:lnSpc>
            </a:pPr>
            <a:r>
              <a:rPr lang="en-US" sz="7200">
                <a:solidFill>
                  <a:srgbClr val="875F38"/>
                </a:solidFill>
                <a:latin typeface="Childos Arabic"/>
              </a:rPr>
              <a:t>ADVANTAGES OF ZEOLITE CATALYSTS IN ISO-BUTENE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5656652">
            <a:off x="1254194" y="693474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290481" y="0"/>
            <a:ext cx="7315200" cy="2394065"/>
          </a:xfrm>
          <a:custGeom>
            <a:avLst/>
            <a:gdLst/>
            <a:ahLst/>
            <a:cxnLst/>
            <a:rect l="l" t="t" r="r" b="b"/>
            <a:pathLst>
              <a:path w="7315200" h="2394065">
                <a:moveTo>
                  <a:pt x="0" y="0"/>
                </a:moveTo>
                <a:lnTo>
                  <a:pt x="7315200" y="0"/>
                </a:lnTo>
                <a:lnTo>
                  <a:pt x="7315200" y="2394065"/>
                </a:lnTo>
                <a:lnTo>
                  <a:pt x="0" y="23940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877148" y="610010"/>
            <a:ext cx="1790567" cy="1784056"/>
          </a:xfrm>
          <a:custGeom>
            <a:avLst/>
            <a:gdLst/>
            <a:ahLst/>
            <a:cxnLst/>
            <a:rect l="l" t="t" r="r" b="b"/>
            <a:pathLst>
              <a:path w="1790567" h="1784056">
                <a:moveTo>
                  <a:pt x="0" y="0"/>
                </a:moveTo>
                <a:lnTo>
                  <a:pt x="1790567" y="0"/>
                </a:lnTo>
                <a:lnTo>
                  <a:pt x="1790567" y="1784055"/>
                </a:lnTo>
                <a:lnTo>
                  <a:pt x="0" y="178405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76741" y="2492102"/>
            <a:ext cx="17235520" cy="7563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41"/>
              </a:lnSpc>
            </a:pPr>
            <a:r>
              <a:rPr lang="en-US" sz="3886">
                <a:solidFill>
                  <a:srgbClr val="000000"/>
                </a:solidFill>
                <a:latin typeface="Childos Arabic"/>
              </a:rPr>
              <a:t>In conclusion, zeolites serve as invaluable catalysts in the production of iso-butene, offering significant advantages over traditional methods. By providing: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Improved Selectivity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Higher Activity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Higher Yields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More Stablity</a:t>
            </a:r>
          </a:p>
          <a:p>
            <a:pPr algn="ctr">
              <a:lnSpc>
                <a:spcPts val="5441"/>
              </a:lnSpc>
            </a:pPr>
            <a:r>
              <a:rPr lang="en-US" sz="3886">
                <a:solidFill>
                  <a:srgbClr val="000000"/>
                </a:solidFill>
                <a:latin typeface="Childos Arabic"/>
              </a:rPr>
              <a:t>The utilization of zeolites in the production of iso-butene not only enhances process efficiency but also contributes to greener and more sustainable industrial practices. This innovation exemplifies the potential of zeolites in revolutionizing petrochemical processes for a more efficient and environmentally conscious future.</a:t>
            </a:r>
          </a:p>
          <a:p>
            <a:pPr algn="ctr">
              <a:lnSpc>
                <a:spcPts val="5441"/>
              </a:lnSpc>
            </a:pPr>
            <a:endParaRPr lang="en-US" sz="3886">
              <a:solidFill>
                <a:srgbClr val="000000"/>
              </a:solidFill>
              <a:latin typeface="Childos Arabic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6143911" y="4008288"/>
            <a:ext cx="3281768" cy="2662334"/>
          </a:xfrm>
          <a:custGeom>
            <a:avLst/>
            <a:gdLst/>
            <a:ahLst/>
            <a:cxnLst/>
            <a:rect l="l" t="t" r="r" b="b"/>
            <a:pathLst>
              <a:path w="3281768" h="2662334">
                <a:moveTo>
                  <a:pt x="0" y="0"/>
                </a:moveTo>
                <a:lnTo>
                  <a:pt x="3281768" y="0"/>
                </a:lnTo>
                <a:lnTo>
                  <a:pt x="3281768" y="2662334"/>
                </a:lnTo>
                <a:lnTo>
                  <a:pt x="0" y="266233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4029" r="-4029" b="-8058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356233" y="1156576"/>
            <a:ext cx="10129878" cy="1237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21"/>
              </a:lnSpc>
            </a:pPr>
            <a:r>
              <a:rPr lang="en-US" sz="9700">
                <a:solidFill>
                  <a:srgbClr val="D66A12"/>
                </a:solidFill>
                <a:latin typeface="One Little Font"/>
              </a:rPr>
              <a:t> CONCLUSION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19329" y="796083"/>
            <a:ext cx="12699858" cy="2071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061"/>
              </a:lnSpc>
              <a:spcBef>
                <a:spcPct val="0"/>
              </a:spcBef>
            </a:pPr>
            <a:r>
              <a:rPr lang="en-US" sz="12186">
                <a:solidFill>
                  <a:srgbClr val="D66A12"/>
                </a:solidFill>
                <a:latin typeface="One Little Font"/>
              </a:rPr>
              <a:t>REFERENCES</a:t>
            </a:r>
          </a:p>
        </p:txBody>
      </p:sp>
      <p:sp>
        <p:nvSpPr>
          <p:cNvPr id="3" name="Freeform 3"/>
          <p:cNvSpPr/>
          <p:nvPr/>
        </p:nvSpPr>
        <p:spPr>
          <a:xfrm>
            <a:off x="3887491" y="2867796"/>
            <a:ext cx="11322961" cy="2983753"/>
          </a:xfrm>
          <a:custGeom>
            <a:avLst/>
            <a:gdLst/>
            <a:ahLst/>
            <a:cxnLst/>
            <a:rect l="l" t="t" r="r" b="b"/>
            <a:pathLst>
              <a:path w="11322961" h="2983753">
                <a:moveTo>
                  <a:pt x="0" y="0"/>
                </a:moveTo>
                <a:lnTo>
                  <a:pt x="11322961" y="0"/>
                </a:lnTo>
                <a:lnTo>
                  <a:pt x="11322961" y="2983753"/>
                </a:lnTo>
                <a:lnTo>
                  <a:pt x="0" y="29837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860336" y="4466388"/>
            <a:ext cx="10513018" cy="2770322"/>
          </a:xfrm>
          <a:custGeom>
            <a:avLst/>
            <a:gdLst/>
            <a:ahLst/>
            <a:cxnLst/>
            <a:rect l="l" t="t" r="r" b="b"/>
            <a:pathLst>
              <a:path w="10513018" h="2770322">
                <a:moveTo>
                  <a:pt x="0" y="0"/>
                </a:moveTo>
                <a:lnTo>
                  <a:pt x="10513017" y="0"/>
                </a:lnTo>
                <a:lnTo>
                  <a:pt x="10513017" y="2770322"/>
                </a:lnTo>
                <a:lnTo>
                  <a:pt x="0" y="27703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4280631" y="6036656"/>
            <a:ext cx="9457458" cy="2492168"/>
          </a:xfrm>
          <a:custGeom>
            <a:avLst/>
            <a:gdLst/>
            <a:ahLst/>
            <a:cxnLst/>
            <a:rect l="l" t="t" r="r" b="b"/>
            <a:pathLst>
              <a:path w="9457458" h="2492168">
                <a:moveTo>
                  <a:pt x="0" y="0"/>
                </a:moveTo>
                <a:lnTo>
                  <a:pt x="9457458" y="0"/>
                </a:lnTo>
                <a:lnTo>
                  <a:pt x="9457458" y="2492168"/>
                </a:lnTo>
                <a:lnTo>
                  <a:pt x="0" y="24921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5400000">
            <a:off x="-999091" y="3145317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5656652">
            <a:off x="1254194" y="693474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5400000">
            <a:off x="16556857" y="-426260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2"/>
                </a:lnTo>
                <a:lnTo>
                  <a:pt x="0" y="199818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009345" y="278407"/>
            <a:ext cx="3086361" cy="2609791"/>
          </a:xfrm>
          <a:custGeom>
            <a:avLst/>
            <a:gdLst/>
            <a:ahLst/>
            <a:cxnLst/>
            <a:rect l="l" t="t" r="r" b="b"/>
            <a:pathLst>
              <a:path w="3086361" h="2609791">
                <a:moveTo>
                  <a:pt x="0" y="0"/>
                </a:moveTo>
                <a:lnTo>
                  <a:pt x="3086362" y="0"/>
                </a:lnTo>
                <a:lnTo>
                  <a:pt x="3086362" y="2609791"/>
                </a:lnTo>
                <a:lnTo>
                  <a:pt x="0" y="260979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6842012" y="7403665"/>
            <a:ext cx="4854300" cy="2724476"/>
          </a:xfrm>
          <a:custGeom>
            <a:avLst/>
            <a:gdLst/>
            <a:ahLst/>
            <a:cxnLst/>
            <a:rect l="l" t="t" r="r" b="b"/>
            <a:pathLst>
              <a:path w="4854300" h="2724476">
                <a:moveTo>
                  <a:pt x="0" y="0"/>
                </a:moveTo>
                <a:lnTo>
                  <a:pt x="4854300" y="0"/>
                </a:lnTo>
                <a:lnTo>
                  <a:pt x="4854300" y="2724476"/>
                </a:lnTo>
                <a:lnTo>
                  <a:pt x="0" y="27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16" name="TextBox 16"/>
          <p:cNvSpPr txBox="1"/>
          <p:nvPr/>
        </p:nvSpPr>
        <p:spPr>
          <a:xfrm>
            <a:off x="4426829" y="3522972"/>
            <a:ext cx="9311261" cy="3713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https://www.researchgate.net/figure/General-classification-of-zeolites_fig1_363591305</a:t>
            </a:r>
          </a:p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 https://comptes-rendus.academie-sciences.fr/chimie/articles/10.5802/crchim.149/#article-div</a:t>
            </a:r>
          </a:p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https://www.slideshare.net/hzharraz/zeolite-and-its-uses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16289817" y="-200553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388351">
            <a:off x="13072252" y="7094215"/>
            <a:ext cx="1969106" cy="644435"/>
          </a:xfrm>
          <a:custGeom>
            <a:avLst/>
            <a:gdLst/>
            <a:ahLst/>
            <a:cxnLst/>
            <a:rect l="l" t="t" r="r" b="b"/>
            <a:pathLst>
              <a:path w="1969106" h="644435">
                <a:moveTo>
                  <a:pt x="0" y="0"/>
                </a:moveTo>
                <a:lnTo>
                  <a:pt x="1969106" y="0"/>
                </a:lnTo>
                <a:lnTo>
                  <a:pt x="1969106" y="644435"/>
                </a:lnTo>
                <a:lnTo>
                  <a:pt x="0" y="644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689632">
            <a:off x="2458919" y="2347467"/>
            <a:ext cx="2279241" cy="745933"/>
          </a:xfrm>
          <a:custGeom>
            <a:avLst/>
            <a:gdLst/>
            <a:ahLst/>
            <a:cxnLst/>
            <a:rect l="l" t="t" r="r" b="b"/>
            <a:pathLst>
              <a:path w="2279241" h="745933">
                <a:moveTo>
                  <a:pt x="0" y="0"/>
                </a:moveTo>
                <a:lnTo>
                  <a:pt x="2279241" y="0"/>
                </a:lnTo>
                <a:lnTo>
                  <a:pt x="2279241" y="745933"/>
                </a:lnTo>
                <a:lnTo>
                  <a:pt x="0" y="7459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320997" y="3423090"/>
            <a:ext cx="12209363" cy="3440821"/>
          </a:xfrm>
          <a:custGeom>
            <a:avLst/>
            <a:gdLst/>
            <a:ahLst/>
            <a:cxnLst/>
            <a:rect l="l" t="t" r="r" b="b"/>
            <a:pathLst>
              <a:path w="12209363" h="3440821">
                <a:moveTo>
                  <a:pt x="0" y="0"/>
                </a:moveTo>
                <a:lnTo>
                  <a:pt x="12209363" y="0"/>
                </a:lnTo>
                <a:lnTo>
                  <a:pt x="12209363" y="3440820"/>
                </a:lnTo>
                <a:lnTo>
                  <a:pt x="0" y="344082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1022</Words>
  <Application>Microsoft Macintosh PowerPoint</Application>
  <PresentationFormat>Custom</PresentationFormat>
  <Paragraphs>117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Calibri</vt:lpstr>
      <vt:lpstr>Canva Sans Semi-Bold</vt:lpstr>
      <vt:lpstr>One Little Font Semi-Bold</vt:lpstr>
      <vt:lpstr>Arial</vt:lpstr>
      <vt:lpstr>Childos Arabic Semi-Bold</vt:lpstr>
      <vt:lpstr>Childos Arabic</vt:lpstr>
      <vt:lpstr>Childos Arabic Bold</vt:lpstr>
      <vt:lpstr>Canva Sans Bold</vt:lpstr>
      <vt:lpstr>Canva Sans</vt:lpstr>
      <vt:lpstr>One Little Font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cp:lastModifiedBy>HARISHANKAR YADAV</cp:lastModifiedBy>
  <cp:revision>3</cp:revision>
  <dcterms:created xsi:type="dcterms:W3CDTF">2006-08-16T00:00:00Z</dcterms:created>
  <dcterms:modified xsi:type="dcterms:W3CDTF">2025-10-01T18:18:31Z</dcterms:modified>
  <dc:identifier>DAGBDWdTvAE</dc:identifier>
</cp:coreProperties>
</file>